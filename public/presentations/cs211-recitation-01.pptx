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4a5b509c5d4fd3" /><Relationship Type="http://schemas.openxmlformats.org/officeDocument/2006/relationships/extended-properties" Target="/docProps/app.xml" Id="Rff813b81ad934f84" /><Relationship Type="http://schemas.openxmlformats.org/officeDocument/2006/relationships/officeDocument" Target="/ppt/presentation.xml" Id="R38ce24004d3248a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7eb0e4b661dd45ec"/>
  </p:sldMasterIdLst>
  <p:notesMasterIdLst>
    <p:notesMasterId xmlns:r="http://schemas.openxmlformats.org/officeDocument/2006/relationships" r:id="R2428f3cb25b6424a"/>
  </p:notesMasterIdLst>
  <p:sldIdLst>
    <p:sldId xmlns:r="http://schemas.openxmlformats.org/officeDocument/2006/relationships" id="256" r:id="R6abdf65bb24b48be"/>
    <p:sldId xmlns:r="http://schemas.openxmlformats.org/officeDocument/2006/relationships" id="257" r:id="Ra115066c6e154f7e"/>
    <p:sldId xmlns:r="http://schemas.openxmlformats.org/officeDocument/2006/relationships" id="258" r:id="Rf296213998bb4b09"/>
    <p:sldId xmlns:r="http://schemas.openxmlformats.org/officeDocument/2006/relationships" id="259" r:id="R12eeece91ded4d2d"/>
    <p:sldId xmlns:r="http://schemas.openxmlformats.org/officeDocument/2006/relationships" id="260" r:id="Rbd03017704f645fa"/>
    <p:sldId xmlns:r="http://schemas.openxmlformats.org/officeDocument/2006/relationships" id="261" r:id="Rcf906186675f489d"/>
    <p:sldId xmlns:r="http://schemas.openxmlformats.org/officeDocument/2006/relationships" id="262" r:id="R0f051f4456ac406e"/>
    <p:sldId xmlns:r="http://schemas.openxmlformats.org/officeDocument/2006/relationships" id="263" r:id="Re900cc6cd8aa4128"/>
    <p:sldId xmlns:r="http://schemas.openxmlformats.org/officeDocument/2006/relationships" id="264" r:id="R84bd3e3a16b242d5"/>
    <p:sldId xmlns:r="http://schemas.openxmlformats.org/officeDocument/2006/relationships" id="265" r:id="R55c18d48d9554585"/>
    <p:sldId xmlns:r="http://schemas.openxmlformats.org/officeDocument/2006/relationships" id="266" r:id="R2f1aae88ac424e63"/>
    <p:sldId xmlns:r="http://schemas.openxmlformats.org/officeDocument/2006/relationships" id="267" r:id="R397c172925d34b42"/>
    <p:sldId xmlns:r="http://schemas.openxmlformats.org/officeDocument/2006/relationships" id="268" r:id="R0ea5121eab024b1c"/>
    <p:sldId xmlns:r="http://schemas.openxmlformats.org/officeDocument/2006/relationships" id="269" r:id="R4a2bd700edb84cd8"/>
    <p:sldId xmlns:r="http://schemas.openxmlformats.org/officeDocument/2006/relationships" id="270" r:id="Rb40defc59a9b42e1"/>
    <p:sldId xmlns:r="http://schemas.openxmlformats.org/officeDocument/2006/relationships" id="271" r:id="R5bbbf37ca1614e04"/>
  </p:sldIdLst>
  <p:sldSz cx="12192000" cy="6858000"/>
  <p:notesSz cx="6858000" cy="9144000"/>
  <p:embeddedFontLst>
    <p:embeddedFont>
      <p:font typeface="OpenAI Sans"/>
      <p:regular xmlns:r="http://schemas.openxmlformats.org/officeDocument/2006/relationships" r:id="R117cc34e8a994f31"/>
      <p:bold xmlns:r="http://schemas.openxmlformats.org/officeDocument/2006/relationships" r:id="Rc5ebb4a070914c9a"/>
      <p:italic xmlns:r="http://schemas.openxmlformats.org/officeDocument/2006/relationships" r:id="Rd4f71f08b5304734"/>
      <p:boldItalic xmlns:r="http://schemas.openxmlformats.org/officeDocument/2006/relationships" r:id="Re3445e65c130496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fd9f5bdf26542d7" /><Relationship Type="http://schemas.openxmlformats.org/officeDocument/2006/relationships/slideMaster" Target="/ppt/slideMasters/slideMaster1.xml" Id="R7eb0e4b661dd45ec" /><Relationship Type="http://schemas.openxmlformats.org/officeDocument/2006/relationships/notesMaster" Target="/ppt/notesMasters/notesMaster1.xml" Id="R2428f3cb25b6424a" /><Relationship Type="http://schemas.openxmlformats.org/officeDocument/2006/relationships/presProps" Target="/ppt/presProps.xml" Id="Ree6604c0c8604b9d" /><Relationship Type="http://schemas.openxmlformats.org/officeDocument/2006/relationships/viewProps" Target="/ppt/viewProps.xml" Id="R6417e354078d4e54" /><Relationship Type="http://schemas.openxmlformats.org/officeDocument/2006/relationships/tableStyles" Target="/ppt/tableStyles.xml" Id="Red7d6748909640ee" /><Relationship Type="http://schemas.openxmlformats.org/officeDocument/2006/relationships/font" Target="/ppt/fonts/font.dat" Id="R117cc34e8a994f31" /><Relationship Type="http://schemas.openxmlformats.org/officeDocument/2006/relationships/font" Target="/ppt/fonts/font2.dat" Id="Rc5ebb4a070914c9a" /><Relationship Type="http://schemas.openxmlformats.org/officeDocument/2006/relationships/font" Target="/ppt/fonts/font3.dat" Id="Rd4f71f08b5304734" /><Relationship Type="http://schemas.openxmlformats.org/officeDocument/2006/relationships/font" Target="/ppt/fonts/font4.dat" Id="Re3445e65c130496d" /><Relationship Type="http://schemas.openxmlformats.org/officeDocument/2006/relationships/slide" Target="/ppt/slides/slide1.xml" Id="R6abdf65bb24b48be" /><Relationship Type="http://schemas.openxmlformats.org/officeDocument/2006/relationships/slide" Target="/ppt/slides/slide2.xml" Id="Ra115066c6e154f7e" /><Relationship Type="http://schemas.openxmlformats.org/officeDocument/2006/relationships/slide" Target="/ppt/slides/slide3.xml" Id="Rf296213998bb4b09" /><Relationship Type="http://schemas.openxmlformats.org/officeDocument/2006/relationships/slide" Target="/ppt/slides/slide4.xml" Id="R12eeece91ded4d2d" /><Relationship Type="http://schemas.openxmlformats.org/officeDocument/2006/relationships/slide" Target="/ppt/slides/slide5.xml" Id="Rbd03017704f645fa" /><Relationship Type="http://schemas.openxmlformats.org/officeDocument/2006/relationships/slide" Target="/ppt/slides/slide6.xml" Id="Rcf906186675f489d" /><Relationship Type="http://schemas.openxmlformats.org/officeDocument/2006/relationships/slide" Target="/ppt/slides/slide7.xml" Id="R0f051f4456ac406e" /><Relationship Type="http://schemas.openxmlformats.org/officeDocument/2006/relationships/slide" Target="/ppt/slides/slide8.xml" Id="Re900cc6cd8aa4128" /><Relationship Type="http://schemas.openxmlformats.org/officeDocument/2006/relationships/slide" Target="/ppt/slides/slide9.xml" Id="R84bd3e3a16b242d5" /><Relationship Type="http://schemas.openxmlformats.org/officeDocument/2006/relationships/slide" Target="/ppt/slides/slide10.xml" Id="R55c18d48d9554585" /><Relationship Type="http://schemas.openxmlformats.org/officeDocument/2006/relationships/slide" Target="/ppt/slides/slide11.xml" Id="R2f1aae88ac424e63" /><Relationship Type="http://schemas.openxmlformats.org/officeDocument/2006/relationships/slide" Target="/ppt/slides/slide12.xml" Id="R397c172925d34b42" /><Relationship Type="http://schemas.openxmlformats.org/officeDocument/2006/relationships/slide" Target="/ppt/slides/slide13.xml" Id="R0ea5121eab024b1c" /><Relationship Type="http://schemas.openxmlformats.org/officeDocument/2006/relationships/slide" Target="/ppt/slides/slide14.xml" Id="R4a2bd700edb84cd8" /><Relationship Type="http://schemas.openxmlformats.org/officeDocument/2006/relationships/slide" Target="/ppt/slides/slide15.xml" Id="Rb40defc59a9b42e1" /><Relationship Type="http://schemas.openxmlformats.org/officeDocument/2006/relationships/slide" Target="/ppt/slides/slide16.xml" Id="R5bbbf37ca1614e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e442d677fe4e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a88aeb2eb3464f" /><Relationship Type="http://schemas.openxmlformats.org/officeDocument/2006/relationships/notesMaster" Target="/ppt/notesMasters/notesMaster1.xml" Id="R954a0e199eaf4e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548e490aac4ff7" /><Relationship Type="http://schemas.openxmlformats.org/officeDocument/2006/relationships/notesMaster" Target="/ppt/notesMasters/notesMaster1.xml" Id="R6f2f10d3ef2f4b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b82b8443174199" /><Relationship Type="http://schemas.openxmlformats.org/officeDocument/2006/relationships/notesMaster" Target="/ppt/notesMasters/notesMaster1.xml" Id="Rc2c501d76b7f44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839fedbf4c4408" /><Relationship Type="http://schemas.openxmlformats.org/officeDocument/2006/relationships/notesMaster" Target="/ppt/notesMasters/notesMaster1.xml" Id="Rc0178e9fdaec41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e91997a33640cb" /><Relationship Type="http://schemas.openxmlformats.org/officeDocument/2006/relationships/notesMaster" Target="/ppt/notesMasters/notesMaster1.xml" Id="R95950fffc0554e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575adc432d4c9c" /><Relationship Type="http://schemas.openxmlformats.org/officeDocument/2006/relationships/notesMaster" Target="/ppt/notesMasters/notesMaster1.xml" Id="R7f037e32697542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1f58938fbf4910" /><Relationship Type="http://schemas.openxmlformats.org/officeDocument/2006/relationships/notesMaster" Target="/ppt/notesMasters/notesMaster1.xml" Id="Ra448bc6afc2c41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ff08a809adf4527" /><Relationship Type="http://schemas.openxmlformats.org/officeDocument/2006/relationships/notesMaster" Target="/ppt/notesMasters/notesMaster1.xml" Id="Re390f9986ceb4e52"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566605246141bf" /><Relationship Type="http://schemas.openxmlformats.org/officeDocument/2006/relationships/notesMaster" Target="/ppt/notesMasters/notesMaster1.xml" Id="Rf54c8a43a92e42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10a532e4fc4750" /><Relationship Type="http://schemas.openxmlformats.org/officeDocument/2006/relationships/notesMaster" Target="/ppt/notesMasters/notesMaster1.xml" Id="R1e3c6abe9c4745a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009affb6594356" /><Relationship Type="http://schemas.openxmlformats.org/officeDocument/2006/relationships/notesMaster" Target="/ppt/notesMasters/notesMaster1.xml" Id="Rbf15c290954547b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1922bd53804378" /><Relationship Type="http://schemas.openxmlformats.org/officeDocument/2006/relationships/notesMaster" Target="/ppt/notesMasters/notesMaster1.xml" Id="Rf88bfc30b50f44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302c5ed0ae4a4e" /><Relationship Type="http://schemas.openxmlformats.org/officeDocument/2006/relationships/notesMaster" Target="/ppt/notesMasters/notesMaster1.xml" Id="R15c30481edd94c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31b62b95d843f7" /><Relationship Type="http://schemas.openxmlformats.org/officeDocument/2006/relationships/notesMaster" Target="/ppt/notesMasters/notesMaster1.xml" Id="R1a3780e3892f41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6ab8527810547c8" /><Relationship Type="http://schemas.openxmlformats.org/officeDocument/2006/relationships/notesMaster" Target="/ppt/notesMasters/notesMaster1.xml" Id="R8e9350e3746a47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f0c22a572c4f52" /><Relationship Type="http://schemas.openxmlformats.org/officeDocument/2006/relationships/notesMaster" Target="/ppt/notesMasters/notesMaster1.xml" Id="R1babbb045fa340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pacing for a 50-minute section: reminders 3 min, SSH demo 8 min, operators and shifts 12 min, rotations 15 min, practice 8 min, wrap-up 4 min. Ask who has already connected to iLab. Adjust pacing to the room.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Contact email supplied by the TA: sebastian.raducha@rutgers.edu.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Due date supplied by the TA. September is inferred from the recitation context. Do not announce a specific deadline time or late policy without checking Canvas.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SSH is like a remote keyboard connected to another computer. Your terminal stays on your laptop, but commands and files are on iLab. Password typing usually shows no characters. Rutgers currently says eligible users need no activation and use their University password, except CS 2FA users who use their S Password. Follow the account’s authentication prompts. Verify unfamiliar host fingerprints through Rutgers support. Source: https://resources.cs.rutgers.edu/docs/instructional-lab/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Demonstrate pwd, ls, mkdir, and cd before compiling. ./ means the executable in the current directory. To copy from a local folder containing both files, use a separate local terminal: scp hw2.c test_hw2.sh YOUR_NETID@ilab.cs.rutgers.edu:~/ . The destination is the remote home folder. Then SSH and cd ~. Do not type the final explanatory period. Run the test script in the assignment folder: it replaces the executable named hw2. Students should use the course-provided starter files, not the instructor solution. Source for compile/run/test commands: supplied test_hw2.sh.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https://firner.com/presentations/cs211/2026-Fall/hw2.html . The handout specifies three arguments: value, selected width, and rotation count. Store the value in 64 bits using long long int and parse it with atoll. Positive rotation counts mean right, negative mean left. The handout says positive input values will be tested; the supplied script also tests zero. Print in eight-bit groups starting at the most significant displayed bit. Return 0 on success and 1 without output for an incorrect number of inputs. 8-bit examples are directly supported by the handout. 179 = 128 + 32 + 16 + 2 + 1.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two rows of four switches. AND requires both switches on, OR requires at least one, XOR requires different states. NOT is a unary operator even though it operates on binary digits. ~ in C flips the promoted integer type’s bits, so 0101 here shows only four bits. HW2’s core operations are &amp;, |, &lt;&lt; and &gt;&gt;. XOR and NOT complete the basic toolbox.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Logical operators also short-circuit: &amp;&amp; skips the right operand when the left is false, || skips it when the left is true. Bitwise operators evaluate both operands. ! produces logical negation, whereas ~ flips bits. Ask students to explain 4 &amp; 2 versus 4 &amp;&amp; 2. Answers: 0 and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people moving along a row of eight chairs. At the end, someone falls off. In a rotation the row becomes a circle. These are fixed-width conceptual shifts: in C, a small integer may be promoted to int before shifting, so an 8-bit view may require a mask. Use unsigned storage for bit manipulation.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stencil with holes. A hole lets the existing mark through, even if it is zero. Build a mask conceptually by OR-ing one-bit values at positions 0 through k-1. Use a suitably wide unsigned literal in C, for example 1ULL, with shift counts below that type’s width.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101100 | 11. Move the right-hand group to the front without reversing its order: 11 | 101100. Use a second color for the wrapped bits. OR works because the two pieces occupy disjoint positions. Keep the width visible throughout.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Compare this slide to the right rotation: same number and count, different direction and result. The top positions depend on the selected width. A constant that selects bit 31 cannot select the top bit of every possible width. The shifted row is the low 8 bits of the mathematical shift.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moving around eight seats on a carousel. One full lap is invisible in the result. Preserve the assignment’s direction convention. For nonzero W, C remainder has the sign of the dividend. Never use a negative value directly as a shift count. Handle zero before evaluating a generic expression that might shift by the storage type’s full width.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formal handout must define valid widths and number ranges. In common C modes on iLab, signed right shift of a negative value is implementation-defined and signed left shift can be undefined. Prefer an unsigned type and a matching literal such as 1ULL. Even an unsigned shift by the type’s width is undefined. A full-width mask needs a special case. Do not present a generic two-shift expression without discussing zero and full-width counts.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Give quiet thinking time, then have students compare with a neighbor. Ask a student to draw the cut between the main group and wrapped group. Do not reveal the next slide until students have explained a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low-three-bit mask is 00000111. The top-one-bit mask at width eight is 10000000. Ask why preserving the number of 1s is a useful check but does not uniquely prove the rotation is correct. Close with the HW1 reminder and a request that everyone test SSH before the next meeting.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cf80475cdb43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ed659f3f51545c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4b961c3b8046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4aaf1cf9fb44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9218770e5c41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cc069452e5402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e6b69315d1a4bc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73c99c960854437"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10544b51d34847" /><Relationship Type="http://schemas.openxmlformats.org/officeDocument/2006/relationships/slideLayout" Target="/ppt/slideLayouts/slideLayout1.xml" Id="Rd497e5fd16fb4b5e" /><Relationship Type="http://schemas.openxmlformats.org/officeDocument/2006/relationships/slideLayout" Target="/ppt/slideLayouts/slideLayout2.xml" Id="R676413a332de48e5" /><Relationship Type="http://schemas.openxmlformats.org/officeDocument/2006/relationships/slideLayout" Target="/ppt/slideLayouts/slideLayout3.xml" Id="R309ebac54bb24b78" /><Relationship Type="http://schemas.openxmlformats.org/officeDocument/2006/relationships/slideLayout" Target="/ppt/slideLayouts/slideLayout4.xml" Id="Rd75ea908c0cd4005" /><Relationship Type="http://schemas.openxmlformats.org/officeDocument/2006/relationships/slideLayout" Target="/ppt/slideLayouts/slideLayout5.xml" Id="Re90c8287e40b45cc" /><Relationship Type="http://schemas.openxmlformats.org/officeDocument/2006/relationships/slideLayout" Target="/ppt/slideLayouts/slideLayout6.xml" Id="Rb696d196bc3f4a09" /><Relationship Type="http://schemas.openxmlformats.org/officeDocument/2006/relationships/slideLayout" Target="/ppt/slideLayouts/slideLayout7.xml" Id="R8069355c4f6942be" /><Relationship Type="http://schemas.openxmlformats.org/officeDocument/2006/relationships/slideLayout" Target="/ppt/slideLayouts/slideLayout8.xml" Id="R1f95523fcfcc4a2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d497e5fd16fb4b5e"/>
    <p:sldLayoutId xmlns:r="http://schemas.openxmlformats.org/officeDocument/2006/relationships" id="2147483650" r:id="R676413a332de48e5"/>
    <p:sldLayoutId xmlns:r="http://schemas.openxmlformats.org/officeDocument/2006/relationships" id="2147483651" r:id="R309ebac54bb24b78"/>
    <p:sldLayoutId xmlns:r="http://schemas.openxmlformats.org/officeDocument/2006/relationships" id="2147483652" r:id="Rd75ea908c0cd4005"/>
    <p:sldLayoutId xmlns:r="http://schemas.openxmlformats.org/officeDocument/2006/relationships" id="2147483653" r:id="Re90c8287e40b45cc"/>
    <p:sldLayoutId xmlns:r="http://schemas.openxmlformats.org/officeDocument/2006/relationships" id="2147483654" r:id="Rb696d196bc3f4a09"/>
    <p:sldLayoutId xmlns:r="http://schemas.openxmlformats.org/officeDocument/2006/relationships" id="2147483655" r:id="R8069355c4f6942be"/>
    <p:sldLayoutId xmlns:r="http://schemas.openxmlformats.org/officeDocument/2006/relationships" id="2147483656" r:id="R1f95523fcfcc4a23"/>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e6a4286ef30456a" /><Relationship Type="http://schemas.openxmlformats.org/officeDocument/2006/relationships/image" Target="/ppt/media/image.png" Id="R949faf3aa66941d8" /><Relationship Type="http://schemas.openxmlformats.org/officeDocument/2006/relationships/notesSlide" Target="/ppt/notesSlides/notesSlide1.xml" Id="R14b22b2d619749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1d30ef507644f7" /><Relationship Type="http://schemas.openxmlformats.org/officeDocument/2006/relationships/notesSlide" Target="/ppt/notesSlides/notesSlide2.xml" Id="Rdcc8bf0ecd924f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41bfb8726e4055" /><Relationship Type="http://schemas.openxmlformats.org/officeDocument/2006/relationships/notesSlide" Target="/ppt/notesSlides/notesSlide3.xml" Id="R135980777692419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960aa9430c43f2" /><Relationship Type="http://schemas.openxmlformats.org/officeDocument/2006/relationships/hyperlink" Target="https://resources.cs.rutgers.edu/docs/instructional-lab/" TargetMode="External" Id="R882e825b94b44b1d" /><Relationship Type="http://schemas.openxmlformats.org/officeDocument/2006/relationships/notesSlide" Target="/ppt/notesSlides/notesSlide4.xml" Id="R474ee8bafc18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6b5477466e841cb" /><Relationship Type="http://schemas.openxmlformats.org/officeDocument/2006/relationships/notesSlide" Target="/ppt/notesSlides/notesSlide5.xml" Id="R1b8f3b59501345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174abfaab44a4b" /><Relationship Type="http://schemas.openxmlformats.org/officeDocument/2006/relationships/hyperlink" Target="https://firner.com/presentations/cs211/2026-Fall/hw2.html" TargetMode="External" Id="Re7b76a88eb3f4e48" /><Relationship Type="http://schemas.openxmlformats.org/officeDocument/2006/relationships/notesSlide" Target="/ppt/notesSlides/notesSlide6.xml" Id="R90fa4f93a5af42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8c7a6d72cd04b8c" /><Relationship Type="http://schemas.openxmlformats.org/officeDocument/2006/relationships/notesSlide" Target="/ppt/notesSlides/notesSlide7.xml" Id="R55b5abd134924b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8bb21fa68145cb" /><Relationship Type="http://schemas.openxmlformats.org/officeDocument/2006/relationships/notesSlide" Target="/ppt/notesSlides/notesSlide8.xml" Id="R59b9452ba3364f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bfb2f93c9334fa8" /><Relationship Type="http://schemas.openxmlformats.org/officeDocument/2006/relationships/notesSlide" Target="/ppt/notesSlides/notesSlide9.xml" Id="Rbbc63a259f0f4d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b56d8b45bc446e3" /><Relationship Type="http://schemas.openxmlformats.org/officeDocument/2006/relationships/notesSlide" Target="/ppt/notesSlides/notesSlide10.xml" Id="Rd959e9880a0e4d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c326e64f6504f0c" /><Relationship Type="http://schemas.openxmlformats.org/officeDocument/2006/relationships/notesSlide" Target="/ppt/notesSlides/notesSlide11.xml" Id="Re59f0cc80e2149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9cae6bb86614149" /><Relationship Type="http://schemas.openxmlformats.org/officeDocument/2006/relationships/notesSlide" Target="/ppt/notesSlides/notesSlide12.xml" Id="R1aa01114e2e54f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389a073c4564f08" /><Relationship Type="http://schemas.openxmlformats.org/officeDocument/2006/relationships/notesSlide" Target="/ppt/notesSlides/notesSlide13.xml" Id="R7ce858937b91432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628d99b9f4847e3" /><Relationship Type="http://schemas.openxmlformats.org/officeDocument/2006/relationships/notesSlide" Target="/ppt/notesSlides/notesSlide14.xml" Id="Re0be267fb9f948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0d8226862b8462a" /><Relationship Type="http://schemas.openxmlformats.org/officeDocument/2006/relationships/notesSlide" Target="/ppt/notesSlides/notesSlide15.xml" Id="Ra3a5dd47d24248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1baf43ca7d04f35" /><Relationship Type="http://schemas.openxmlformats.org/officeDocument/2006/relationships/notesSlide" Target="/ppt/notesSlides/notesSlide16.xml" Id="R8b62bb9d8f14455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415733" y="1907316"/>
            <a:ext cx="7174888" cy="249149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Bits, rotations</a:t>
            </a:r>
          </a:p>
          <a:p xmlns:a="http://schemas.openxmlformats.org/drawingml/2006/main">
            <a:pPr marL="0" indent="0">
              <a:lnSpc>
                <a:spcPct val="114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&amp; iLab</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415733" y="5264722"/>
            <a:ext cx="6910483" cy="1080246"/>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415734" y="392241"/>
            <a:ext cx="5702300" cy="649159"/>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00">
                <a:solidFill>
                  <a:srgbClr val="FFFFFF"/>
                </a:solidFill>
                <a:latin typeface="Arial"/>
                <a:ea typeface="Arial"/>
                <a:cs typeface="Arial"/>
              </a:defRPr>
            </a:pPr>
            <a:r>
              <a:rPr sz="1800">
                <a:solidFill>
                  <a:srgbClr val="FFFFFF"/>
                </a:solidFill>
                <a:latin typeface="Arial"/>
                <a:ea typeface="Arial"/>
                <a:cs typeface="Arial"/>
              </a:rPr>
              <a:t>CS 211 · Recitation 01</a:t>
            </a:r>
          </a:p>
        </p:txBody>
      </p:sp>
      <p:pic>
        <p:nvPicPr>
          <p:cNvPr id="11" name="Picture 6"/>
          <p:cNvPicPr>
            <a:picLocks xmlns:a="http://schemas.openxmlformats.org/drawingml/2006/main" noChangeAspect="1"/>
          </p:cNvPicPr>
          <p:nvPr/>
        </p:nvPicPr>
        <p:blipFill>
          <a:blip xmlns:r="http://schemas.openxmlformats.org/officeDocument/2006/relationships" xmlns:a="http://schemas.openxmlformats.org/drawingml/2006/main" r:embed="R949faf3aa66941d8"/>
          <a:srcRect xmlns:a="http://schemas.openxmlformats.org/drawingml/2006/main" l="8269" t="0" r="8269" b="0"/>
          <a:stretch xmlns:a="http://schemas.openxmlformats.org/drawingml/2006/main"/>
        </p:blipFill>
        <p:spPr>
          <a:xfrm xmlns:a="http://schemas.openxmlformats.org/drawingml/2006/main">
            <a:off x="7899094" y="0"/>
            <a:ext cx="4292906" cy="6858000"/>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Contact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Sebastian Raducha</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Teaching Assistant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sebastian.raducha@rutgers.edu</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HW1 is due September 14</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Check Canvas for the exact deadline and submission instructions.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Try compiling and running on iLab before the deadline.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Today’s checkpoint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log in?</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find your files?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run your program?</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Connecting to iLab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Open Terminal on macOS/Linux or PowerShell on Windows.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Replace YOUR_NETID with your Rutgers NetID. Enter your password when prompted.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ssh YOUR_NETID@ilab.cs.rutgers.edu</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pwd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mkdir cs211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cd cs211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exit</a:t>
            </a:r>
          </a:p>
        </p:txBody>
      </p:sp>
      <p:sp>
        <p:nvSpPr>
          <p:cNvPr id="534" name="Takeaway">
            <a:extLst xmlns:a="http://schemas.openxmlformats.org/drawingml/2006/main">
              <a:ext uri="{FF2B5EF4-FFF2-40B4-BE49-F238E27FC236}">
                <a16:creationId xmlns:a16="http://schemas.microsoft.com/office/drawing/2014/main" id="{B3C5AE49-8ECB-4D49-A7C2-1EE00077D765}"/>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After SSH connects, commands run on the remote iLab computer.</a:t>
            </a:r>
          </a:p>
        </p:txBody>
      </p:sp>
      <p:sp>
        <p:nvSpPr>
          <p:cNvPr id="535" name="Source link">
            <a:extLst xmlns:a="http://schemas.openxmlformats.org/drawingml/2006/main">
              <a:ext uri="{FF2B5EF4-FFF2-40B4-BE49-F238E27FC236}">
                <a16:creationId xmlns:a16="http://schemas.microsoft.com/office/drawing/2014/main" id="{F28842B3-C990-4000-A8F7-CC01E24AA83E}"/>
              </a:ext>
            </a:extLst>
          </p:cNvPr>
          <p:cNvSpPr>
            <a:spLocks xmlns:a="http://schemas.openxmlformats.org/drawingml/2006/main" noGrp="1"/>
          </p:cNvSpPr>
          <p:nvPr/>
        </p:nvSpPr>
        <p:spPr>
          <a:xfrm xmlns:a="http://schemas.openxmlformats.org/drawingml/2006/main">
            <a:off x="6257925" y="5238750"/>
            <a:ext cx="5534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defRPr sz="1500">
                <a:solidFill>
                  <a:srgbClr val="CCCCCC"/>
                </a:solidFill>
                <a:latin typeface="Arial"/>
                <a:ea typeface="Arial"/>
                <a:cs typeface="Arial"/>
              </a:defRPr>
            </a:pPr>
            <a:r>
              <a:rPr>
                <a:hlinkClick xmlns:r="http://schemas.openxmlformats.org/officeDocument/2006/relationships" r:id="R882e825b94b44b1d"/>
              </a:rPr>
              <a:t>Rutgers iLab instructions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terminal workflow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Everyone should be able to SSH into iLab. Your editor is a personal choice.</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Run these commands in the iLab folder containing your homework files.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pwd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gcc hw2.c -o hw2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16 32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bash test_hw2.sh</a:t>
            </a:r>
          </a:p>
        </p:txBody>
      </p:sp>
      <p:sp>
        <p:nvSpPr>
          <p:cNvPr id="534" name="Takeaway">
            <a:extLst xmlns:a="http://schemas.openxmlformats.org/drawingml/2006/main">
              <a:ext uri="{FF2B5EF4-FFF2-40B4-BE49-F238E27FC236}">
                <a16:creationId xmlns:a16="http://schemas.microsoft.com/office/drawing/2014/main" id="{D4A31095-6005-4769-B08E-D224F92B7E62}"/>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SSH gives access. File transfer is a separate step.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HW2: a rotation within a width</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Three arguments: a value, a bit width, and a signed rotation count.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Store the value in 64 bits. Rotate within the width given by argument 2.</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Positive count: right.</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Negative count: left.</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Zero: unchanged.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./hw2 179 8 2</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10110011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Result:  11101100</a:t>
            </a:r>
          </a:p>
        </p:txBody>
      </p:sp>
      <p:sp>
        <p:nvSpPr>
          <p:cNvPr id="534" name="Takeaway">
            <a:extLst xmlns:a="http://schemas.openxmlformats.org/drawingml/2006/main">
              <a:ext uri="{FF2B5EF4-FFF2-40B4-BE49-F238E27FC236}">
                <a16:creationId xmlns:a16="http://schemas.microsoft.com/office/drawing/2014/main" id="{1C260485-BE80-4EC8-845B-7668270EB207}"/>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The handout uses atoll to read the value into a long long int.</a:t>
            </a:r>
          </a:p>
        </p:txBody>
      </p:sp>
      <p:sp>
        <p:nvSpPr>
          <p:cNvPr id="535" name="Source link">
            <a:extLst xmlns:a="http://schemas.openxmlformats.org/drawingml/2006/main">
              <a:ext uri="{FF2B5EF4-FFF2-40B4-BE49-F238E27FC236}">
                <a16:creationId xmlns:a16="http://schemas.microsoft.com/office/drawing/2014/main" id="{CBECD493-C2EB-48D2-850C-9B9F5DACFA30}"/>
              </a:ext>
            </a:extLst>
          </p:cNvPr>
          <p:cNvSpPr>
            <a:spLocks xmlns:a="http://schemas.openxmlformats.org/drawingml/2006/main" noGrp="1"/>
          </p:cNvSpPr>
          <p:nvPr/>
        </p:nvSpPr>
        <p:spPr>
          <a:xfrm xmlns:a="http://schemas.openxmlformats.org/drawingml/2006/main">
            <a:off x="6257925" y="5238750"/>
            <a:ext cx="5534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defRPr sz="1500">
                <a:solidFill>
                  <a:srgbClr val="CCCCCC"/>
                </a:solidFill>
                <a:latin typeface="Arial"/>
                <a:ea typeface="Arial"/>
                <a:cs typeface="Arial"/>
              </a:defRPr>
            </a:pPr>
            <a:r>
              <a:rPr>
                <a:hlinkClick xmlns:r="http://schemas.openxmlformats.org/officeDocument/2006/relationships" r:id="Re7b76a88eb3f4e48"/>
              </a:rPr>
              <a:t>HW2 assignment handout</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Bitwise operators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  AND: 1 only when both bits are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OR: 1 when either bit is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XOR: 1 when the bits differ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NOT: flip each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1010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       1100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&amp; b   1000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 b   1110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 b   0110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0101  (4 bits)</a:t>
            </a:r>
          </a:p>
        </p:txBody>
      </p:sp>
      <p:sp>
        <p:nvSpPr>
          <p:cNvPr id="534" name="Takeaway">
            <a:extLst xmlns:a="http://schemas.openxmlformats.org/drawingml/2006/main">
              <a:ext uri="{FF2B5EF4-FFF2-40B4-BE49-F238E27FC236}">
                <a16:creationId xmlns:a16="http://schemas.microsoft.com/office/drawing/2014/main" id="{37AE6131-282A-4C6A-81CC-7AB894B70810}"/>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Each column is independent. In C, ^ means XOR, not exponentiation.</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Bitwise versus logical</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 and | combine individual bits.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&amp;&amp; and || test whether values are zero or nonzero. Their result is 0 or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x |= y is shorthand for x = x | 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6 &amp; 3    =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0010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6 &amp;&amp; 3   =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Both values are nonzero.</a:t>
            </a:r>
          </a:p>
        </p:txBody>
      </p:sp>
      <p:sp>
        <p:nvSpPr>
          <p:cNvPr id="534" name="Takeaway">
            <a:extLst xmlns:a="http://schemas.openxmlformats.org/drawingml/2006/main">
              <a:ext uri="{FF2B5EF4-FFF2-40B4-BE49-F238E27FC236}">
                <a16:creationId xmlns:a16="http://schemas.microsoft.com/office/drawing/2014/main" id="{CADC3FB6-5583-4934-A0AE-B1BBA85B8F34}"/>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Masks and rotations need bitwise operations.</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Shifts move bits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&lt;&lt; moves bits toward higher positions.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&gt;&gt; moves bits toward lower positions.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unsigned values, right shift fills with zeros.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8-bit view</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10110011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2    00101100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2     11001100</a:t>
            </a:r>
          </a:p>
        </p:txBody>
      </p:sp>
      <p:sp>
        <p:nvSpPr>
          <p:cNvPr id="534" name="Takeaway">
            <a:extLst xmlns:a="http://schemas.openxmlformats.org/drawingml/2006/main">
              <a:ext uri="{FF2B5EF4-FFF2-40B4-BE49-F238E27FC236}">
                <a16:creationId xmlns:a16="http://schemas.microsoft.com/office/drawing/2014/main" id="{620E6937-BEEF-48E3-BF73-AB39558DA70C}"/>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These rows show only 8 bits. A rotation must recover bits that leave that width.</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select bit positions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 mask has 1s at the positions you want to keep.</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AND keeps those positions and clears the rest.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a right rotation by 2, save the lowest 2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Number   10110011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Mask     00000011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AND      00000011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Low 2 bits saved: 11</a:t>
            </a:r>
          </a:p>
        </p:txBody>
      </p:sp>
      <p:sp>
        <p:nvSpPr>
          <p:cNvPr id="534" name="Takeaway">
            <a:extLst xmlns:a="http://schemas.openxmlformats.org/drawingml/2006/main">
              <a:ext uri="{FF2B5EF4-FFF2-40B4-BE49-F238E27FC236}">
                <a16:creationId xmlns:a16="http://schemas.microsoft.com/office/drawing/2014/main" id="{F800B556-1663-4253-AA5A-157255BB2E36}"/>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 1 in the mask keeps the original bit. It does not force that bit to 1.</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Right rotation by 2</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Start with 10110011.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Shift the main part right by 2.</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Save the low 2 bits.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Move them into the top 2 positions.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OR the pieces together.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Shifted    00101100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Saved      00000011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Wrapped    11000000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OR result  11101100</a:t>
            </a:r>
          </a:p>
        </p:txBody>
      </p:sp>
      <p:sp>
        <p:nvSpPr>
          <p:cNvPr id="534" name="Takeaway">
            <a:extLst xmlns:a="http://schemas.openxmlformats.org/drawingml/2006/main">
              <a:ext uri="{FF2B5EF4-FFF2-40B4-BE49-F238E27FC236}">
                <a16:creationId xmlns:a16="http://schemas.microsoft.com/office/drawing/2014/main" id="{CEB2F518-5F28-496C-9E0B-61723B24220E}"/>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The saved bits move left by 8 − 2 = 6 positions.</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Left rotation by 2</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Start with 10110011 again.</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Save the top 2 bits.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Shift the main part left by 2.</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Move the saved bits to the bottom.</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OR and keep the selected width.</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Shifted    11001100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Saved top  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Wrapped    00000010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OR result  11001110</a:t>
            </a:r>
          </a:p>
        </p:txBody>
      </p:sp>
      <p:sp>
        <p:nvSpPr>
          <p:cNvPr id="534" name="Takeaway">
            <a:extLst xmlns:a="http://schemas.openxmlformats.org/drawingml/2006/main">
              <a:ext uri="{FF2B5EF4-FFF2-40B4-BE49-F238E27FC236}">
                <a16:creationId xmlns:a16="http://schemas.microsoft.com/office/drawing/2014/main" id="{0B5E340E-3189-487B-979D-0C0C11C67228}"/>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10 | 110011 becomes 110011 | 10. Bit order stays the same.</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full turn changes nothing</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a width of W, every W rotations returns to the start.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Reduce the count using remainder.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If the reduced count is zero, keep the number unchanged within W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Width 8</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10 = right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18  = left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8  = unchanged</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10 % 8   =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-10 % 8  = -2  in C</a:t>
            </a:r>
          </a:p>
        </p:txBody>
      </p:sp>
      <p:sp>
        <p:nvSpPr>
          <p:cNvPr id="534" name="Takeaway">
            <a:extLst xmlns:a="http://schemas.openxmlformats.org/drawingml/2006/main">
              <a:ext uri="{FF2B5EF4-FFF2-40B4-BE49-F238E27FC236}">
                <a16:creationId xmlns:a16="http://schemas.microsoft.com/office/drawing/2014/main" id="{597D5116-2891-4D51-A13F-4D5EF284ED2E}"/>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In C, a negative dividend can produce a negative remainder.</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 details that matter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Use unsigned values for bit manipulation.</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The selected bit width and the storage type’s width can differ.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 shift count must be nonnegative and smaller than the promoted left operand’s width.</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Check before shifting</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W valid?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count reduced?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count zero?</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mask wide enough?</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Are only W result bits kept?</a:t>
            </a:r>
          </a:p>
        </p:txBody>
      </p:sp>
      <p:sp>
        <p:nvSpPr>
          <p:cNvPr id="534" name="Takeaway">
            <a:extLst xmlns:a="http://schemas.openxmlformats.org/drawingml/2006/main">
              <a:ext uri="{FF2B5EF4-FFF2-40B4-BE49-F238E27FC236}">
                <a16:creationId xmlns:a16="http://schemas.microsoft.com/office/drawing/2014/main" id="{9096AD39-706B-410B-B168-CD9C490402DF}"/>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 32-bit mask cannot describe the top of a 40-bit value.</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Use an 8-bit width.</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1. Rotate 10010110 right by 3.</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2. Rotate 10010110 left by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3. Rotate it right by 11.</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Explain your steps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Which bits leave?</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Where do they re-enter?</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What mask selects them?</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How can you check the result?</a:t>
            </a:r>
          </a:p>
        </p:txBody>
      </p:sp>
      <p:sp>
        <p:nvSpPr>
          <p:cNvPr id="534" name="Takeaway">
            <a:extLst xmlns:a="http://schemas.openxmlformats.org/drawingml/2006/main">
              <a:ext uri="{FF2B5EF4-FFF2-40B4-BE49-F238E27FC236}">
                <a16:creationId xmlns:a16="http://schemas.microsoft.com/office/drawing/2014/main" id="{BB196A57-598B-45A1-BA5B-B028BAC3E527}"/>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Take a minute to draw the bits before writing C.</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answers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Right 3 saves the low group 110.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Left 1 saves the high bit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Right 11 is right 3 because 11 % 8 = 3.</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10010110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3    11010010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1     00101101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11   11010010</a:t>
            </a:r>
          </a:p>
        </p:txBody>
      </p:sp>
      <p:sp>
        <p:nvSpPr>
          <p:cNvPr id="534" name="Takeaway">
            <a:extLst xmlns:a="http://schemas.openxmlformats.org/drawingml/2006/main">
              <a:ext uri="{FF2B5EF4-FFF2-40B4-BE49-F238E27FC236}">
                <a16:creationId xmlns:a16="http://schemas.microsoft.com/office/drawing/2014/main" id="{94037E4E-A6D7-40D2-91E2-5915110D13D8}"/>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Rotations preserve the number of 1 bits. Opposite rotations undo each other.</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2026-09-11T03:09:33.2740000Z</dcterms:created>
  <dcterms:modified xsi:type="dcterms:W3CDTF">2026-09-11T03:09:33.2740000Z</dcterms:modified>
</coreProperties>
</file>