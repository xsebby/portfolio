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ca9bca352b54a49" /><Relationship Type="http://schemas.openxmlformats.org/officeDocument/2006/relationships/extended-properties" Target="/docProps/app.xml" Id="R8f0133f8abf54358" /><Relationship Type="http://schemas.openxmlformats.org/officeDocument/2006/relationships/officeDocument" Target="/ppt/presentation.xml" Id="R2015e2cc84b44171"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8f0bd23c65e84e99"/>
  </p:sldMasterIdLst>
  <p:notesMasterIdLst>
    <p:notesMasterId xmlns:r="http://schemas.openxmlformats.org/officeDocument/2006/relationships" r:id="Rc81aa6ad41bd4ec9"/>
  </p:notesMasterIdLst>
  <p:sldIdLst>
    <p:sldId xmlns:r="http://schemas.openxmlformats.org/officeDocument/2006/relationships" id="256" r:id="R6d6d43fb8f7a42ec"/>
    <p:sldId xmlns:r="http://schemas.openxmlformats.org/officeDocument/2006/relationships" id="257" r:id="Rc396024c66e342da"/>
    <p:sldId xmlns:r="http://schemas.openxmlformats.org/officeDocument/2006/relationships" id="258" r:id="R7d14d7898f104242"/>
    <p:sldId xmlns:r="http://schemas.openxmlformats.org/officeDocument/2006/relationships" id="259" r:id="R22009fad478e4447"/>
    <p:sldId xmlns:r="http://schemas.openxmlformats.org/officeDocument/2006/relationships" id="260" r:id="Ra4d6b97c6334422e"/>
    <p:sldId xmlns:r="http://schemas.openxmlformats.org/officeDocument/2006/relationships" id="261" r:id="Rb4d72a2b207448a5"/>
    <p:sldId xmlns:r="http://schemas.openxmlformats.org/officeDocument/2006/relationships" id="262" r:id="R5a9c0269a7da4b13"/>
    <p:sldId xmlns:r="http://schemas.openxmlformats.org/officeDocument/2006/relationships" id="263" r:id="R221e894dd4254af1"/>
    <p:sldId xmlns:r="http://schemas.openxmlformats.org/officeDocument/2006/relationships" id="264" r:id="R38f487c8db414a35"/>
    <p:sldId xmlns:r="http://schemas.openxmlformats.org/officeDocument/2006/relationships" id="265" r:id="R1c2783e6051445fe"/>
    <p:sldId xmlns:r="http://schemas.openxmlformats.org/officeDocument/2006/relationships" id="266" r:id="R621214695dfa45f7"/>
    <p:sldId xmlns:r="http://schemas.openxmlformats.org/officeDocument/2006/relationships" id="267" r:id="R0d9692e036454694"/>
    <p:sldId xmlns:r="http://schemas.openxmlformats.org/officeDocument/2006/relationships" id="268" r:id="Re8239a0acedf4682"/>
    <p:sldId xmlns:r="http://schemas.openxmlformats.org/officeDocument/2006/relationships" id="269" r:id="R1e7a33576cb9433e"/>
  </p:sldIdLst>
  <p:sldSz cx="12192000" cy="6858000"/>
  <p:notesSz cx="6858000" cy="9144000"/>
  <p:embeddedFontLst>
    <p:embeddedFont>
      <p:font typeface="OpenAI Sans"/>
      <p:regular xmlns:r="http://schemas.openxmlformats.org/officeDocument/2006/relationships" r:id="R89bf8907ad4b4646"/>
      <p:bold xmlns:r="http://schemas.openxmlformats.org/officeDocument/2006/relationships" r:id="R7ae8332b01c349ee"/>
      <p:italic xmlns:r="http://schemas.openxmlformats.org/officeDocument/2006/relationships" r:id="R2f975c6bf8124dba"/>
      <p:boldItalic xmlns:r="http://schemas.openxmlformats.org/officeDocument/2006/relationships" r:id="Rf0a304ebf3d24ee3"/>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2114873ddc84653" /><Relationship Type="http://schemas.openxmlformats.org/officeDocument/2006/relationships/slideMaster" Target="/ppt/slideMasters/slideMaster1.xml" Id="R8f0bd23c65e84e99" /><Relationship Type="http://schemas.openxmlformats.org/officeDocument/2006/relationships/notesMaster" Target="/ppt/notesMasters/notesMaster1.xml" Id="Rc81aa6ad41bd4ec9" /><Relationship Type="http://schemas.openxmlformats.org/officeDocument/2006/relationships/presProps" Target="/ppt/presProps.xml" Id="Red7bcfafa73a45d3" /><Relationship Type="http://schemas.openxmlformats.org/officeDocument/2006/relationships/viewProps" Target="/ppt/viewProps.xml" Id="Rb68ddf6fba5a4f21" /><Relationship Type="http://schemas.openxmlformats.org/officeDocument/2006/relationships/tableStyles" Target="/ppt/tableStyles.xml" Id="R6a65bb229b224ce7" /><Relationship Type="http://schemas.openxmlformats.org/officeDocument/2006/relationships/font" Target="/ppt/fonts/font.dat" Id="R89bf8907ad4b4646" /><Relationship Type="http://schemas.openxmlformats.org/officeDocument/2006/relationships/font" Target="/ppt/fonts/font2.dat" Id="R7ae8332b01c349ee" /><Relationship Type="http://schemas.openxmlformats.org/officeDocument/2006/relationships/font" Target="/ppt/fonts/font3.dat" Id="R2f975c6bf8124dba" /><Relationship Type="http://schemas.openxmlformats.org/officeDocument/2006/relationships/font" Target="/ppt/fonts/font4.dat" Id="Rf0a304ebf3d24ee3" /><Relationship Type="http://schemas.openxmlformats.org/officeDocument/2006/relationships/slide" Target="/ppt/slides/slide1.xml" Id="R6d6d43fb8f7a42ec" /><Relationship Type="http://schemas.openxmlformats.org/officeDocument/2006/relationships/slide" Target="/ppt/slides/slide2.xml" Id="Rc396024c66e342da" /><Relationship Type="http://schemas.openxmlformats.org/officeDocument/2006/relationships/slide" Target="/ppt/slides/slide3.xml" Id="R7d14d7898f104242" /><Relationship Type="http://schemas.openxmlformats.org/officeDocument/2006/relationships/slide" Target="/ppt/slides/slide4.xml" Id="R22009fad478e4447" /><Relationship Type="http://schemas.openxmlformats.org/officeDocument/2006/relationships/slide" Target="/ppt/slides/slide5.xml" Id="Ra4d6b97c6334422e" /><Relationship Type="http://schemas.openxmlformats.org/officeDocument/2006/relationships/slide" Target="/ppt/slides/slide6.xml" Id="Rb4d72a2b207448a5" /><Relationship Type="http://schemas.openxmlformats.org/officeDocument/2006/relationships/slide" Target="/ppt/slides/slide7.xml" Id="R5a9c0269a7da4b13" /><Relationship Type="http://schemas.openxmlformats.org/officeDocument/2006/relationships/slide" Target="/ppt/slides/slide8.xml" Id="R221e894dd4254af1" /><Relationship Type="http://schemas.openxmlformats.org/officeDocument/2006/relationships/slide" Target="/ppt/slides/slide9.xml" Id="R38f487c8db414a35" /><Relationship Type="http://schemas.openxmlformats.org/officeDocument/2006/relationships/slide" Target="/ppt/slides/slide10.xml" Id="R1c2783e6051445fe" /><Relationship Type="http://schemas.openxmlformats.org/officeDocument/2006/relationships/slide" Target="/ppt/slides/slide11.xml" Id="R621214695dfa45f7" /><Relationship Type="http://schemas.openxmlformats.org/officeDocument/2006/relationships/slide" Target="/ppt/slides/slide12.xml" Id="R0d9692e036454694" /><Relationship Type="http://schemas.openxmlformats.org/officeDocument/2006/relationships/slide" Target="/ppt/slides/slide13.xml" Id="Re8239a0acedf4682" /><Relationship Type="http://schemas.openxmlformats.org/officeDocument/2006/relationships/slide" Target="/ppt/slides/slide14.xml" Id="R1e7a33576cb9433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a1c319d0a4a438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173f6d746f847cd" /><Relationship Type="http://schemas.openxmlformats.org/officeDocument/2006/relationships/notesMaster" Target="/ppt/notesMasters/notesMaster1.xml" Id="Rc523ead7903240f2"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1b64ca310648a4" /><Relationship Type="http://schemas.openxmlformats.org/officeDocument/2006/relationships/notesMaster" Target="/ppt/notesMasters/notesMaster1.xml" Id="R0e41c38ff19a45d6" /></Relationships>
</file>

<file path=ppt/notesSlides/_rels/notesSlide3.xml.rels>&#65279;<?xml version="1.0" encoding="utf-8"?><Relationships xmlns="http://schemas.openxmlformats.org/package/2006/relationships"><Relationship Type="http://schemas.openxmlformats.org/officeDocument/2006/relationships/slide" Target="/ppt/slides/slide3.xml" Id="Re44450e56d264ba1" /><Relationship Type="http://schemas.openxmlformats.org/officeDocument/2006/relationships/notesMaster" Target="/ppt/notesMasters/notesMaster1.xml" Id="R657b457c56d748c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1304f258eec48ed" /><Relationship Type="http://schemas.openxmlformats.org/officeDocument/2006/relationships/notesMaster" Target="/ppt/notesMasters/notesMaster1.xml" Id="R7e2da5a7d8a74ce6" /></Relationships>
</file>

<file path=ppt/notesSlides/_rels/notesSlide5.xml.rels>&#65279;<?xml version="1.0" encoding="utf-8"?><Relationships xmlns="http://schemas.openxmlformats.org/package/2006/relationships"><Relationship Type="http://schemas.openxmlformats.org/officeDocument/2006/relationships/slide" Target="/ppt/slides/slide5.xml" Id="R1bf3251f5c4b483c" /><Relationship Type="http://schemas.openxmlformats.org/officeDocument/2006/relationships/notesMaster" Target="/ppt/notesMasters/notesMaster1.xml" Id="R65ee9a91d3194ffd" /></Relationships>
</file>

<file path=ppt/notesSlides/_rels/notesSlide6.xml.rels>&#65279;<?xml version="1.0" encoding="utf-8"?><Relationships xmlns="http://schemas.openxmlformats.org/package/2006/relationships"><Relationship Type="http://schemas.openxmlformats.org/officeDocument/2006/relationships/slide" Target="/ppt/slides/slide6.xml" Id="Rc9d782d406b840b9" /><Relationship Type="http://schemas.openxmlformats.org/officeDocument/2006/relationships/notesMaster" Target="/ppt/notesMasters/notesMaster1.xml" Id="R12820ae459b642be" /></Relationships>
</file>

<file path=ppt/notesSlides/_rels/notesSlide7.xml.rels>&#65279;<?xml version="1.0" encoding="utf-8"?><Relationships xmlns="http://schemas.openxmlformats.org/package/2006/relationships"><Relationship Type="http://schemas.openxmlformats.org/officeDocument/2006/relationships/slide" Target="/ppt/slides/slide7.xml" Id="R31ce7bd010bf41b1" /><Relationship Type="http://schemas.openxmlformats.org/officeDocument/2006/relationships/notesMaster" Target="/ppt/notesMasters/notesMaster1.xml" Id="Rc5eecee76e074ff3"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ec3e267fed487a" /><Relationship Type="http://schemas.openxmlformats.org/officeDocument/2006/relationships/notesMaster" Target="/ppt/notesMasters/notesMaster1.xml" Id="Rc79133fae4064008" /></Relationships>
</file>

<file path=ppt/notesSlides/_rels/notesSlide9.xml.rels>&#65279;<?xml version="1.0" encoding="utf-8"?><Relationships xmlns="http://schemas.openxmlformats.org/package/2006/relationships"><Relationship Type="http://schemas.openxmlformats.org/officeDocument/2006/relationships/slide" Target="/ppt/slides/slide9.xml" Id="R005b4bac1c034ff1" /><Relationship Type="http://schemas.openxmlformats.org/officeDocument/2006/relationships/notesMaster" Target="/ppt/notesMasters/notesMaster1.xml" Id="R7854ff05f8c344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136589a586747b5" /><Relationship Type="http://schemas.openxmlformats.org/officeDocument/2006/relationships/notesMaster" Target="/ppt/notesMasters/notesMaster1.xml" Id="R811e51dae9bc4cd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952248139af4de1" /><Relationship Type="http://schemas.openxmlformats.org/officeDocument/2006/relationships/notesMaster" Target="/ppt/notesMasters/notesMaster1.xml" Id="R4d9e565f0a9f404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024f5ba8d0c46e8" /><Relationship Type="http://schemas.openxmlformats.org/officeDocument/2006/relationships/notesMaster" Target="/ppt/notesMasters/notesMaster1.xml" Id="R1265a95fc7fd4fd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0cd5a6a1be648fa" /><Relationship Type="http://schemas.openxmlformats.org/officeDocument/2006/relationships/notesMaster" Target="/ppt/notesMasters/notesMaster1.xml" Id="R16810487f0a44ec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12890d5bbb64575" /><Relationship Type="http://schemas.openxmlformats.org/officeDocument/2006/relationships/notesMaster" Target="/ppt/notesMasters/notesMaster1.xml" Id="R0e9355a2886f4a8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compact review of Lectures 5 through 9. Start by asking which topic feels least comfortable so the worked examples can be paced around the room.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vertical bars every four bits from the right. Work one nibble at a time. Quick checks: the final binary bit tells whether the hex value is odd; each hex digit must expand to exactly four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course calls the fraction field the significand or mantissa. For FP32, the bias is 127. All-zero exponent gives zero or subnormal values. All-one exponent gives infinity or NaN. The quiz should provide any nonstandard field widths and bias. Source: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Explain precision with marks on a number line: floating-point spacing gets larger as magnitude increases. Many decimal fractions cannot be represented exactly in binary. Modern processors have dedicated floating-point hardware; simple integer and float operations can have comparable latency. Avoid promising equal speed for all operations.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Circle the three fields in different colors. The sign bit is 0, so the value is positive. Exponent bits 101 are 5. Fraction bits 0110 contribute 0/2 + 1/4 + 1/8 + 0/16.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the reverse of decoding. Convert the magnitude to binary, normalize to 1.f times a power of two, add bias to the exponent, and fill the fraction field. Distinguish the whole represented value from each field's decimal integer value. If a fraction needs more bits than available, apply rounding; this example is exactly representable.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gcc -S produces assembly. objdump can disassemble machine code. The course uses x86-64. Source: https://firner.com/presentations/cs211/2026-Fall/cs211_06/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General-purpose registers on x86-64 are 64 bits wide, with names for smaller portions. Registers are limited storage, not megabytes of memory and not part of the stack. Explain that a 32-bit register write also clears the upper 32 bits of its 64-bit parent on x86-64, even though the instruction operand width is 32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course and gcc/objdump default to AT&amp;T syntax. Ask students to point to the source and destination before describing an instruction. Immediate means a literal constant, marked with $. A displacement is added to the base register before memory is accessed; it is not itself the loaded value. For example, if rbp is 0x2000 and eight bytes at 0x1FF0 represent 37, movq -16(%rbp), %rax loads 37. The effective-address calculation also appears in lea, but lea computes an address without loading memory. Source: https://firner.com/presentations/cs211/2026-Fall/cs211_07/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Connect the formula to assembly displacement(base,index,scale): address = displacement + base + index times scale. For long elements of 8 bytes, (%rbx,%rsi,8) with rsi = 2 selects the third element, 16 bytes from the base. Most program data lives in memory. Source: https://firner.com/presentations/cs211/2026-Fall/cs211_08/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call places the return address on the stack. push decrements rsp before storing; pop loads then increments it. Subtracting 24 increases the distance between rbp and rsp by 24 bytes. To release the local storage, restore rsp from rbp, then restore the caller's saved rbp. This example has no nested call; calls may require additional stack alignment. Optimized code may omit rbp as a frame pointer.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the closet analogy carefully: the stack is a nested pile of function frames; the heap is a pool where the program requests blocks and must return them. malloc returns uninitialized storage or NULL. free only the allocation’s original address, exactly once.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Give students two minutes before moving to the answers. For question 4, assume sizeof(int) is 4 bytes. For question 6, the format is 1 sign bit, 3 exponent bits, 4 fraction bits and the value is normalized.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For the mini-float, exponent bits 100 are 4, so the actual exponent is 4 - 3 = 1. Fraction 1000 gives 1.5 after restoring the implied leading 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e388c874124b5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bcbfbfaa09b494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e8bb5fd427b424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047b889c7ef4b4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be42b2a92324c4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8422942845c40f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5ae7b541f47a4f46"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4768d0c425a04689"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361a4dd3dc4838" /><Relationship Type="http://schemas.openxmlformats.org/officeDocument/2006/relationships/slideLayout" Target="/ppt/slideLayouts/slideLayout1.xml" Id="R7e98a7fb02bb43b5" /><Relationship Type="http://schemas.openxmlformats.org/officeDocument/2006/relationships/slideLayout" Target="/ppt/slideLayouts/slideLayout2.xml" Id="R8cfe0bac8d4749d4" /><Relationship Type="http://schemas.openxmlformats.org/officeDocument/2006/relationships/slideLayout" Target="/ppt/slideLayouts/slideLayout3.xml" Id="R2311546c7e6d4a1c" /><Relationship Type="http://schemas.openxmlformats.org/officeDocument/2006/relationships/slideLayout" Target="/ppt/slideLayouts/slideLayout4.xml" Id="R46de6821b03b49bd" /><Relationship Type="http://schemas.openxmlformats.org/officeDocument/2006/relationships/slideLayout" Target="/ppt/slideLayouts/slideLayout5.xml" Id="Rc95ae3d90c634c4c" /><Relationship Type="http://schemas.openxmlformats.org/officeDocument/2006/relationships/slideLayout" Target="/ppt/slideLayouts/slideLayout6.xml" Id="R5fe81431b94741ca" /><Relationship Type="http://schemas.openxmlformats.org/officeDocument/2006/relationships/slideLayout" Target="/ppt/slideLayouts/slideLayout7.xml" Id="R5daf3506bb534765" /><Relationship Type="http://schemas.openxmlformats.org/officeDocument/2006/relationships/slideLayout" Target="/ppt/slideLayouts/slideLayout8.xml" Id="Ra9ad12d660ea448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7e98a7fb02bb43b5"/>
    <p:sldLayoutId xmlns:r="http://schemas.openxmlformats.org/officeDocument/2006/relationships" id="2147483650" r:id="R8cfe0bac8d4749d4"/>
    <p:sldLayoutId xmlns:r="http://schemas.openxmlformats.org/officeDocument/2006/relationships" id="2147483651" r:id="R2311546c7e6d4a1c"/>
    <p:sldLayoutId xmlns:r="http://schemas.openxmlformats.org/officeDocument/2006/relationships" id="2147483652" r:id="R46de6821b03b49bd"/>
    <p:sldLayoutId xmlns:r="http://schemas.openxmlformats.org/officeDocument/2006/relationships" id="2147483653" r:id="Rc95ae3d90c634c4c"/>
    <p:sldLayoutId xmlns:r="http://schemas.openxmlformats.org/officeDocument/2006/relationships" id="2147483654" r:id="R5fe81431b94741ca"/>
    <p:sldLayoutId xmlns:r="http://schemas.openxmlformats.org/officeDocument/2006/relationships" id="2147483655" r:id="R5daf3506bb534765"/>
    <p:sldLayoutId xmlns:r="http://schemas.openxmlformats.org/officeDocument/2006/relationships" id="2147483656" r:id="Ra9ad12d660ea448a"/>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896b82c588d47fa" /><Relationship Type="http://schemas.openxmlformats.org/officeDocument/2006/relationships/image" Target="/ppt/media/image.png" Id="R2992c69a416d491e" /><Relationship Type="http://schemas.openxmlformats.org/officeDocument/2006/relationships/notesSlide" Target="/ppt/notesSlides/notesSlide1.xml" Id="Rc41fead61d2f413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7039a3497e64ce8" /><Relationship Type="http://schemas.openxmlformats.org/officeDocument/2006/relationships/notesSlide" Target="/ppt/notesSlides/notesSlide2.xml" Id="R27c255ab93d0455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cb4494c02a946b8" /><Relationship Type="http://schemas.openxmlformats.org/officeDocument/2006/relationships/notesSlide" Target="/ppt/notesSlides/notesSlide3.xml" Id="R065e7ef16122430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6ef88f153d143bb" /><Relationship Type="http://schemas.openxmlformats.org/officeDocument/2006/relationships/notesSlide" Target="/ppt/notesSlides/notesSlide4.xml" Id="R691ef43edfcb49b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7ea38dbfa1b4c2a" /><Relationship Type="http://schemas.openxmlformats.org/officeDocument/2006/relationships/notesSlide" Target="/ppt/notesSlides/notesSlide5.xml" Id="R7473bd5e38a7439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b4ceab386ab45bd" /><Relationship Type="http://schemas.openxmlformats.org/officeDocument/2006/relationships/notesSlide" Target="/ppt/notesSlides/notesSlide6.xml" Id="Rf95ae6bc89f847e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f78aea2c989459c" /><Relationship Type="http://schemas.openxmlformats.org/officeDocument/2006/relationships/notesSlide" Target="/ppt/notesSlides/notesSlide7.xml" Id="Redf4987cb7ee453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d6dbf294d9a449d" /><Relationship Type="http://schemas.openxmlformats.org/officeDocument/2006/relationships/notesSlide" Target="/ppt/notesSlides/notesSlide8.xml" Id="R2e935c0d7add44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2bcee27ac9e48bd" /><Relationship Type="http://schemas.openxmlformats.org/officeDocument/2006/relationships/notesSlide" Target="/ppt/notesSlides/notesSlide9.xml" Id="R62ae74e580dd490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023e581306745a8" /><Relationship Type="http://schemas.openxmlformats.org/officeDocument/2006/relationships/notesSlide" Target="/ppt/notesSlides/notesSlide10.xml" Id="R8af6d8b2c6e44c7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9a795b08a754418" /><Relationship Type="http://schemas.openxmlformats.org/officeDocument/2006/relationships/notesSlide" Target="/ppt/notesSlides/notesSlide11.xml" Id="R6bbfd9557cbf431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a794996417644e8" /><Relationship Type="http://schemas.openxmlformats.org/officeDocument/2006/relationships/notesSlide" Target="/ppt/notesSlides/notesSlide12.xml" Id="Rb08537cdd8f1481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0a3cfa177cf45af" /><Relationship Type="http://schemas.openxmlformats.org/officeDocument/2006/relationships/notesSlide" Target="/ppt/notesSlides/notesSlide13.xml" Id="R5508bc1b176b49d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ac179656a344a5f" /><Relationship Type="http://schemas.openxmlformats.org/officeDocument/2006/relationships/notesSlide" Target="/ppt/notesSlides/notesSlide14.xml" Id="R0a657a1d49cc40ce"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CD47D-0812-5F5E-8AA0-B4316F994F47}"/>
              </a:ext>
            </a:extLst>
          </p:cNvPr>
          <p:cNvSpPr>
            <a:spLocks xmlns:a="http://schemas.openxmlformats.org/drawingml/2006/main" noGrp="1"/>
          </p:cNvSpPr>
          <p:nvPr>
            <p:ph type="ctrTitle" idx="0"/>
          </p:nvPr>
        </p:nvSpPr>
        <p:spPr>
          <a:xfrm xmlns:a="http://schemas.openxmlformats.org/drawingml/2006/main">
            <a:off x="415733" y="1907316"/>
            <a:ext cx="7174888" cy="249149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Quiz 2 review</a:t>
            </a:r>
          </a:p>
        </p:txBody>
      </p:sp>
      <p:sp>
        <p:nvSpPr>
          <p:cNvPr id="5" name="Subtitle 4">
            <a:extLst xmlns:a="http://schemas.openxmlformats.org/drawingml/2006/main">
              <a:ext uri="{FF2B5EF4-FFF2-40B4-BE49-F238E27FC236}">
                <a16:creationId xmlns:a16="http://schemas.microsoft.com/office/drawing/2014/main" id="{283B85AD-626B-46B7-0C36-31F5BABDE10D}"/>
              </a:ext>
            </a:extLst>
          </p:cNvPr>
          <p:cNvSpPr>
            <a:spLocks xmlns:a="http://schemas.openxmlformats.org/drawingml/2006/main" noGrp="1"/>
          </p:cNvSpPr>
          <p:nvPr>
            <p:ph type="subTitle" idx="1"/>
          </p:nvPr>
        </p:nvSpPr>
        <p:spPr>
          <a:xfrm xmlns:a="http://schemas.openxmlformats.org/drawingml/2006/main">
            <a:off x="415733" y="5264722"/>
            <a:ext cx="6910483" cy="1080246"/>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6" name="Subtitle 4">
            <a:extLst xmlns:a="http://schemas.openxmlformats.org/drawingml/2006/main">
              <a:ext uri="{FF2B5EF4-FFF2-40B4-BE49-F238E27FC236}">
                <a16:creationId xmlns:a16="http://schemas.microsoft.com/office/drawing/2014/main" id="{543BAB87-2ABE-9D84-8400-3B5ABA08B3C2}"/>
              </a:ext>
            </a:extLst>
          </p:cNvPr>
          <p:cNvSpPr>
            <a:spLocks xmlns:a="http://schemas.openxmlformats.org/drawingml/2006/main" noGrp="1"/>
          </p:cNvSpPr>
          <p:nvPr/>
        </p:nvSpPr>
        <p:spPr>
          <a:xfrm xmlns:a="http://schemas.openxmlformats.org/drawingml/2006/main">
            <a:off x="415734" y="392241"/>
            <a:ext cx="5702300" cy="649159"/>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Arial"/>
                <a:ea typeface="Arial"/>
                <a:cs typeface="Arial"/>
              </a:defRPr>
            </a:pPr>
            <a:r>
              <a:rPr sz="1800">
                <a:solidFill>
                  <a:srgbClr val="FFFFFF"/>
                </a:solidFill>
                <a:latin typeface="Arial"/>
                <a:ea typeface="Arial"/>
                <a:cs typeface="Arial"/>
              </a:rPr>
              <a:t>CS 211 · Recitation 04</a:t>
            </a:r>
          </a:p>
        </p:txBody>
      </p:sp>
      <p:pic>
        <p:nvPicPr>
          <p:cNvPr id="11" name="Picture 6"/>
          <p:cNvPicPr>
            <a:picLocks xmlns:a="http://schemas.openxmlformats.org/drawingml/2006/main" noChangeAspect="1"/>
          </p:cNvPicPr>
          <p:nvPr/>
        </p:nvPicPr>
        <p:blipFill>
          <a:blip xmlns:r="http://schemas.openxmlformats.org/officeDocument/2006/relationships" xmlns:a="http://schemas.openxmlformats.org/drawingml/2006/main" r:embed="R2992c69a416d491e"/>
          <a:srcRect xmlns:a="http://schemas.openxmlformats.org/drawingml/2006/main" l="8269" t="0" r="8269" b="0"/>
          <a:stretch xmlns:a="http://schemas.openxmlformats.org/drawingml/2006/main"/>
        </p:blipFill>
        <p:spPr>
          <a:xfrm xmlns:a="http://schemas.openxmlformats.org/drawingml/2006/main">
            <a:off x="7899094" y="0"/>
            <a:ext cx="4292906" cy="6858000"/>
          </a:xfrm>
          <a:prstGeom xmlns:a="http://schemas.openxmlformats.org/drawingml/2006/main" prst="rect">
            <a:avLst/>
          </a:prstGeom>
        </p:spPr>
      </p:pic>
    </p:spTree>
    <p:extLst>
      <p:ext uri="{BB962C8B-B14F-4D97-AF65-F5344CB8AC3E}">
        <p14:creationId xmlns:p14="http://schemas.microsoft.com/office/powerpoint/2010/main" val="325878331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Binary and hex</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One hex digit represents exactly four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Binary → hex: group from the right in sets of four. Pad the left group with zeros.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Hex → binary: replace each digit with four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1101 0110₂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D    6₁₆</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0xFF</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1111 1111₂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 1010   F = 1111</a:t>
            </a:r>
          </a:p>
        </p:txBody>
      </p:sp>
      <p:sp>
        <p:nvSpPr>
          <p:cNvPr id="534" name="Takeaway">
            <a:extLst xmlns:a="http://schemas.openxmlformats.org/drawingml/2006/main">
              <a:ext uri="{FF2B5EF4-FFF2-40B4-BE49-F238E27FC236}">
                <a16:creationId xmlns:a16="http://schemas.microsoft.com/office/drawing/2014/main" id="{B24371FB-CC52-4EF4-8F55-67249FE8325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Learn the 4-bit patterns for 0–F; do not convert through decimal unless you need a check.</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Floating-point layout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floating-point value has three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sign · exponent · significand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normalized values, subtract the bias from the stored exponent and restore the implied leading 1.</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(−1)ˢ × 2ᴱ⁻ᵇⁱᵃˢ × (1.f)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FP32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sign bit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 exponent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23 fraction bits</a:t>
            </a:r>
          </a:p>
        </p:txBody>
      </p:sp>
      <p:sp>
        <p:nvSpPr>
          <p:cNvPr id="534" name="Takeaway">
            <a:extLst xmlns:a="http://schemas.openxmlformats.org/drawingml/2006/main">
              <a:ext uri="{FF2B5EF4-FFF2-40B4-BE49-F238E27FC236}">
                <a16:creationId xmlns:a16="http://schemas.microsoft.com/office/drawing/2014/main" id="{FA9FA28D-D153-471B-A230-AAE3E38579D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Exponent bits all 0 or all 1 mark special cases; use the equation that matches the case.</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Range, precision, and hardware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finite set of bit patterns represents a finite set of values. Arithmetic may need rounding.</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Larger exponents cover a wider range, with larger gaps between neighboring values.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Integer operations → ALU</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Floating-point operations → FPU</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Hardware can overlap work.</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Speed depends on the operation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and the processor.</a:t>
            </a:r>
          </a:p>
        </p:txBody>
      </p:sp>
      <p:sp>
        <p:nvSpPr>
          <p:cNvPr id="534" name="Takeaway">
            <a:extLst xmlns:a="http://schemas.openxmlformats.org/drawingml/2006/main">
              <a:ext uri="{FF2B5EF4-FFF2-40B4-BE49-F238E27FC236}">
                <a16:creationId xmlns:a16="http://schemas.microsoft.com/office/drawing/2014/main" id="{EC86B7AE-8666-4E48-8902-4DD5ADECC30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floating-point operation is not automatically slower than its integer counterpart.</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Decode a small float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Format: 1 sign bit, 3 exponent bits, 4 fraction bits. Bias = 3.</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Decode 0 101 0110.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exponent is 5 − 3 = 2. The significand is 1.0110₂.</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1.0110₂ = 1 + 1/4 + 1/8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1.375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 2² × 1.375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5.5</a:t>
            </a:r>
          </a:p>
        </p:txBody>
      </p:sp>
      <p:sp>
        <p:nvSpPr>
          <p:cNvPr id="534" name="Takeaway">
            <a:extLst xmlns:a="http://schemas.openxmlformats.org/drawingml/2006/main">
              <a:ext uri="{FF2B5EF4-FFF2-40B4-BE49-F238E27FC236}">
                <a16:creationId xmlns:a16="http://schemas.microsoft.com/office/drawing/2014/main" id="{982B7403-7764-4DFC-A315-E17A85315C6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Read the fields first. Then substitute; do not treat the whole bit string as one integer.</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Build a small float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1 sign bit, 3 exponent bits, 4 fraction bits, and bias 3.</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Encode −6.5.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6.5 = 110.1₂ = 1.101₂ × 2²</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2 + 3 = 5 → 101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1010₂ → 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Fields:     1 | 101 | 1010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Decimal:    1 |  5  |  10</a:t>
            </a:r>
          </a:p>
        </p:txBody>
      </p:sp>
      <p:sp>
        <p:nvSpPr>
          <p:cNvPr id="534" name="Takeaway">
            <a:extLst xmlns:a="http://schemas.openxmlformats.org/drawingml/2006/main">
              <a:ext uri="{FF2B5EF4-FFF2-40B4-BE49-F238E27FC236}">
                <a16:creationId xmlns:a16="http://schemas.microsoft.com/office/drawing/2014/main" id="{947AFA04-444F-4B58-ADD3-7B56666E4E8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Store the biased exponent and fraction bits; the leading 1 is implied.</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From C to an executable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same program appears in several forms. Each tool translates or combines one form into the next.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instruction set architecture defines the instructions, registers, and programmer-visible behavior of the CPU.</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 source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compiler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assembly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assembler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object file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linker + libraries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executable</a:t>
            </a:r>
          </a:p>
        </p:txBody>
      </p:sp>
      <p:sp>
        <p:nvSpPr>
          <p:cNvPr id="534" name="Takeaway">
            <a:extLst xmlns:a="http://schemas.openxmlformats.org/drawingml/2006/main">
              <a:ext uri="{FF2B5EF4-FFF2-40B4-BE49-F238E27FC236}">
                <a16:creationId xmlns:a16="http://schemas.microsoft.com/office/drawing/2014/main" id="{5B1094FF-8651-4AB6-98EC-E21591341DF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opcode identifies an instruction in machine code; operands identify its data.</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and operand sizes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Registers are a small set of very fast storage locations inside the CPU. They can be sources or destinations.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stack lives in memory. Registers can hold addresses into it, or copies of its data.</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One general-purpose register: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%rax  64 bits     %eax  32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%ax   16 bits     %al    8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Suffix:  b    w    l    q</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Bits:    8   16   32   64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movw $9, %dx   # 16-bit operand</a:t>
            </a:r>
          </a:p>
        </p:txBody>
      </p:sp>
      <p:sp>
        <p:nvSpPr>
          <p:cNvPr id="534" name="Takeaway">
            <a:extLst xmlns:a="http://schemas.openxmlformats.org/drawingml/2006/main">
              <a:ext uri="{FF2B5EF4-FFF2-40B4-BE49-F238E27FC236}">
                <a16:creationId xmlns:a16="http://schemas.microsoft.com/office/drawing/2014/main" id="{D297478D-3632-4911-8269-BD8B7CD057F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Register names and instruction suffixes tell you which portion of a register is used.</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Read AT&amp;T assembly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AT&amp;T syntax puts the source first and destination second.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 means an immediate constant.</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 names a register.</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Parentheses dereference an address.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$7, %rax       rax = 7</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%rax, %rdi     rdi =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%rdi   rdi = memory[rbx]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−16(%rbp)          memory[rbp − 16]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(%rbx,%rsi,8)      memory[rbx + 8·rsi]</a:t>
            </a:r>
          </a:p>
        </p:txBody>
      </p:sp>
      <p:sp>
        <p:nvSpPr>
          <p:cNvPr id="534" name="Takeaway">
            <a:extLst xmlns:a="http://schemas.openxmlformats.org/drawingml/2006/main">
              <a:ext uri="{FF2B5EF4-FFF2-40B4-BE49-F238E27FC236}">
                <a16:creationId xmlns:a16="http://schemas.microsoft.com/office/drawing/2014/main" id="{AD4FD524-8DC7-4DED-A05E-21BD2526C03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With mov, parentheses mean access the data at the computed address.</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Memory and arrays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Memory is a flat sequence of byte addresses. An array stores equal-size elements contiguously.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To reach element i, scale the index by the element size.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address(a[i])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base + i × sizeof(element)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a[10];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address(a[3]) = base + 3 × 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base + 12</a:t>
            </a:r>
          </a:p>
        </p:txBody>
      </p:sp>
      <p:sp>
        <p:nvSpPr>
          <p:cNvPr id="534" name="Takeaway">
            <a:extLst xmlns:a="http://schemas.openxmlformats.org/drawingml/2006/main">
              <a:ext uri="{FF2B5EF4-FFF2-40B4-BE49-F238E27FC236}">
                <a16:creationId xmlns:a16="http://schemas.microsoft.com/office/drawing/2014/main" id="{9FDE8D85-B573-42D2-9D48-C968388CCED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Indices start at 0: index 2 selects the third element. C pointer arithmetic scales by element size.</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stack frame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Each function call gets a frame for its local work. On x86-64, the stack grows toward lower addresses.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%rsp marks the top of the stack. %rbp may provide a stable frame reference.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pushq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%rsp,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subq  $24, %rsp   # reserve space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%rbp, %rsp  # discard locals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popq  %rbp        # restore caller frame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ret</a:t>
            </a:r>
          </a:p>
        </p:txBody>
      </p:sp>
      <p:sp>
        <p:nvSpPr>
          <p:cNvPr id="534" name="Takeaway">
            <a:extLst xmlns:a="http://schemas.openxmlformats.org/drawingml/2006/main">
              <a:ext uri="{FF2B5EF4-FFF2-40B4-BE49-F238E27FC236}">
                <a16:creationId xmlns:a16="http://schemas.microsoft.com/office/drawing/2014/main" id="{2ADFC182-7368-47B3-B96D-48D407B274D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leave performs movq %rbp, %rsp followed by popq %rbp. Check which register is the destination.</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or heap?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Stack: automatic lifetime, tied to a function call.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Heap: requested at runtime and remains allocated until free.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pointer may live on the stack while the memory it points to lives on the heap.</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local[10];          //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*data = malloc(n * sizeof *data);</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if (data == NULL) { /* handle failure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free(data);</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data = NULL;</a:t>
            </a:r>
          </a:p>
        </p:txBody>
      </p:sp>
      <p:sp>
        <p:nvSpPr>
          <p:cNvPr id="534" name="Takeaway">
            <a:extLst xmlns:a="http://schemas.openxmlformats.org/drawingml/2006/main">
              <a:ext uri="{FF2B5EF4-FFF2-40B4-BE49-F238E27FC236}">
                <a16:creationId xmlns:a16="http://schemas.microsoft.com/office/drawing/2014/main" id="{C9F268C3-6009-40FB-8ABB-793DF20B6F0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Losing the last pointer before free causes a leak; using memory after free is invalid.</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Quick check</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 Convert 1011 0110₂ to hex.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2. Convert 0x4D to binary.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3. In movq $8, %rax, which operand is the destination?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4. If an int array begins at 0x1000, where is a[5]?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5. Which storage must be released with free?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6. Mini-float 0 100 1000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Bias 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What value is it?</a:t>
            </a:r>
          </a:p>
        </p:txBody>
      </p:sp>
      <p:sp>
        <p:nvSpPr>
          <p:cNvPr id="534" name="Takeaway">
            <a:extLst xmlns:a="http://schemas.openxmlformats.org/drawingml/2006/main">
              <a:ext uri="{FF2B5EF4-FFF2-40B4-BE49-F238E27FC236}">
                <a16:creationId xmlns:a16="http://schemas.microsoft.com/office/drawing/2014/main" id="{C2F37112-65B3-4922-A67A-B87F405B209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Answer each by showing the representation or address calculation.</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04</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Quick check answers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 0xB6</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2. 0100 1101₂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3. %rax</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4. 0x1000 + 5 × 4 = 0x1014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5. Heap storage from malloc/calloc/realloc</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6. (+1) × 2¹ × 1.5 = 3.0</a:t>
            </a:r>
          </a:p>
        </p:txBody>
      </p:sp>
      <p:sp>
        <p:nvSpPr>
          <p:cNvPr id="534" name="Takeaway">
            <a:extLst xmlns:a="http://schemas.openxmlformats.org/drawingml/2006/main">
              <a:ext uri="{FF2B5EF4-FFF2-40B4-BE49-F238E27FC236}">
                <a16:creationId xmlns:a16="http://schemas.microsoft.com/office/drawing/2014/main" id="{D1AC9751-3A62-4DAD-B6AD-4183D01BCBF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the field widths, operand order, and address formula as your checks.</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2026-10-02T03:30:21.1440000Z</dcterms:created>
  <dcterms:modified xsi:type="dcterms:W3CDTF">2026-10-02T03:30:21.1440000Z</dcterms:modified>
</coreProperties>
</file>