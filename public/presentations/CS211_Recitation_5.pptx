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3b2e053a614a90" /><Relationship Type="http://schemas.openxmlformats.org/officeDocument/2006/relationships/extended-properties" Target="/docProps/app.xml" Id="R7cc5169429b24d58" /><Relationship Type="http://schemas.openxmlformats.org/officeDocument/2006/relationships/officeDocument" Target="/ppt/presentation.xml" Id="Rebb165fd0e564c5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711fb8a3cfe455e"/>
  </p:sldMasterIdLst>
  <p:notesMasterIdLst>
    <p:notesMasterId xmlns:r="http://schemas.openxmlformats.org/officeDocument/2006/relationships" r:id="R9575686988574a23"/>
  </p:notesMasterIdLst>
  <p:sldIdLst>
    <p:sldId xmlns:r="http://schemas.openxmlformats.org/officeDocument/2006/relationships" id="256" r:id="Ra6ab52a28deb46fe"/>
    <p:sldId xmlns:r="http://schemas.openxmlformats.org/officeDocument/2006/relationships" id="257" r:id="R15495bfad6f448b2"/>
    <p:sldId xmlns:r="http://schemas.openxmlformats.org/officeDocument/2006/relationships" id="258" r:id="R5a55a240955a4f3c"/>
    <p:sldId xmlns:r="http://schemas.openxmlformats.org/officeDocument/2006/relationships" id="259" r:id="Raec3a4a62dc34ee0"/>
    <p:sldId xmlns:r="http://schemas.openxmlformats.org/officeDocument/2006/relationships" id="260" r:id="R286e35c971d9407f"/>
    <p:sldId xmlns:r="http://schemas.openxmlformats.org/officeDocument/2006/relationships" id="261" r:id="Rad3511c45c474b67"/>
    <p:sldId xmlns:r="http://schemas.openxmlformats.org/officeDocument/2006/relationships" id="262" r:id="R5c100fac5427411e"/>
    <p:sldId xmlns:r="http://schemas.openxmlformats.org/officeDocument/2006/relationships" id="263" r:id="R49563e82af8546e3"/>
    <p:sldId xmlns:r="http://schemas.openxmlformats.org/officeDocument/2006/relationships" id="264" r:id="R8e9ca82241484f80"/>
    <p:sldId xmlns:r="http://schemas.openxmlformats.org/officeDocument/2006/relationships" id="265" r:id="Rbcbd37a902e4477d"/>
    <p:sldId xmlns:r="http://schemas.openxmlformats.org/officeDocument/2006/relationships" id="266" r:id="Rdad8e184d5994782"/>
    <p:sldId xmlns:r="http://schemas.openxmlformats.org/officeDocument/2006/relationships" id="267" r:id="R697b8b3ecf4b432e"/>
    <p:sldId xmlns:r="http://schemas.openxmlformats.org/officeDocument/2006/relationships" id="268" r:id="R050f0189b7d54038"/>
    <p:sldId xmlns:r="http://schemas.openxmlformats.org/officeDocument/2006/relationships" id="269" r:id="R95e926c0447a4bb7"/>
    <p:sldId xmlns:r="http://schemas.openxmlformats.org/officeDocument/2006/relationships" id="270" r:id="Rf5c9a9dcbc2348e6"/>
    <p:sldId xmlns:r="http://schemas.openxmlformats.org/officeDocument/2006/relationships" id="271" r:id="R7d9f25864b7c4cb7"/>
    <p:sldId xmlns:r="http://schemas.openxmlformats.org/officeDocument/2006/relationships" id="272" r:id="R04ea2d49106e432d"/>
  </p:sldIdLst>
  <p:sldSz cx="12192000" cy="6858000"/>
  <p:notesSz cx="6858000" cy="9144000"/>
  <p:embeddedFontLst>
    <p:embeddedFont>
      <p:font typeface="OpenAI Sans"/>
      <p:regular xmlns:r="http://schemas.openxmlformats.org/officeDocument/2006/relationships" r:id="Rbbf9ba06dc324101"/>
      <p:bold xmlns:r="http://schemas.openxmlformats.org/officeDocument/2006/relationships" r:id="Ra0e542b09be34afc"/>
      <p:italic xmlns:r="http://schemas.openxmlformats.org/officeDocument/2006/relationships" r:id="Rdde150fb060d420d"/>
      <p:boldItalic xmlns:r="http://schemas.openxmlformats.org/officeDocument/2006/relationships" r:id="Rce2b6cc941204ff0"/>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bbd4dfd9df249d1" /><Relationship Type="http://schemas.openxmlformats.org/officeDocument/2006/relationships/slideMaster" Target="/ppt/slideMasters/slideMaster1.xml" Id="Re711fb8a3cfe455e" /><Relationship Type="http://schemas.openxmlformats.org/officeDocument/2006/relationships/notesMaster" Target="/ppt/notesMasters/notesMaster1.xml" Id="R9575686988574a23" /><Relationship Type="http://schemas.openxmlformats.org/officeDocument/2006/relationships/presProps" Target="/ppt/presProps.xml" Id="Ra6b0a9754e6f4d36" /><Relationship Type="http://schemas.openxmlformats.org/officeDocument/2006/relationships/viewProps" Target="/ppt/viewProps.xml" Id="R2c064b5fc2e94b48" /><Relationship Type="http://schemas.openxmlformats.org/officeDocument/2006/relationships/tableStyles" Target="/ppt/tableStyles.xml" Id="R1d0ced6ccb5c4b7f" /><Relationship Type="http://schemas.openxmlformats.org/officeDocument/2006/relationships/font" Target="/ppt/fonts/font.dat" Id="Rbbf9ba06dc324101" /><Relationship Type="http://schemas.openxmlformats.org/officeDocument/2006/relationships/font" Target="/ppt/fonts/font2.dat" Id="Ra0e542b09be34afc" /><Relationship Type="http://schemas.openxmlformats.org/officeDocument/2006/relationships/font" Target="/ppt/fonts/font3.dat" Id="Rdde150fb060d420d" /><Relationship Type="http://schemas.openxmlformats.org/officeDocument/2006/relationships/font" Target="/ppt/fonts/font4.dat" Id="Rce2b6cc941204ff0" /><Relationship Type="http://schemas.openxmlformats.org/officeDocument/2006/relationships/slide" Target="/ppt/slides/slide1.xml" Id="Ra6ab52a28deb46fe" /><Relationship Type="http://schemas.openxmlformats.org/officeDocument/2006/relationships/slide" Target="/ppt/slides/slide2.xml" Id="R15495bfad6f448b2" /><Relationship Type="http://schemas.openxmlformats.org/officeDocument/2006/relationships/slide" Target="/ppt/slides/slide3.xml" Id="R5a55a240955a4f3c" /><Relationship Type="http://schemas.openxmlformats.org/officeDocument/2006/relationships/slide" Target="/ppt/slides/slide4.xml" Id="Raec3a4a62dc34ee0" /><Relationship Type="http://schemas.openxmlformats.org/officeDocument/2006/relationships/slide" Target="/ppt/slides/slide5.xml" Id="R286e35c971d9407f" /><Relationship Type="http://schemas.openxmlformats.org/officeDocument/2006/relationships/slide" Target="/ppt/slides/slide6.xml" Id="Rad3511c45c474b67" /><Relationship Type="http://schemas.openxmlformats.org/officeDocument/2006/relationships/slide" Target="/ppt/slides/slide7.xml" Id="R5c100fac5427411e" /><Relationship Type="http://schemas.openxmlformats.org/officeDocument/2006/relationships/slide" Target="/ppt/slides/slide8.xml" Id="R49563e82af8546e3" /><Relationship Type="http://schemas.openxmlformats.org/officeDocument/2006/relationships/slide" Target="/ppt/slides/slide9.xml" Id="R8e9ca82241484f80" /><Relationship Type="http://schemas.openxmlformats.org/officeDocument/2006/relationships/slide" Target="/ppt/slides/slide10.xml" Id="Rbcbd37a902e4477d" /><Relationship Type="http://schemas.openxmlformats.org/officeDocument/2006/relationships/slide" Target="/ppt/slides/slide11.xml" Id="Rdad8e184d5994782" /><Relationship Type="http://schemas.openxmlformats.org/officeDocument/2006/relationships/slide" Target="/ppt/slides/slide12.xml" Id="R697b8b3ecf4b432e" /><Relationship Type="http://schemas.openxmlformats.org/officeDocument/2006/relationships/slide" Target="/ppt/slides/slide13.xml" Id="R050f0189b7d54038" /><Relationship Type="http://schemas.openxmlformats.org/officeDocument/2006/relationships/slide" Target="/ppt/slides/slide14.xml" Id="R95e926c0447a4bb7" /><Relationship Type="http://schemas.openxmlformats.org/officeDocument/2006/relationships/slide" Target="/ppt/slides/slide15.xml" Id="Rf5c9a9dcbc2348e6" /><Relationship Type="http://schemas.openxmlformats.org/officeDocument/2006/relationships/slide" Target="/ppt/slides/slide16.xml" Id="R7d9f25864b7c4cb7" /><Relationship Type="http://schemas.openxmlformats.org/officeDocument/2006/relationships/slide" Target="/ppt/slides/slide17.xml" Id="R04ea2d49106e43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d05af6442648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e13fdfee944407" /><Relationship Type="http://schemas.openxmlformats.org/officeDocument/2006/relationships/notesMaster" Target="/ppt/notesMasters/notesMaster1.xml" Id="Rdd674ae6d70947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4b87410986498e" /><Relationship Type="http://schemas.openxmlformats.org/officeDocument/2006/relationships/notesMaster" Target="/ppt/notesMasters/notesMaster1.xml" Id="Rd04de1a02897471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741203cab7e46cb" /><Relationship Type="http://schemas.openxmlformats.org/officeDocument/2006/relationships/notesMaster" Target="/ppt/notesMasters/notesMaster1.xml" Id="R230940a8ec5f41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7fcab2f8034c19" /><Relationship Type="http://schemas.openxmlformats.org/officeDocument/2006/relationships/notesMaster" Target="/ppt/notesMasters/notesMaster1.xml" Id="R39bc9a747d1d41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2d75f004f84a29" /><Relationship Type="http://schemas.openxmlformats.org/officeDocument/2006/relationships/notesMaster" Target="/ppt/notesMasters/notesMaster1.xml" Id="R0b695d0831504b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4051922e6a4234" /><Relationship Type="http://schemas.openxmlformats.org/officeDocument/2006/relationships/notesMaster" Target="/ppt/notesMasters/notesMaster1.xml" Id="R54cb82420a164b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832ff3ca664047" /><Relationship Type="http://schemas.openxmlformats.org/officeDocument/2006/relationships/notesMaster" Target="/ppt/notesMasters/notesMaster1.xml" Id="Refe6d8c298544d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49b759dae114877" /><Relationship Type="http://schemas.openxmlformats.org/officeDocument/2006/relationships/notesMaster" Target="/ppt/notesMasters/notesMaster1.xml" Id="R4c703ff61d6242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251cc079144f61" /><Relationship Type="http://schemas.openxmlformats.org/officeDocument/2006/relationships/notesMaster" Target="/ppt/notesMasters/notesMaster1.xml" Id="R3a1c4b7f1948499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94970bb7c4f4202" /><Relationship Type="http://schemas.openxmlformats.org/officeDocument/2006/relationships/notesMaster" Target="/ppt/notesMasters/notesMaster1.xml" Id="R6b8cdd1670274e2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06fb612eba84a53" /><Relationship Type="http://schemas.openxmlformats.org/officeDocument/2006/relationships/notesMaster" Target="/ppt/notesMasters/notesMaster1.xml" Id="Rcf6784c04c5d4e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3634f090144020" /><Relationship Type="http://schemas.openxmlformats.org/officeDocument/2006/relationships/notesMaster" Target="/ppt/notesMasters/notesMaster1.xml" Id="Rd9674048cde847c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d97cec9e7249a0" /><Relationship Type="http://schemas.openxmlformats.org/officeDocument/2006/relationships/notesMaster" Target="/ppt/notesMasters/notesMaster1.xml" Id="Rdb573c87909145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8d0ac14dc44310" /><Relationship Type="http://schemas.openxmlformats.org/officeDocument/2006/relationships/notesMaster" Target="/ppt/notesMasters/notesMaster1.xml" Id="Rb43a13d5d6b0482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e21aa58daed499b" /><Relationship Type="http://schemas.openxmlformats.org/officeDocument/2006/relationships/notesMaster" Target="/ppt/notesMasters/notesMaster1.xml" Id="R30c62b914841414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6b8a745be674390" /><Relationship Type="http://schemas.openxmlformats.org/officeDocument/2006/relationships/notesMaster" Target="/ppt/notesMasters/notesMaster1.xml" Id="Ra951e2dc8236407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ac1778497944735" /><Relationship Type="http://schemas.openxmlformats.org/officeDocument/2006/relationships/notesMaster" Target="/ppt/notesMasters/notesMaster1.xml" Id="Rc686944fde1948b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iLab for the live demonstration. Demonstrate debugging technique using the separate example.c exercise before inspecting a bomb.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CS:APP Bomb Lab instructor README supplied by the TA, overview and solving sections. The supplied document describes multiple deployment modes, so do not announce a particular penalty or grading mechanism without the current student handout.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supplied CS:APP instructor README, randomized phase variants and parameterized constants. The TA explicitly states that every student will receive a unique bomb. Do not display the private phase-change notes or a staff solution.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supplied CS:APP instructor README, student archive contents. The TA screenshot shows a staff build folder with additional files. Those extra source and solution artifacts are not part of the student workflow and are deliberately excluded. In less, use q to return to the shell.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remote path ~/ is the home directory. If the archive is already on iLab, skip scp. tar xvf handles a .tar archive; use the course's exact filename and archive format. These are example names, not a course download URL. Source for the student tar archive: supplied instructor README.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Download example.c from the presentation toolbar and put it in an iLab practice directory. It defines transform(x) = 3*x + 2, called with 4. In GDB, break transform, run, print x, disassemble transform, and stepi. Its main returns success when the computed result is 14. Sources: https://gcc.gnu.org/onlinedocs/gcc/Overall-Options.html and https://gcc.gnu.org/onlinedocs/gcc/Debugging-Options.html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https://sourceware.org/binutils/docs/binutils/objdump.html and https://sourceware.org/gdb/current/onlinedocs/gdb.html/Machine-Code.html . The &gt; operator writes objdump output to a text file. less supports /phase_1 to search and q to quit. GDB function names require available symbols. Compiler-generated .s text and disassembly can differ in formatting and addresses.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actual symbol names in the assigned executable. A phase-entry breakpoint may occur after read_line has already requested input. Distinguish input typed to the running bomb from commands typed at (gdb). A breakpoint at explode_bomb is a backup, not a promise that all versions avoid reporting a failure. Do not step through or continue the explosion routine. Use kill to stop the inferior, then inspect and restart. Source: https://sourceware.org/gdb/current/onlinedocs/gdb.html/Set-Breaks.html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https://sourceware.org/gdb/current/onlinedocs/gdb.html/Set-Breaks.html . Show one address breakpoint live using an address copied from the student's running process. Absolute addresses may change across runs under address randomization. Prefer function breakpoints when possible. explain that b, info b, and d are common abbreviations but use full commands when teaching.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https://sourceware.org/gdb/current/onlinedocs/gdb.html/Continuing-and-Stepping.html . A breakpoint or signal can interrupt stepping. finish runs until the current function returns and can also execute a failure path, so it is not a safe substitute for understanding the function. Ctrl+C pauses a running program. kill terminates the inferior while keeping GDB open. run may ask whether to restart if a program is already active.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https://sourceware.org/gdb/current/onlinedocs/gdb.html/Memory.html and https://sourceware.org/gdb/current/onlinedocs/gdb.html/Registers.html . x/4dw: 4 units, decimal format, word units of 4 bytes. x/2gx: 2 units, 8-byte giant words, hexadecimal format. p/d displays the register as a signed integer according to its type. For parsed 32-bit results, p/d $eax can be more appropriate. On System V AMD64, integer and pointer arguments commonly begin in rdi and rsi, and integer return values use rax/eax. Only interpret arguments at the appropriate call boundary.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Connect to the earlier house-address discussion: copying the address versus fetching the contents. lea is often used to form pointers to strings or stack slots before a helper call. x/gd reads an 8-byte value and formats it as signed decimal. Memory command reference: https://sourceware.org/gdb/current/onlinedocs/gdb.html/Memory.html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method hint without associating any helper or input format with a specific phase. Inspect a format-string pointer at the relevant parsing call and inspect the return count afterward. cmp source,destination sets flags as if computing destination - source. jne follows unequal values. The spaces in a scanf-family format matter because %c alone does not skip whitespace. The format and constant here are invented for teaching and are not phase answers.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activity: make a blank trace table and fill one iteration with the room. Look at the displacement and index expressions to distinguish dependencies on different earlier entries. Tables can contain values or code addresses, so inspect the instructions that consume each entry. General method hints only. Do not show private phase variants, constants, or recurrence sequences from the staff notes.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Offer this as a broad strategy for later phases. Do not identify any private algorithm, ordering direction, tree values, or hidden-phase trigger. Inspect comparisons to infer what a value means instead of assuming an index equals the stored data. bt can show the call chain when paused in recursion.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standard CS:APP driver often accepts a filename and switches to interactive input when that file ends, while stdin redirection may terminate at EOF. Verify the supplied bomb.c instead of promising that behavior for every version. Do not include placeholders or guessed lines in a replay file. Source for input redirection and distinct deployment modes: supplied instructor README. GDB run syntax: https://sourceware.org/gdb/current/onlinedocs/gdb.html/Arguments.html and https://sourceware.org/gdb/current/onlinedocs/gdb.html/Input_002fOutput.html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Close with a short live demonstration on the student's own assigned executable. If execution reaches the failure routine breakpoint, inspect the caller with bt and disassemble, then kill and restart after correcting the reasoning. The goal is understanding each check rather than changing registers or patching the executable to skip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513fb8dd24e420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0891979075346a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6547e7a130e4a6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60139f78e24ec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3b8b29d743142b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8ce4119f6c403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de679f3df294eb0"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2479da3670947e9"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c4c2ff1c604791" /><Relationship Type="http://schemas.openxmlformats.org/officeDocument/2006/relationships/slideLayout" Target="/ppt/slideLayouts/slideLayout1.xml" Id="R672d6585b3f64b72" /><Relationship Type="http://schemas.openxmlformats.org/officeDocument/2006/relationships/slideLayout" Target="/ppt/slideLayouts/slideLayout2.xml" Id="R2a318a0ca65c4dad" /><Relationship Type="http://schemas.openxmlformats.org/officeDocument/2006/relationships/slideLayout" Target="/ppt/slideLayouts/slideLayout3.xml" Id="R21db0614fc9a447a" /><Relationship Type="http://schemas.openxmlformats.org/officeDocument/2006/relationships/slideLayout" Target="/ppt/slideLayouts/slideLayout4.xml" Id="R803abbf75d0a4c22" /><Relationship Type="http://schemas.openxmlformats.org/officeDocument/2006/relationships/slideLayout" Target="/ppt/slideLayouts/slideLayout5.xml" Id="Rdb7445cf2e67453a" /><Relationship Type="http://schemas.openxmlformats.org/officeDocument/2006/relationships/slideLayout" Target="/ppt/slideLayouts/slideLayout6.xml" Id="Rb825a04fe87f4e33" /><Relationship Type="http://schemas.openxmlformats.org/officeDocument/2006/relationships/slideLayout" Target="/ppt/slideLayouts/slideLayout7.xml" Id="R9026b0b128f2420b" /><Relationship Type="http://schemas.openxmlformats.org/officeDocument/2006/relationships/slideLayout" Target="/ppt/slideLayouts/slideLayout8.xml" Id="Rac0445518e8c40b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672d6585b3f64b72"/>
    <p:sldLayoutId xmlns:r="http://schemas.openxmlformats.org/officeDocument/2006/relationships" id="2147483650" r:id="R2a318a0ca65c4dad"/>
    <p:sldLayoutId xmlns:r="http://schemas.openxmlformats.org/officeDocument/2006/relationships" id="2147483651" r:id="R21db0614fc9a447a"/>
    <p:sldLayoutId xmlns:r="http://schemas.openxmlformats.org/officeDocument/2006/relationships" id="2147483652" r:id="R803abbf75d0a4c22"/>
    <p:sldLayoutId xmlns:r="http://schemas.openxmlformats.org/officeDocument/2006/relationships" id="2147483653" r:id="Rdb7445cf2e67453a"/>
    <p:sldLayoutId xmlns:r="http://schemas.openxmlformats.org/officeDocument/2006/relationships" id="2147483654" r:id="Rb825a04fe87f4e33"/>
    <p:sldLayoutId xmlns:r="http://schemas.openxmlformats.org/officeDocument/2006/relationships" id="2147483655" r:id="R9026b0b128f2420b"/>
    <p:sldLayoutId xmlns:r="http://schemas.openxmlformats.org/officeDocument/2006/relationships" id="2147483656" r:id="Rac0445518e8c40b6"/>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acb1b3d4754e35" /><Relationship Type="http://schemas.openxmlformats.org/officeDocument/2006/relationships/notesSlide" Target="/ppt/notesSlides/notesSlide1.xml" Id="R2646e53e70324d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9caeebcad4648b0" /><Relationship Type="http://schemas.openxmlformats.org/officeDocument/2006/relationships/notesSlide" Target="/ppt/notesSlides/notesSlide2.xml" Id="Rf2f50d454d074d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9b02cf8e034261" /><Relationship Type="http://schemas.openxmlformats.org/officeDocument/2006/relationships/notesSlide" Target="/ppt/notesSlides/notesSlide3.xml" Id="Rc481573d56a4470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2b8f2dd055d41a2" /><Relationship Type="http://schemas.openxmlformats.org/officeDocument/2006/relationships/notesSlide" Target="/ppt/notesSlides/notesSlide4.xml" Id="R6106cc0d873e4a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837f90c868d4f20" /><Relationship Type="http://schemas.openxmlformats.org/officeDocument/2006/relationships/notesSlide" Target="/ppt/notesSlides/notesSlide5.xml" Id="R1e966d8522f145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c99e6e39ca8493b" /><Relationship Type="http://schemas.openxmlformats.org/officeDocument/2006/relationships/notesSlide" Target="/ppt/notesSlides/notesSlide6.xml" Id="R9f6e0ee2aef84cc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4459dc92f0d412f" /><Relationship Type="http://schemas.openxmlformats.org/officeDocument/2006/relationships/notesSlide" Target="/ppt/notesSlides/notesSlide7.xml" Id="Ra8ac2c18fa0a45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eac71c4cf1b4b5d" /><Relationship Type="http://schemas.openxmlformats.org/officeDocument/2006/relationships/notesSlide" Target="/ppt/notesSlides/notesSlide8.xml" Id="R2762552e430046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14679fef9394851" /><Relationship Type="http://schemas.openxmlformats.org/officeDocument/2006/relationships/notesSlide" Target="/ppt/notesSlides/notesSlide9.xml" Id="Rc5cb0a325fe346d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200edd1695345f5" /><Relationship Type="http://schemas.openxmlformats.org/officeDocument/2006/relationships/notesSlide" Target="/ppt/notesSlides/notesSlide10.xml" Id="Rdd3b96e1b8794b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eb65abdf2ba453a" /><Relationship Type="http://schemas.openxmlformats.org/officeDocument/2006/relationships/notesSlide" Target="/ppt/notesSlides/notesSlide11.xml" Id="R191a22c859884c4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15751dd66244f18" /><Relationship Type="http://schemas.openxmlformats.org/officeDocument/2006/relationships/notesSlide" Target="/ppt/notesSlides/notesSlide12.xml" Id="R4aaa5f5a85da41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e637a67741b4925" /><Relationship Type="http://schemas.openxmlformats.org/officeDocument/2006/relationships/notesSlide" Target="/ppt/notesSlides/notesSlide13.xml" Id="Ra5c7963b11a748b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7f16af1195443f4" /><Relationship Type="http://schemas.openxmlformats.org/officeDocument/2006/relationships/notesSlide" Target="/ppt/notesSlides/notesSlide14.xml" Id="Rcad0e0ef0199442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72125ea2fda4bab" /><Relationship Type="http://schemas.openxmlformats.org/officeDocument/2006/relationships/notesSlide" Target="/ppt/notesSlides/notesSlide15.xml" Id="Ra65cc7bba1a3463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2f53303adbe4536" /><Relationship Type="http://schemas.openxmlformats.org/officeDocument/2006/relationships/notesSlide" Target="/ppt/notesSlides/notesSlide16.xml" Id="Ra007e43eca2a45c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f9689c91696428a" /><Relationship Type="http://schemas.openxmlformats.org/officeDocument/2006/relationships/notesSlide" Target="/ppt/notesSlides/notesSlide17.xml" Id="R524cf6778bf44ee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Bomb Lab &amp; GDB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Opening your 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Reading assembly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Breakpoints and memory inspection</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Bomb 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binary bomb is an executable with phases that check your input.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correct line defuses a phase. An incorrect line reaches the explosion path.</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Your job is to infer the checks from the machine code.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 the phase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Identify the required input format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Follow the conditions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Explain a candidate input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Test with breakpoints</a:t>
            </a:r>
          </a:p>
        </p:txBody>
      </p:sp>
      <p:sp>
        <p:nvSpPr>
          <p:cNvPr id="534" name="Takeaway">
            <a:extLst xmlns:a="http://schemas.openxmlformats.org/drawingml/2006/main">
              <a:ext uri="{FF2B5EF4-FFF2-40B4-BE49-F238E27FC236}">
                <a16:creationId xmlns:a16="http://schemas.microsoft.com/office/drawing/2014/main" id="{3F0F1B77-9CA3-49D5-82D2-A90457E08DD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Check Canvas for the deadline, scoring, and submission instructions. Explosions may be recorded.</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Everyone has a unique bomb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Your bomb has its own constants and phase variants.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recitation demo may have different strings, numbers, and addresses.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your own disassembly to justify each input.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Same tools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Different executable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Different checks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value from the demo may fail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 your bomb.</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student folder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bomb is the executable you investigate.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bomb.c shows the main program and how it reads input. It may omit the phase implementations.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README and ID identify your assigned bomb.</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Typical student files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bomb.c</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less bomb.c</a:t>
            </a:r>
          </a:p>
        </p:txBody>
      </p:sp>
      <p:sp>
        <p:nvSpPr>
          <p:cNvPr id="534" name="Takeaway">
            <a:extLst xmlns:a="http://schemas.openxmlformats.org/drawingml/2006/main">
              <a:ext uri="{FF2B5EF4-FFF2-40B4-BE49-F238E27FC236}">
                <a16:creationId xmlns:a16="http://schemas.microsoft.com/office/drawing/2014/main" id="{89D15BEE-537F-4115-86F8-12EC7A0198E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Your downloaded folder may differ. Keep the supplied executable intact.</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Opening the bomb on iLab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Download your assigned archive using the course link. Copy it to iLab if you downloaded it locally.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Replace N with your bomb number and YOUR_NETID with your NetID. Use the actual archive name.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Local terminal, in Downloads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scp bombN.tar YOUR_NETID@ilab.cs.rutgers.edu:~/</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ssh YOUR_NETID@ilab.cs.rutgers.edu</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Now on iLab</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tar xvf bombN.tar</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cd bombN</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ls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cat README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gdb ./bomb</a:t>
            </a:r>
          </a:p>
        </p:txBody>
      </p:sp>
      <p:sp>
        <p:nvSpPr>
          <p:cNvPr id="534" name="Takeaway">
            <a:extLst xmlns:a="http://schemas.openxmlformats.org/drawingml/2006/main">
              <a:ext uri="{FF2B5EF4-FFF2-40B4-BE49-F238E27FC236}">
                <a16:creationId xmlns:a16="http://schemas.microsoft.com/office/drawing/2014/main" id="{54FDD11F-3FAD-4351-91D1-E448A0342E8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shell runs scp, tar, and gdb. The (gdb) prompt accepts debugger commands.</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 code and assembly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C source you own, gcc -S produces an assembly file.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 adds debugger information. -O0 keeps optimization off for this exercise.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bomb already contains machine code. Inspect that executable directly.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With the supplied example.c</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gcc -O0 -S example.c -o example.s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less example.s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separate executable for GDB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gcc -g -O0 example.c -o example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./example</a:t>
            </a:r>
          </a:p>
        </p:txBody>
      </p:sp>
      <p:sp>
        <p:nvSpPr>
          <p:cNvPr id="534" name="Takeaway">
            <a:extLst xmlns:a="http://schemas.openxmlformats.org/drawingml/2006/main">
              <a:ext uri="{FF2B5EF4-FFF2-40B4-BE49-F238E27FC236}">
                <a16:creationId xmlns:a16="http://schemas.microsoft.com/office/drawing/2014/main" id="{461CDB11-042C-4A1B-AB18-BB20A686A4B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Compiling bomb.c alone may fail because the phase code is missing.</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Assembly from the executable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objdump displays machine instructions without running the bomb.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GDB, disassemble displays one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AT&amp;T syntax consistently with the earlier recitations.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Shell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objdump -d bomb &gt; bomb-disassembly.txt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less bomb-disassembly.txt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Inside GDB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set disassembly-flavor att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functions phase_</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disassemble phase_1</a:t>
            </a:r>
          </a:p>
        </p:txBody>
      </p:sp>
      <p:sp>
        <p:nvSpPr>
          <p:cNvPr id="534" name="Takeaway">
            <a:extLst xmlns:a="http://schemas.openxmlformats.org/drawingml/2006/main">
              <a:ext uri="{FF2B5EF4-FFF2-40B4-BE49-F238E27FC236}">
                <a16:creationId xmlns:a16="http://schemas.microsoft.com/office/drawing/2014/main" id="{F8145363-33C2-4E07-A23F-FACC283DFF3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Function names depend on your executable. Use the symbols it actually provides.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first GDB session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Set breakpoints before running. Stop at the phase entry and inspect its instructions.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breakpoint on explode_bomb gives an extra stopping point if execution reaches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At that breakpoint, inspect and stop the run.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break phase_1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break explode_bomb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info breakpoints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the phase breakpoint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disassemble phase_1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x/i $pc</a:t>
            </a:r>
          </a:p>
        </p:txBody>
      </p:sp>
      <p:sp>
        <p:nvSpPr>
          <p:cNvPr id="534" name="Takeaway">
            <a:extLst xmlns:a="http://schemas.openxmlformats.org/drawingml/2006/main">
              <a:ext uri="{FF2B5EF4-FFF2-40B4-BE49-F238E27FC236}">
                <a16:creationId xmlns:a16="http://schemas.microsoft.com/office/drawing/2014/main" id="{F0D6B8FB-DB44-4AEE-9F99-D5F79AEE0C2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breakpoint pauses execution. Continuing from explode_bomb can execute the failure routine.</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Managing breakpoints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Break at a function or at a specific instruction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GDB assigns a number to each breakpoint. Use that number to disable or delete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Choose addresses from your current disassembly.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 phase_2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breakpoints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disable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enable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delete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help break</a:t>
            </a:r>
          </a:p>
        </p:txBody>
      </p:sp>
      <p:sp>
        <p:nvSpPr>
          <p:cNvPr id="534" name="Takeaway">
            <a:extLst xmlns:a="http://schemas.openxmlformats.org/drawingml/2006/main">
              <a:ext uri="{FF2B5EF4-FFF2-40B4-BE49-F238E27FC236}">
                <a16:creationId xmlns:a16="http://schemas.microsoft.com/office/drawing/2014/main" id="{0D813056-A772-40CA-9E85-09BFB32D33C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Replace ADDRESS with a real address. Breakpoint numbers may differ in your session.</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Stepping through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si executes one machine instruction and enters calls. ni executes one instruction and steps over calls.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Stepping over a call still runs the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Source commands step and next operate on source lines when debug information exists.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         # stepi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ni         # nexti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x/i $pc    # current instruction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continue   # run until next stop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run        # restart from the beginning</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kill       # stop the running program</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quit       # leave GDB</a:t>
            </a:r>
          </a:p>
        </p:txBody>
      </p:sp>
      <p:sp>
        <p:nvSpPr>
          <p:cNvPr id="534" name="Takeaway">
            <a:extLst xmlns:a="http://schemas.openxmlformats.org/drawingml/2006/main">
              <a:ext uri="{FF2B5EF4-FFF2-40B4-BE49-F238E27FC236}">
                <a16:creationId xmlns:a16="http://schemas.microsoft.com/office/drawing/2014/main" id="{65EDB234-9521-4D92-A35D-BA4A4FF2E9D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Inspect the destination of a call before using ni or continue.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and memory in GDB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print shows a value. x examines memory at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Choose the display format to match the data: strings, integers, or pointers.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GDB, register names begin with $. In AT&amp;T assembly, they begin with %.</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registers rax rdi rsi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p/x $rax       # register in hex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p/d $rax       # register in decimal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x/s $rdi       # string at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x/4dw $rsp     # four 4-byte integers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x/2gx $rsp     # two 8-byte values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x/5i $pc       # five instructions</a:t>
            </a:r>
          </a:p>
        </p:txBody>
      </p:sp>
      <p:sp>
        <p:nvSpPr>
          <p:cNvPr id="534" name="Takeaway">
            <a:extLst xmlns:a="http://schemas.openxmlformats.org/drawingml/2006/main">
              <a:ext uri="{FF2B5EF4-FFF2-40B4-BE49-F238E27FC236}">
                <a16:creationId xmlns:a16="http://schemas.microsoft.com/office/drawing/2014/main" id="{5BE4B346-B518-43EB-9388-D2C5D3893AF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x/s only when the register holds a readable string address.</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 number or an address. mov copies the operand you specify.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parenthesized source operand in mov loads the contents at that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computes an address without reading its contents.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Suppose rbx = 0x2000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memory[0x2000] contains 37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%rbx, %rax     # rax = 0x2000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(%rbx), %rax   # rax = 37</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leaq 8(%rbx), %rax  # rax = 0x2008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GDB checks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p/x $rbx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x/gd $rbx</a:t>
            </a:r>
          </a:p>
        </p:txBody>
      </p:sp>
      <p:sp>
        <p:nvSpPr>
          <p:cNvPr id="534" name="Takeaway">
            <a:extLst xmlns:a="http://schemas.openxmlformats.org/drawingml/2006/main">
              <a:ext uri="{FF2B5EF4-FFF2-40B4-BE49-F238E27FC236}">
                <a16:creationId xmlns:a16="http://schemas.microsoft.com/office/drawing/2014/main" id="{BA964AC5-1B0C-4D4A-A379-AA19E12D9E9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Toy values for this example. Addresses and contents in your bomb will differ.</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Input formats and comparisons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what the program parses before solving the checks.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parsing helper may check how many fields it read. A later comparison checks their values.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 the comparison and the branch together.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Toy input format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     # integer, then character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Toy value check</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 $9, %eax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jne failure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To avoid this branch, eax must be 9.</a:t>
            </a:r>
          </a:p>
        </p:txBody>
      </p:sp>
      <p:sp>
        <p:nvSpPr>
          <p:cNvPr id="534" name="Takeaway">
            <a:extLst xmlns:a="http://schemas.openxmlformats.org/drawingml/2006/main">
              <a:ext uri="{FF2B5EF4-FFF2-40B4-BE49-F238E27FC236}">
                <a16:creationId xmlns:a16="http://schemas.microsoft.com/office/drawing/2014/main" id="{94771DC6-1509-4CB5-A751-73FD318940E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parsed-field count and a parsed value answer different questions.</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Loops and lookup tables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loop, track the index and which earlier elements the code reads.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table, find the base address, entry size, and index bounds.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mask can reduce an input before the program uses it as an index.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Loop notes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index    values read    value written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calculation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base + index * element_size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After a mask</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track the masked index</a:t>
            </a:r>
          </a:p>
        </p:txBody>
      </p:sp>
      <p:sp>
        <p:nvSpPr>
          <p:cNvPr id="534" name="Takeaway">
            <a:extLst xmlns:a="http://schemas.openxmlformats.org/drawingml/2006/main">
              <a:ext uri="{FF2B5EF4-FFF2-40B4-BE49-F238E27FC236}">
                <a16:creationId xmlns:a16="http://schemas.microsoft.com/office/drawing/2014/main" id="{7F9659FC-D534-4A9D-8CFE-8F367590437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Derive the relationship from the instructions. Familiar-looking sequences can use different rules.</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Calls and pointer structures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recursive code, identify the stopping condition and how each call changes its arguments.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pointer structures, distinguish a node's value from its next pointer.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Write down each address you visit before following the next link.</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Recursive trace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arguments    base case    return value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 trace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node address    data    next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Array index and node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may represent different things.</a:t>
            </a:r>
          </a:p>
        </p:txBody>
      </p:sp>
      <p:sp>
        <p:nvSpPr>
          <p:cNvPr id="534" name="Takeaway">
            <a:extLst xmlns:a="http://schemas.openxmlformats.org/drawingml/2006/main">
              <a:ext uri="{FF2B5EF4-FFF2-40B4-BE49-F238E27FC236}">
                <a16:creationId xmlns:a16="http://schemas.microsoft.com/office/drawing/2014/main" id="{234B609B-B848-4C71-B056-A0A5DCB5B07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Assembly offsets reveal which field the program reads and how it uses that field.</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Saving confirmed inputs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Keep a separate text file with one confirmed phase input per line, in order.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 bomb.c to check whether your version accepts that file as a command-line argument.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Keep your own notes on why each line passes.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bomb.c supports a filename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 answers.txt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Otherwise, stdin redirection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 &lt; answers.txt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Breakpoints remain in this session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info breakpoints</a:t>
            </a:r>
          </a:p>
        </p:txBody>
      </p:sp>
      <p:sp>
        <p:nvSpPr>
          <p:cNvPr id="534" name="Takeaway">
            <a:extLst xmlns:a="http://schemas.openxmlformats.org/drawingml/2006/main">
              <a:ext uri="{FF2B5EF4-FFF2-40B4-BE49-F238E27FC236}">
                <a16:creationId xmlns:a16="http://schemas.microsoft.com/office/drawing/2014/main" id="{EE1D1BF0-87D2-4171-AE69-0A0C4633BEA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argument file and stdin redirection handle end-of-file differently. Check your version before relying on either.</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phase investigation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Pause at the phase entry.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the input format and failure branches.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Track the registers or memory that each check uses.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Test a candidate only after you can explain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Useful notes to keep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Function and instruction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Condition required to pass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Observed register or memory values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Reason for the candidate input</a:t>
            </a:r>
          </a:p>
        </p:txBody>
      </p:sp>
      <p:sp>
        <p:nvSpPr>
          <p:cNvPr id="534" name="Takeaway">
            <a:extLst xmlns:a="http://schemas.openxmlformats.org/drawingml/2006/main">
              <a:ext uri="{FF2B5EF4-FFF2-40B4-BE49-F238E27FC236}">
                <a16:creationId xmlns:a16="http://schemas.microsoft.com/office/drawing/2014/main" id="{0465710C-C6A9-43BC-A413-EDA4DC9276B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When asking for help, bring the exact instruction and your current interpretation.</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2026-10-09T04:17:32.5920000Z</dcterms:created>
  <dcterms:modified xsi:type="dcterms:W3CDTF">2026-10-09T04:17:32.5920000Z</dcterms:modified>
</coreProperties>
</file>