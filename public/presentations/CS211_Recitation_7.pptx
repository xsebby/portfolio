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63034484ec467e" /><Relationship Type="http://schemas.openxmlformats.org/officeDocument/2006/relationships/extended-properties" Target="/docProps/app.xml" Id="Rcf801c5a08ce4fc7" /><Relationship Type="http://schemas.openxmlformats.org/officeDocument/2006/relationships/officeDocument" Target="/ppt/presentation.xml" Id="R30d73a8b7160498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e7a8a5136224fde"/>
  </p:sldMasterIdLst>
  <p:notesMasterIdLst>
    <p:notesMasterId xmlns:r="http://schemas.openxmlformats.org/officeDocument/2006/relationships" r:id="R30214bec0cbd41fb"/>
  </p:notesMasterIdLst>
  <p:sldIdLst>
    <p:sldId xmlns:r="http://schemas.openxmlformats.org/officeDocument/2006/relationships" id="256" r:id="R54a419f5acf44c12"/>
    <p:sldId xmlns:r="http://schemas.openxmlformats.org/officeDocument/2006/relationships" id="257" r:id="R49ac621a0d9b4676"/>
    <p:sldId xmlns:r="http://schemas.openxmlformats.org/officeDocument/2006/relationships" id="258" r:id="Re4472a261d8542e8"/>
    <p:sldId xmlns:r="http://schemas.openxmlformats.org/officeDocument/2006/relationships" id="259" r:id="R6c5dafd550964940"/>
    <p:sldId xmlns:r="http://schemas.openxmlformats.org/officeDocument/2006/relationships" id="260" r:id="R0645639e024349e5"/>
    <p:sldId xmlns:r="http://schemas.openxmlformats.org/officeDocument/2006/relationships" id="261" r:id="Rf8235a4e25294fb2"/>
    <p:sldId xmlns:r="http://schemas.openxmlformats.org/officeDocument/2006/relationships" id="262" r:id="R3885ed69a77341ef"/>
    <p:sldId xmlns:r="http://schemas.openxmlformats.org/officeDocument/2006/relationships" id="263" r:id="Rfed9f0f27eaa41a4"/>
    <p:sldId xmlns:r="http://schemas.openxmlformats.org/officeDocument/2006/relationships" id="264" r:id="Rdb536370759844aa"/>
    <p:sldId xmlns:r="http://schemas.openxmlformats.org/officeDocument/2006/relationships" id="265" r:id="Rd2500efbb61c4c85"/>
    <p:sldId xmlns:r="http://schemas.openxmlformats.org/officeDocument/2006/relationships" id="266" r:id="R880313408f394e54"/>
    <p:sldId xmlns:r="http://schemas.openxmlformats.org/officeDocument/2006/relationships" id="267" r:id="R02b1380f3bb64349"/>
    <p:sldId xmlns:r="http://schemas.openxmlformats.org/officeDocument/2006/relationships" id="268" r:id="R7c461ae444dd4ab6"/>
    <p:sldId xmlns:r="http://schemas.openxmlformats.org/officeDocument/2006/relationships" id="269" r:id="Rfa762dbcad7f49e7"/>
    <p:sldId xmlns:r="http://schemas.openxmlformats.org/officeDocument/2006/relationships" id="270" r:id="R3a98809f153145e8"/>
    <p:sldId xmlns:r="http://schemas.openxmlformats.org/officeDocument/2006/relationships" id="271" r:id="Rc548e0460ad84b13"/>
    <p:sldId xmlns:r="http://schemas.openxmlformats.org/officeDocument/2006/relationships" id="272" r:id="Rf64c3155233f4a99"/>
    <p:sldId xmlns:r="http://schemas.openxmlformats.org/officeDocument/2006/relationships" id="273" r:id="R1eba9e2d8d0a4517"/>
    <p:sldId xmlns:r="http://schemas.openxmlformats.org/officeDocument/2006/relationships" id="274" r:id="R8a9da1a01da047c9"/>
    <p:sldId xmlns:r="http://schemas.openxmlformats.org/officeDocument/2006/relationships" id="275" r:id="R8b1bfbc492a54323"/>
    <p:sldId xmlns:r="http://schemas.openxmlformats.org/officeDocument/2006/relationships" id="276" r:id="Rbdcd86c0088a44ae"/>
    <p:sldId xmlns:r="http://schemas.openxmlformats.org/officeDocument/2006/relationships" id="277" r:id="R5146a19a60344a08"/>
    <p:sldId xmlns:r="http://schemas.openxmlformats.org/officeDocument/2006/relationships" id="278" r:id="Rc266c82505b24b05"/>
  </p:sldIdLst>
  <p:sldSz cx="12192000" cy="6858000"/>
  <p:notesSz cx="6858000" cy="9144000"/>
  <p:embeddedFontLst>
    <p:embeddedFont>
      <p:font typeface="OpenAI Sans"/>
      <p:regular xmlns:r="http://schemas.openxmlformats.org/officeDocument/2006/relationships" r:id="Rc93f8612a50a40d7"/>
      <p:bold xmlns:r="http://schemas.openxmlformats.org/officeDocument/2006/relationships" r:id="R7bcd55f6e24d44e8"/>
      <p:italic xmlns:r="http://schemas.openxmlformats.org/officeDocument/2006/relationships" r:id="R04d937ebf9d84e42"/>
      <p:boldItalic xmlns:r="http://schemas.openxmlformats.org/officeDocument/2006/relationships" r:id="Rebc70526097844a6"/>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6b9bf45f35a4406" /><Relationship Type="http://schemas.openxmlformats.org/officeDocument/2006/relationships/slideMaster" Target="/ppt/slideMasters/slideMaster1.xml" Id="R0e7a8a5136224fde" /><Relationship Type="http://schemas.openxmlformats.org/officeDocument/2006/relationships/notesMaster" Target="/ppt/notesMasters/notesMaster1.xml" Id="R30214bec0cbd41fb" /><Relationship Type="http://schemas.openxmlformats.org/officeDocument/2006/relationships/presProps" Target="/ppt/presProps.xml" Id="R8b550e8b8ce64537" /><Relationship Type="http://schemas.openxmlformats.org/officeDocument/2006/relationships/viewProps" Target="/ppt/viewProps.xml" Id="R0c16160c33b9446c" /><Relationship Type="http://schemas.openxmlformats.org/officeDocument/2006/relationships/tableStyles" Target="/ppt/tableStyles.xml" Id="R427059bec40d4e77" /><Relationship Type="http://schemas.openxmlformats.org/officeDocument/2006/relationships/font" Target="/ppt/fonts/font.dat" Id="Rc93f8612a50a40d7" /><Relationship Type="http://schemas.openxmlformats.org/officeDocument/2006/relationships/font" Target="/ppt/fonts/font2.dat" Id="R7bcd55f6e24d44e8" /><Relationship Type="http://schemas.openxmlformats.org/officeDocument/2006/relationships/font" Target="/ppt/fonts/font3.dat" Id="R04d937ebf9d84e42" /><Relationship Type="http://schemas.openxmlformats.org/officeDocument/2006/relationships/font" Target="/ppt/fonts/font4.dat" Id="Rebc70526097844a6" /><Relationship Type="http://schemas.openxmlformats.org/officeDocument/2006/relationships/slide" Target="/ppt/slides/slide1.xml" Id="R54a419f5acf44c12" /><Relationship Type="http://schemas.openxmlformats.org/officeDocument/2006/relationships/slide" Target="/ppt/slides/slide2.xml" Id="R49ac621a0d9b4676" /><Relationship Type="http://schemas.openxmlformats.org/officeDocument/2006/relationships/slide" Target="/ppt/slides/slide3.xml" Id="Re4472a261d8542e8" /><Relationship Type="http://schemas.openxmlformats.org/officeDocument/2006/relationships/slide" Target="/ppt/slides/slide4.xml" Id="R6c5dafd550964940" /><Relationship Type="http://schemas.openxmlformats.org/officeDocument/2006/relationships/slide" Target="/ppt/slides/slide5.xml" Id="R0645639e024349e5" /><Relationship Type="http://schemas.openxmlformats.org/officeDocument/2006/relationships/slide" Target="/ppt/slides/slide6.xml" Id="Rf8235a4e25294fb2" /><Relationship Type="http://schemas.openxmlformats.org/officeDocument/2006/relationships/slide" Target="/ppt/slides/slide7.xml" Id="R3885ed69a77341ef" /><Relationship Type="http://schemas.openxmlformats.org/officeDocument/2006/relationships/slide" Target="/ppt/slides/slide8.xml" Id="Rfed9f0f27eaa41a4" /><Relationship Type="http://schemas.openxmlformats.org/officeDocument/2006/relationships/slide" Target="/ppt/slides/slide9.xml" Id="Rdb536370759844aa" /><Relationship Type="http://schemas.openxmlformats.org/officeDocument/2006/relationships/slide" Target="/ppt/slides/slide10.xml" Id="Rd2500efbb61c4c85" /><Relationship Type="http://schemas.openxmlformats.org/officeDocument/2006/relationships/slide" Target="/ppt/slides/slide11.xml" Id="R880313408f394e54" /><Relationship Type="http://schemas.openxmlformats.org/officeDocument/2006/relationships/slide" Target="/ppt/slides/slide12.xml" Id="R02b1380f3bb64349" /><Relationship Type="http://schemas.openxmlformats.org/officeDocument/2006/relationships/slide" Target="/ppt/slides/slide13.xml" Id="R7c461ae444dd4ab6" /><Relationship Type="http://schemas.openxmlformats.org/officeDocument/2006/relationships/slide" Target="/ppt/slides/slide14.xml" Id="Rfa762dbcad7f49e7" /><Relationship Type="http://schemas.openxmlformats.org/officeDocument/2006/relationships/slide" Target="/ppt/slides/slide15.xml" Id="R3a98809f153145e8" /><Relationship Type="http://schemas.openxmlformats.org/officeDocument/2006/relationships/slide" Target="/ppt/slides/slide16.xml" Id="Rc548e0460ad84b13" /><Relationship Type="http://schemas.openxmlformats.org/officeDocument/2006/relationships/slide" Target="/ppt/slides/slide17.xml" Id="Rf64c3155233f4a99" /><Relationship Type="http://schemas.openxmlformats.org/officeDocument/2006/relationships/slide" Target="/ppt/slides/slide18.xml" Id="R1eba9e2d8d0a4517" /><Relationship Type="http://schemas.openxmlformats.org/officeDocument/2006/relationships/slide" Target="/ppt/slides/slide19.xml" Id="R8a9da1a01da047c9" /><Relationship Type="http://schemas.openxmlformats.org/officeDocument/2006/relationships/slide" Target="/ppt/slides/slide20.xml" Id="R8b1bfbc492a54323" /><Relationship Type="http://schemas.openxmlformats.org/officeDocument/2006/relationships/slide" Target="/ppt/slides/slide21.xml" Id="Rbdcd86c0088a44ae" /><Relationship Type="http://schemas.openxmlformats.org/officeDocument/2006/relationships/slide" Target="/ppt/slides/slide22.xml" Id="R5146a19a60344a08" /><Relationship Type="http://schemas.openxmlformats.org/officeDocument/2006/relationships/slide" Target="/ppt/slides/slide23.xml" Id="Rc266c82505b24b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d6d786cd7042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d209792cb3440f" /><Relationship Type="http://schemas.openxmlformats.org/officeDocument/2006/relationships/notesMaster" Target="/ppt/notesMasters/notesMaster1.xml" Id="R6b346b754f1d47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95aef693614499" /><Relationship Type="http://schemas.openxmlformats.org/officeDocument/2006/relationships/notesMaster" Target="/ppt/notesMasters/notesMaster1.xml" Id="Rb569804ff7cc43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080134306544c4" /><Relationship Type="http://schemas.openxmlformats.org/officeDocument/2006/relationships/notesMaster" Target="/ppt/notesMasters/notesMaster1.xml" Id="R4d2836adc4ca4a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ed0b37be734ae7" /><Relationship Type="http://schemas.openxmlformats.org/officeDocument/2006/relationships/notesMaster" Target="/ppt/notesMasters/notesMaster1.xml" Id="R0e7760d8786e46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7536931129469d" /><Relationship Type="http://schemas.openxmlformats.org/officeDocument/2006/relationships/notesMaster" Target="/ppt/notesMasters/notesMaster1.xml" Id="Rfb6575f70ea64c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c10e8dd22d45d9" /><Relationship Type="http://schemas.openxmlformats.org/officeDocument/2006/relationships/notesMaster" Target="/ppt/notesMasters/notesMaster1.xml" Id="Raa7fccc085c14f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8264de902c404c" /><Relationship Type="http://schemas.openxmlformats.org/officeDocument/2006/relationships/notesMaster" Target="/ppt/notesMasters/notesMaster1.xml" Id="R06076bfb762945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e56a9936b845fd" /><Relationship Type="http://schemas.openxmlformats.org/officeDocument/2006/relationships/notesMaster" Target="/ppt/notesMasters/notesMaster1.xml" Id="Rece26af2d9674f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dd8ae5f84444e3" /><Relationship Type="http://schemas.openxmlformats.org/officeDocument/2006/relationships/notesMaster" Target="/ppt/notesMasters/notesMaster1.xml" Id="R933aeb817d884c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87e7d796804fe7" /><Relationship Type="http://schemas.openxmlformats.org/officeDocument/2006/relationships/notesMaster" Target="/ppt/notesMasters/notesMaster1.xml" Id="R0b0161e1ad2c43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735fcf0ec74ea4" /><Relationship Type="http://schemas.openxmlformats.org/officeDocument/2006/relationships/notesMaster" Target="/ppt/notesMasters/notesMaster1.xml" Id="Re28907bffc984f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27241cdad654dd0" /><Relationship Type="http://schemas.openxmlformats.org/officeDocument/2006/relationships/notesMaster" Target="/ppt/notesMasters/notesMaster1.xml" Id="R85a69b16f3f64b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7ca856a9e754bfb" /><Relationship Type="http://schemas.openxmlformats.org/officeDocument/2006/relationships/notesMaster" Target="/ppt/notesMasters/notesMaster1.xml" Id="R38cfa5e4081943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3812011c6342ca" /><Relationship Type="http://schemas.openxmlformats.org/officeDocument/2006/relationships/notesMaster" Target="/ppt/notesMasters/notesMaster1.xml" Id="R91550caa08a0496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435b3f9c204040" /><Relationship Type="http://schemas.openxmlformats.org/officeDocument/2006/relationships/notesMaster" Target="/ppt/notesMasters/notesMaster1.xml" Id="R15162d07565e4a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ad5f277c8b48f2" /><Relationship Type="http://schemas.openxmlformats.org/officeDocument/2006/relationships/notesMaster" Target="/ppt/notesMasters/notesMaster1.xml" Id="R7ec27dd6e747451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8e64bbae67438a" /><Relationship Type="http://schemas.openxmlformats.org/officeDocument/2006/relationships/notesMaster" Target="/ppt/notesMasters/notesMaster1.xml" Id="Rc09b70c4dddb41b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cc33427f2741d6" /><Relationship Type="http://schemas.openxmlformats.org/officeDocument/2006/relationships/notesMaster" Target="/ppt/notesMasters/notesMaster1.xml" Id="R207c528af1bf4ac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2fb8d7f0dd54614" /><Relationship Type="http://schemas.openxmlformats.org/officeDocument/2006/relationships/notesMaster" Target="/ppt/notesMasters/notesMaster1.xml" Id="R5b4e7d617e54477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8e02cc815fe4e61" /><Relationship Type="http://schemas.openxmlformats.org/officeDocument/2006/relationships/notesMaster" Target="/ppt/notesMasters/notesMaster1.xml" Id="R9932fc1a087140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cfd5a6d45844aab" /><Relationship Type="http://schemas.openxmlformats.org/officeDocument/2006/relationships/notesMaster" Target="/ppt/notesMasters/notesMaster1.xml" Id="Rfba187b0849445e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337eb326b74dc0" /><Relationship Type="http://schemas.openxmlformats.org/officeDocument/2006/relationships/notesMaster" Target="/ppt/notesMasters/notesMaster1.xml" Id="Rd4496cfa0efd491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73c4517e2ee4fe2" /><Relationship Type="http://schemas.openxmlformats.org/officeDocument/2006/relationships/notesMaster" Target="/ppt/notesMasters/notesMaster1.xml" Id="R0fe25a789b2c4f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Start by saying: We will separate the address, the stored bits, and the meaning of those bits. Most of the hard questions mix two of these ideas. Spend the most time on slides 9–17. The posted midterm scope emphasizes lectures 1–13 and includes 14–15 with less emphasis. This is a review guide, not a promise of the exact exam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Say: The address label is not the house. Draw a small box p containing 0x1000, then seven int boxes elsewhere. Ask which box sizeof p measures. An int*, short*, and char* have the same pointer size under the stated iLab model. Do not say every C implementation has 8-byte pointers. calloc requires stdlib.h; assume allocation succeeds here.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https://firner.com/presentations/cs211/2026-Fall/cs211_03/; https://firner.com/presentations/cs211/2026-Fall/cs211_09/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sizeof p = 8 bytes: the pointer.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sizeof *p = 4 bytes: one 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The requested block is 7 × 4 = 28 bytes, excluding allocator overhead.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Analogy: registers are items in your hands; a stack frame is temporary desk space for the current task; a heap allocation is storage you keep until you explicitly release it. The analogy explains lifetime, not an exact physical memory layout. Local variables may be optimized into registers. Stack and heap are regions of virtual address space and use the memory hierarchy. A saved register VALUE can be copied onto the stack; the register itself is not located there.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https://firner.com/presentations/cs211/2026-Fall/cs211_08/; https://firner.com/presentations/cs211/2026-Fall/cs211_09/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Say: A forwarding address does not keep a demolished house standing. Contrast lifetime of the local pointer variable with lifetime of the allocation it points to. Returning a pointer is normal; returning a pointer to a dead local object is the error. Include stdlib.h for calloc. Explain that calloc zeroes allocated bytes, while malloc leaves the bytes uninitialized. The allocator is software backed by OS memory services, not a special heap-allocation CPU instruction. A caller-owned output array is another valid design.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https://firner.com/presentations/cs211/2026-Fall/cs211_08/; https://firner.com/presentations/cs211/2026-Fall/cs211_09/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bad returns an address of an object whose lifetime has ended. The caller must not dereference that pointer.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make returns a heap allocation that remains alive until free. Check for NULL, use it, then free it once.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Board: start after establishing RBP with RBP=1000 and RSP=1000. After subtracting 32, RSP=968. On cleanup RSP becomes 1000, then pop moves it by 8. Keep the old RBP save and return address separate. The return address was saved by call before this prologue; ret returns to the instruction AFTER call. Not every optimized function uses a frame pointer or this exact prologue. Reclaimed stack bytes need not be erased; the object lifetime is what ends. This addresses the reversed cleanup copy in the quiz.</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https://firner.com/presentations/cs211/2026-Fall/cs211_08/; https://firner.com/presentations/cs211/2026-Fall/cs211_09/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Say: Copy the address label versus go to that address and pick up the contents. Registers do not have ordinary memory addresses that mov is implicitly accessing. In movq -8(%rbp), %rax, calculate RBP−8 first, then read 8 bytes there. In leaq -8(%rbp), %rax, only the calculation happens. Walk students through source first, destination second in AT&amp;T syntax.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The immediate move puts 6 in RAX.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The register move copies 0x1000 into RAX.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The memory load reads 27 into RAX.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lea computes 0x1008; it does not read memory at 0x1008.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Ask: If the value is 5, does the q instruction only use three bits? No; the operand width is still 64 bits. Separate value magnitude from storage width. Pointer addresses normally use q operations on iLab. AL and AX are smaller subregisters; unlike EAX writes, writes to AL or AX do not generally zero all the other bits of RAX. Source: assembly instruction suffixes in Lecture 07.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Draw a[0] at 0x1000, a[1] at 0x1004, a[2] at 0x1008, and a[3] at 0x100C. First do the multiplication, then include the extra displacement 4. Contrast C p+2, which already scales by sizeof *p, with byte arithmetic in assembly. Element size is an assumption here; an arbitrary scale of 4 in machine code is not by itself proof of the original C 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https://firner.com/presentations/cs211/2026-Fall/cs211_03/; https://firner.com/presentations/cs211/2026-Fall/cs211_07/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The address is 0x100C: 12 bytes past the base.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For 4-byte ints, this is index 3, the fourth element. The instruction loads that element’s value into EDX.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Put two separate 4-byte rectangles on the board for the struct. For the union, draw one 4-byte rectangle with two names above it. Ask where a write to bits goes. Union storage can include alignment padding in general; largest member size is the starting point, not a universal no-padding rule. Neither a union nor a cast automatically changes an integer bit pattern into the numeric float of that integer.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Separate is 8 bytes under these assumptions: two distinct 4-byte fields.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Shared is 4 bytes: both members refer to the same four bytes. Their sizes are not added together.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Draw 12 byte boxes. Fill byte 0 with tag, bytes 4–7 with count, byte 8 with ready. Mark the rest as padding. Say: padding is a gap, not an extra variable or a buffer-overflow defense. Do not teach that every struct must align to 8 bytes, or that alignment guarantees a whole struct is fetched with one memory request. It can reduce split or unaligned accesses; ABI layout is the concrete rule we use.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tag starts at offset 0, count at 4, and ready at 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The total is 12 bytes. Bytes 1–3 are internal padding; bytes 9–11 are tail padding, so the next Record in an array can also align its 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Say: sign chooses plus or minus; exponent chooses scale; fraction chooses the detail between powers of two. A stored fraction 100... means one half, but the complete normal significand is 1.5. A stored exponent 128 is not the actual exponent 128: it gives 128−127=1. The normal formula applies when E is neither zero nor all ones. We handle those special cases later. The course sometimes calls the stored fraction the significand; make that vocabulary explicit.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Board: draw three boxes with widths 1,5,2. First circle the sign. Convert only 10000 to decimal 16. Show that fraction bits 10 mean F=2 as an integer, but F/2²=2/4=0.5 as a contribution. Ask: is the significand 2 or 1.5? Answer: the stored fraction integer is 2; the complete significand is 1.5. This is the distinction students need on the old quiz fill-in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explains released Quiz 3A Q6 and restores the original read and print operations. Include stdio.h in a complete program. The cast itself does not change fb or decode its exponent. &amp;fb takes the address; the outer * is the read; assignment copies the resulting float value into f. printf then displays f, with the usual float-to-double argument promotion. Say: We are following bytes, then interpreting them, then printing the interpreted value. The original pointer cast depends on bit-field layout and violates ordinary portable-C aliasing assumptions; teach the intended course interpretation under its stated implementation assumptions. For production C on a known FP32 system, explicit uint32_t bit construction and memcpy into a float avoid this pointer-aliasing issue.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https://firner.com/presentations/cs211/2026-Fall/cs211_05/; https://firner.com/presentations/cs211/2026-Fall/cs211_10/; released Quiz 3A, Q6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The initializer produces fields s = 0, E = 128, and F = 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*(float *)&amp;fb reads those bytes using their floating-point meaning; it does not convert the integer 128 to the float 128.0.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The value is +1 × 2^(128 − 127) × (1 + 0/2^23) = 2.0. The line prints First value is 2.000000.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explains the setup for released Quiz 3A Q7. Say: the union does not keep one copy of 12.0 and a separate integer. Draw one 32-bit strip, write 12.0 bits, erase them for the integer assignment, then insert the new exponent and fraction bits. The int constants used here fit the course’s 32-bit signed int. Prefer unsigned values for new bit manipulation code. sizeof this union is 4 bytes under the stated assumptions, addressing Q8.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https://firner.com/presentations/cs211/2026-Fall/cs211_10/; released Quiz 3A, Q7–Q8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The float initialization writes the FP32 representation of 12.0.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u.i = 0 overwrites those same four bytes with zeros.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The OR expression builds a new float representation in those shared bytes. The initial 12.0 no longer affects the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Board: number the bit positions 31, 30–23, 22–0. Put a 1 at bit 22. Ask: does that bit contribute 2²² to the FLOAT value? No. It contributes that weight to the integer bit pattern, but one half to the float’s fraction. Say: first arrange the bits, then use the float formula. A numeric cast such as (float)some_integer converts a number; reading the shared representation gives a different interpretation of the same bytes.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https://firner.com/presentations/cs211/2026-Fall/cs211_05/; https://firner.com/presentations/cs211/2026-Fall/cs211_10/; released Quiz 3A, Q7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Pause for a full minute. Ask students to write E−bias and 1.f separately before doing multiplication. If someone says the case B fraction is one half, have them label bit 22 first, then bit 21. No sign bit is set. F denotes the stored fraction integer in case A, so F=0 does not mean the whole number is zero. A uint32_t declaration needs stdint.h.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Case A: 2^(126−127) × 1.0 = 0.5.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Case B: actual exponent = 129−127 = 2. Fraction bit 21 contributes 1/4, so the full significand is 1.25. The value is 4 × 1.25 = 5.0.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Say: move the binary point one place right to create 1.1, so compensate with an exponent of −1. Then add the bias; do not subtract it during encoding. Two fraction bits give room for .10. Explain why this value is exact: the fraction is a finite binary fraction and fits the field. Compare with the old quiz format, but use the new value so students must transfer the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0.11₂ = 1.1₂ × 2^(−1).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The sign bit is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Stored exponent = −1 + 15 = 14, or 01110₂.</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Fraction bits are 10, so the stored fraction integer F = 2. The full encoding is 1 | 01110 | 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Say: a large tray can hold one small cup; tray size and cup size are different. This is why both 64-bit and 8-byte choices on released Quiz 3A Q11 were insufficient. XMM is the low 128 bits of the corresponding YMM; ZMM, when present, extends that storage further. x87 has its own register stack, separate from the function-call stack. MMX registers are packed-integer aliases of x87 storage, not another name for XMM. Scalar mulss/addss use float values, not integer addition of their bit encodings.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https://firner.com/presentations/cs211/2026-Fall/cs211_11/; https://www.intel.com/content/www/us/en/developer/articles/technical/intel-sdm.html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A 32-bit float stored in XMM does not make XMM a 32-bit register. XMM is 128 bits wide.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The largest available register depends on CPU extensions; common examples are wider than 64 bits.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Ask the two answer-reveal questions aloud: convert 0xA7; then list bytes of 0xA7B2 little-endian. Break into 4-bit groups and insist on preserving leading zeros within each nibble. For the endian example, draw addresses 1000 and 1001 and place full byte pairs into them. Do not reverse the digits inside a byte or the individual bits. Reading a uint32_t word in GDB and listing its bytes are different displays.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https://firner.com/presentations/cs211/2026-Fall/cs211_01/; https://firner.com/presentations/cs211/2026-Fall/cs211_03/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0xA7 expands to 1010 0111₂.</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In little-endian memory, 0xA7B2 as a 16-bit value stores B2 first, then A7.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Emphasize interpretation rather than a separate collection of signed memory cells. For general n-bit signed values, minimum is −2^(n−1) and maximum is 2^(n−1)−1. This is a fixed-width hardware/representation exercise. In C, small integer types are usually promoted before arithmetic, and signed overflow at the operation’s actual type width is undefined behavior; do not claim ordinary signed C overflow is guaranteed to wrap.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https://firner.com/presentations/cs211/2026-Fall/cs211_02/; https://firner.com/presentations/cs211/2026-Fall/cs211_04/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Signed and unsigned 8-bit values each have 256 possible patterns.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The fixed-width negation pattern for 10000000 is still 10000000. Read as signed, it is −128, but the desired positive result overflowed the signed 8-bit range.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Draw eight seats in a row; a shift throws the person at the end away, while a rotation sends that person around to the empty seat. For the homework-style method, combine a masked left shift with x &gt;&gt; 7. State the width and use unsigned arithmetic; shift counts must be valid for the promoted operand type. This is a one-bit illustration, not a complete general rotation function with all edge cases.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https://firner.com/presentations/cs211/2026-Fall/cs211_02/; https://firner.com/presentations/cs211/2026-Fall/hw2.html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x &amp; 0x0F = 0x06, keeping the low four bits.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The masked left shift is 0x6C = 01101100₂.</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The rotation is 0x6D = 01101101₂: the old top bit becomes the low bit.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Board: draw columns A, B, A AND B, NOT A, Out. For each row, fill both internal columns before Out. Circle the wire entering NOT so students do not invert the wrong input. In C, bitwise &amp;, |, ~ operate on bit patterns, while logical &amp;&amp;, ||, ! operate on truth values; this slide is single-bit logic. A truth table with n binary inputs needs 2^n rows.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https://firner.com/presentations/cs211/2026-Fall/cs211_02/; https://firner.com/presentations/cs211/2026-Fall/cs211_12/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A=0,B=0: AND=0, NOT A=1, so output=1.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A=0,B=1: AND=0, NOT A=1, so output=1.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A=1,B=0: AND=0, NOT A=0, so output=0.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A=1,B=1: AND=1, NOT A=0, so output=1.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decimal addition’s carry as the analogy. Two ones in a binary column produce zero in that column and carry one left. If each stage waits for the previous carry, a longer chain can take longer. For lookahead, define G=A AND B and P=A XOR B; then Cnext=G OR (P AND Cin). Avoid quoting a universal fixed number of gate delays because it depends on the implementation. Distinguish combinational propagation delay from sequential state storage.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https://firner.com/presentations/cs211/2026-Fall/cs211_03/; https://firner.com/presentations/cs211/2026-Fall/cs211_12/; https://firner.com/presentations/cs211/2026-Fall/cs211_13/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1. Sum = 1 XOR 1 XOR 0 = 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Carry-out = 1. The binary total is 10₂.</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Lookahead trades extra circuitry for less serial carry waiting; it does not make propagation delay disappear.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a5d0328bb244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45612700514b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fdf0518e7e47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ee40f8cca441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e3c4541c2642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391cdd7058d418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6a7fb286dc34da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17049f6e4b84ccb"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2e453f1e174813" /><Relationship Type="http://schemas.openxmlformats.org/officeDocument/2006/relationships/slideLayout" Target="/ppt/slideLayouts/slideLayout1.xml" Id="R78d557211e4b4205" /><Relationship Type="http://schemas.openxmlformats.org/officeDocument/2006/relationships/slideLayout" Target="/ppt/slideLayouts/slideLayout2.xml" Id="R04fbee4d4c464775" /><Relationship Type="http://schemas.openxmlformats.org/officeDocument/2006/relationships/slideLayout" Target="/ppt/slideLayouts/slideLayout3.xml" Id="R75667768e0084791" /><Relationship Type="http://schemas.openxmlformats.org/officeDocument/2006/relationships/slideLayout" Target="/ppt/slideLayouts/slideLayout4.xml" Id="Re451ec1b75de41e1" /><Relationship Type="http://schemas.openxmlformats.org/officeDocument/2006/relationships/slideLayout" Target="/ppt/slideLayouts/slideLayout5.xml" Id="Re0d369c2f161460c" /><Relationship Type="http://schemas.openxmlformats.org/officeDocument/2006/relationships/slideLayout" Target="/ppt/slideLayouts/slideLayout6.xml" Id="R57b2f11281744806" /><Relationship Type="http://schemas.openxmlformats.org/officeDocument/2006/relationships/slideLayout" Target="/ppt/slideLayouts/slideLayout7.xml" Id="R10f7d0a00fee4c25" /><Relationship Type="http://schemas.openxmlformats.org/officeDocument/2006/relationships/slideLayout" Target="/ppt/slideLayouts/slideLayout8.xml" Id="R79d3cea4952e431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78d557211e4b4205"/>
    <p:sldLayoutId xmlns:r="http://schemas.openxmlformats.org/officeDocument/2006/relationships" id="2147483650" r:id="R04fbee4d4c464775"/>
    <p:sldLayoutId xmlns:r="http://schemas.openxmlformats.org/officeDocument/2006/relationships" id="2147483651" r:id="R75667768e0084791"/>
    <p:sldLayoutId xmlns:r="http://schemas.openxmlformats.org/officeDocument/2006/relationships" id="2147483652" r:id="Re451ec1b75de41e1"/>
    <p:sldLayoutId xmlns:r="http://schemas.openxmlformats.org/officeDocument/2006/relationships" id="2147483653" r:id="Re0d369c2f161460c"/>
    <p:sldLayoutId xmlns:r="http://schemas.openxmlformats.org/officeDocument/2006/relationships" id="2147483654" r:id="R57b2f11281744806"/>
    <p:sldLayoutId xmlns:r="http://schemas.openxmlformats.org/officeDocument/2006/relationships" id="2147483655" r:id="R10f7d0a00fee4c25"/>
    <p:sldLayoutId xmlns:r="http://schemas.openxmlformats.org/officeDocument/2006/relationships" id="2147483656" r:id="R79d3cea4952e4313"/>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babb7f1ae3c4287" /><Relationship Type="http://schemas.openxmlformats.org/officeDocument/2006/relationships/notesSlide" Target="/ppt/notesSlides/notesSlide1.xml" Id="R757df39a43a948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4704d98d7594c05" /><Relationship Type="http://schemas.openxmlformats.org/officeDocument/2006/relationships/notesSlide" Target="/ppt/notesSlides/notesSlide2.xml" Id="R7115f55866a147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a66a6621d74ace" /><Relationship Type="http://schemas.openxmlformats.org/officeDocument/2006/relationships/notesSlide" Target="/ppt/notesSlides/notesSlide3.xml" Id="R4cd3a0d539034f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013cd227d64976" /><Relationship Type="http://schemas.openxmlformats.org/officeDocument/2006/relationships/notesSlide" Target="/ppt/notesSlides/notesSlide4.xml" Id="R58f25c67dec248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d5dfc965d0241da" /><Relationship Type="http://schemas.openxmlformats.org/officeDocument/2006/relationships/notesSlide" Target="/ppt/notesSlides/notesSlide5.xml" Id="R3b83fcc28d9e45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41221b660c347e7" /><Relationship Type="http://schemas.openxmlformats.org/officeDocument/2006/relationships/notesSlide" Target="/ppt/notesSlides/notesSlide6.xml" Id="R952dcdd77ab742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d9e637c0b8e4247" /><Relationship Type="http://schemas.openxmlformats.org/officeDocument/2006/relationships/notesSlide" Target="/ppt/notesSlides/notesSlide7.xml" Id="R3314a06b6eb849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33d9be8a0fe44b0" /><Relationship Type="http://schemas.openxmlformats.org/officeDocument/2006/relationships/notesSlide" Target="/ppt/notesSlides/notesSlide8.xml" Id="R7d5dda06bd6246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397e3abb10248b8" /><Relationship Type="http://schemas.openxmlformats.org/officeDocument/2006/relationships/notesSlide" Target="/ppt/notesSlides/notesSlide9.xml" Id="Rd58285cec40744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95cc5b5e45e4028" /><Relationship Type="http://schemas.openxmlformats.org/officeDocument/2006/relationships/notesSlide" Target="/ppt/notesSlides/notesSlide10.xml" Id="R1fd07e33acbf45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2ca91351c664c58" /><Relationship Type="http://schemas.openxmlformats.org/officeDocument/2006/relationships/notesSlide" Target="/ppt/notesSlides/notesSlide11.xml" Id="Rc593ec93238946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5e278a7b1994aed" /><Relationship Type="http://schemas.openxmlformats.org/officeDocument/2006/relationships/notesSlide" Target="/ppt/notesSlides/notesSlide12.xml" Id="R80a749eb6f184ac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d41b970d92340f0" /><Relationship Type="http://schemas.openxmlformats.org/officeDocument/2006/relationships/notesSlide" Target="/ppt/notesSlides/notesSlide13.xml" Id="Rcd3396a0b5784e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9e72338dd844b4f" /><Relationship Type="http://schemas.openxmlformats.org/officeDocument/2006/relationships/notesSlide" Target="/ppt/notesSlides/notesSlide14.xml" Id="Rddef86f16fac47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7b6ffe0ba38468b" /><Relationship Type="http://schemas.openxmlformats.org/officeDocument/2006/relationships/notesSlide" Target="/ppt/notesSlides/notesSlide15.xml" Id="R9cd24a037aec4d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f0d12c66a524af0" /><Relationship Type="http://schemas.openxmlformats.org/officeDocument/2006/relationships/notesSlide" Target="/ppt/notesSlides/notesSlide16.xml" Id="Rb58c7d8bdd9a47b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bcc4155dfc24b92" /><Relationship Type="http://schemas.openxmlformats.org/officeDocument/2006/relationships/notesSlide" Target="/ppt/notesSlides/notesSlide17.xml" Id="Rbe598754bf60481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ca2d8fb605f4524" /><Relationship Type="http://schemas.openxmlformats.org/officeDocument/2006/relationships/notesSlide" Target="/ppt/notesSlides/notesSlide18.xml" Id="Rd8ce918348bf4dd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564db7910f149b6" /><Relationship Type="http://schemas.openxmlformats.org/officeDocument/2006/relationships/notesSlide" Target="/ppt/notesSlides/notesSlide19.xml" Id="Rc9658b5b22044fa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bb19819829d4dc3" /><Relationship Type="http://schemas.openxmlformats.org/officeDocument/2006/relationships/notesSlide" Target="/ppt/notesSlides/notesSlide20.xml" Id="Rab8b35d1eb094ca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656a8bf7f4e40de" /><Relationship Type="http://schemas.openxmlformats.org/officeDocument/2006/relationships/notesSlide" Target="/ppt/notesSlides/notesSlide21.xml" Id="Ra27571c08f6c4c9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b0b321c54ce4d5d" /><Relationship Type="http://schemas.openxmlformats.org/officeDocument/2006/relationships/notesSlide" Target="/ppt/notesSlides/notesSlide22.xml" Id="R191bcf5af88b47f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adb258485614a10" /><Relationship Type="http://schemas.openxmlformats.org/officeDocument/2006/relationships/notesSlide" Target="/ppt/notesSlides/notesSlide23.xml" Id="R67ef4183e267457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5250">
                <a:solidFill>
                  <a:srgbClr val="FFFFFF"/>
                </a:solidFill>
                <a:latin typeface="Arial"/>
                <a:ea typeface="Arial"/>
                <a:cs typeface="Arial"/>
              </a:defRPr>
            </a:defPPr>
            <a:lvl1pPr>
              <a:defRPr sz="5250">
                <a:solidFill>
                  <a:srgbClr val="FFFFFF"/>
                </a:solidFill>
                <a:latin typeface="Arial"/>
                <a:ea typeface="Arial"/>
                <a:cs typeface="Arial"/>
              </a:defRPr>
            </a:lvl1pPr>
            <a:lvl2pPr>
              <a:defRPr sz="5250">
                <a:solidFill>
                  <a:srgbClr val="FFFFFF"/>
                </a:solidFill>
                <a:latin typeface="Arial"/>
                <a:ea typeface="Arial"/>
                <a:cs typeface="Arial"/>
              </a:defRPr>
            </a:lvl2pPr>
            <a:lvl3pPr>
              <a:defRPr sz="5250">
                <a:solidFill>
                  <a:srgbClr val="FFFFFF"/>
                </a:solidFill>
                <a:latin typeface="Arial"/>
                <a:ea typeface="Arial"/>
                <a:cs typeface="Arial"/>
              </a:defRPr>
            </a:lvl3pPr>
            <a:lvl4pPr>
              <a:defRPr sz="5250">
                <a:solidFill>
                  <a:srgbClr val="FFFFFF"/>
                </a:solidFill>
                <a:latin typeface="Arial"/>
                <a:ea typeface="Arial"/>
                <a:cs typeface="Arial"/>
              </a:defRPr>
            </a:lvl4pPr>
            <a:lvl5pPr>
              <a:defRPr sz="5250">
                <a:solidFill>
                  <a:srgbClr val="FFFFFF"/>
                </a:solidFill>
                <a:latin typeface="Arial"/>
                <a:ea typeface="Arial"/>
                <a:cs typeface="Arial"/>
              </a:defRPr>
            </a:lvl5pPr>
            <a:lvl6pPr>
              <a:defRPr sz="5250">
                <a:solidFill>
                  <a:srgbClr val="FFFFFF"/>
                </a:solidFill>
                <a:latin typeface="Arial"/>
                <a:ea typeface="Arial"/>
                <a:cs typeface="Arial"/>
              </a:defRPr>
            </a:lvl6pPr>
            <a:lvl7pPr>
              <a:defRPr sz="5250">
                <a:solidFill>
                  <a:srgbClr val="FFFFFF"/>
                </a:solidFill>
                <a:latin typeface="Arial"/>
                <a:ea typeface="Arial"/>
                <a:cs typeface="Arial"/>
              </a:defRPr>
            </a:lvl7pPr>
            <a:lvl8pPr>
              <a:defRPr sz="5250">
                <a:solidFill>
                  <a:srgbClr val="FFFFFF"/>
                </a:solidFill>
                <a:latin typeface="Arial"/>
                <a:ea typeface="Arial"/>
                <a:cs typeface="Arial"/>
              </a:defRPr>
            </a:lvl8pPr>
            <a:lvl9pPr>
              <a:defRPr sz="52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5250">
                <a:solidFill>
                  <a:srgbClr val="FFFFFF"/>
                </a:solidFill>
                <a:latin typeface="Arial"/>
                <a:ea typeface="Arial"/>
                <a:cs typeface="Arial"/>
              </a:defRPr>
            </a:pPr>
            <a:r>
              <a:rPr sz="5250">
                <a:solidFill>
                  <a:srgbClr val="FFFFFF"/>
                </a:solidFill>
                <a:latin typeface="Arial"/>
                <a:ea typeface="Arial"/>
                <a:cs typeface="Arial"/>
              </a:rPr>
              <a:t>Midterm review</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950">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Computer Architecture</a:t>
            </a:r>
          </a:p>
          <a:p xmlns:a="http://schemas.openxmlformats.org/drawingml/2006/main">
            <a:pPr marL="0" indent="0">
              <a:lnSpc>
                <a:spcPct val="112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Rutgers University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Pointers and memory</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Float bits, structs, and unions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Assembly and digital logic</a:t>
            </a:r>
          </a:p>
        </p:txBody>
      </p:sp>
    </p:spTree>
    <p:extLst>
      <p:ext uri="{BB962C8B-B14F-4D97-AF65-F5344CB8AC3E}">
        <p14:creationId xmlns:p14="http://schemas.microsoft.com/office/powerpoint/2010/main" val="36671821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2</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 pointer is an address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Think of a pointer as a house address. The address fits on the same size label whether the house is large or small.</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pointed-to type tells C how to read the object and how far p + 1 moves.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5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Assume x86-64: pointer = 8 bytes</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int = 4 bytes; char = 1 byte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int *p = calloc(7, sizeof *p);</a:t>
            </a:r>
          </a:p>
        </p:txBody>
      </p:sp>
      <p:graphicFrame>
        <p:nvGraphicFramePr>
          <p:cNvPr id="534" name="">
            <a:extLst xmlns:a="http://schemas.openxmlformats.org/drawingml/2006/main">
              <a:ext uri="{FF2B5EF4-FFF2-40B4-BE49-F238E27FC236}">
                <a16:creationId xmlns:a16="http://schemas.microsoft.com/office/drawing/2014/main" id="{354148E4-91DD-4091-9755-846CBD5FC793}"/>
              </a:ext>
            </a:extLst>
          </p:cNvPr>
          <p:cNvGraphicFramePr/>
          <p:nvPr/>
        </p:nvGraphicFramePr>
        <p:xfrm>
          <a:off xmlns:a="http://schemas.openxmlformats.org/drawingml/2006/main" x="6248400" y="3390900"/>
          <a:ext xmlns:a="http://schemas.openxmlformats.org/drawingml/2006/main" cx="5543550" cy="1447800"/>
        </p:xfrm>
        <a:graphic xmlns:a="http://schemas.openxmlformats.org/drawingml/2006/main">
          <a:graphicData uri="http://schemas.openxmlformats.org/drawingml/2006/table">
            <a:tbl>
              <a:tblPr firstRow="0" bandRow="0"/>
              <a:tblGrid>
                <a:gridCol w="2771775"/>
                <a:gridCol w="2771775"/>
              </a:tblGrid>
              <a:tr h="361950">
                <a:tc>
                  <a:txBody>
                    <a:bodyPr/>
                    <a:lstStyle/>
                    <a:p>
                      <a:r>
                        <a:rPr sz="1425">
                          <a:solidFill>
                            <a:srgbClr val="A7F3D0"/>
                          </a:solidFill>
                          <a:latin typeface="Arial"/>
                          <a:ea typeface="Arial"/>
                          <a:cs typeface="Arial"/>
                        </a:rPr>
                        <a:t>Expression</a:t>
                      </a:r>
                    </a:p>
                  </a:txBody>
                  <a:tcPr marL="76200" marR="76200" marT="47625" marB="47625">
                    <a:lnL w="4763">
                      <a:solidFill>
                        <a:srgbClr val="3F3F46"/>
                      </a:solidFill>
                      <a:prstDash val="solid"/>
                    </a:lnL>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c>
                  <a:txBody>
                    <a:bodyPr/>
                    <a:lstStyle/>
                    <a:p>
                      <a:r>
                        <a:rPr sz="1425">
                          <a:solidFill>
                            <a:srgbClr val="A7F3D0"/>
                          </a:solidFill>
                          <a:latin typeface="Arial"/>
                          <a:ea typeface="Arial"/>
                          <a:cs typeface="Arial"/>
                        </a:rPr>
                        <a:t>Bytes</a:t>
                      </a:r>
                    </a:p>
                  </a:txBody>
                  <a:tcPr marL="76200" marR="76200" marT="47625" marB="47625">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r>
              <a:tr h="361950">
                <a:tc>
                  <a:txBody>
                    <a:bodyPr/>
                    <a:lstStyle/>
                    <a:p>
                      <a:r>
                        <a:rPr sz="1425">
                          <a:solidFill>
                            <a:srgbClr val="FFFFFF"/>
                          </a:solidFill>
                          <a:latin typeface="Arial"/>
                          <a:ea typeface="Arial"/>
                          <a:cs typeface="Arial"/>
                        </a:rPr>
                        <a:t>sizeof p</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r>
              <a:tr h="361950">
                <a:tc>
                  <a:txBody>
                    <a:bodyPr/>
                    <a:lstStyle/>
                    <a:p>
                      <a:r>
                        <a:rPr sz="1425">
                          <a:solidFill>
                            <a:srgbClr val="FFFFFF"/>
                          </a:solidFill>
                          <a:latin typeface="Arial"/>
                          <a:ea typeface="Arial"/>
                          <a:cs typeface="Arial"/>
                        </a:rPr>
                        <a:t>sizeof *p</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r>
              <a:tr h="361950">
                <a:tc>
                  <a:txBody>
                    <a:bodyPr/>
                    <a:lstStyle/>
                    <a:p>
                      <a:r>
                        <a:rPr sz="1425">
                          <a:solidFill>
                            <a:srgbClr val="FFFFFF"/>
                          </a:solidFill>
                          <a:latin typeface="Arial"/>
                          <a:ea typeface="Arial"/>
                          <a:cs typeface="Arial"/>
                        </a:rPr>
                        <a:t>Requested block</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r>
            </a:tbl>
          </a:graphicData>
        </a:graphic>
      </p:graphicFrame>
      <p:sp>
        <p:nvSpPr>
          <p:cNvPr id="535" name="Takeaway">
            <a:extLst xmlns:a="http://schemas.openxmlformats.org/drawingml/2006/main">
              <a:ext uri="{FF2B5EF4-FFF2-40B4-BE49-F238E27FC236}">
                <a16:creationId xmlns:a16="http://schemas.microsoft.com/office/drawing/2014/main" id="{37164DC2-CFF4-442E-B39A-AACBDA7912AF}"/>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The address, one element, and the whole allocation have different sizes.</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3</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Registers, stack, and heap</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Registers are the CPU’s small working spaces. They are not part of the stack.</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stack holds active function frames. The heap holds dynamic allocations.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register can hold an address pointing into either memory region.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Register: a value or an address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Stack: local objects and call state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Heap: malloc / calloc objects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 pointer does not tell us ownership.</a:t>
            </a:r>
          </a:p>
        </p:txBody>
      </p:sp>
      <p:sp>
        <p:nvSpPr>
          <p:cNvPr id="534" name="Takeaway">
            <a:extLst xmlns:a="http://schemas.openxmlformats.org/drawingml/2006/main">
              <a:ext uri="{FF2B5EF4-FFF2-40B4-BE49-F238E27FC236}">
                <a16:creationId xmlns:a16="http://schemas.microsoft.com/office/drawing/2014/main" id="{93E96C14-84FF-4F4D-B462-2FB25CA11BBD}"/>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Registers are close to execution units; they are not megabytes of stack storage.</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4</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Returning memory safely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function’s automatic local array stops existing when that function returns. Returning its address does not extend its life.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successful heap allocation survives the return. Its owner must eventually free it.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int *bad(void)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int a[3] = {2, 4, 6};</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return a;</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int *make(void)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return calloc(3, sizeof(int));</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t>
            </a:r>
          </a:p>
        </p:txBody>
      </p:sp>
      <p:sp>
        <p:nvSpPr>
          <p:cNvPr id="534" name="Takeaway">
            <a:extLst xmlns:a="http://schemas.openxmlformats.org/drawingml/2006/main">
              <a:ext uri="{FF2B5EF4-FFF2-40B4-BE49-F238E27FC236}">
                <a16:creationId xmlns:a16="http://schemas.microsoft.com/office/drawing/2014/main" id="{C6759121-7196-456C-9EED-108C886AEE21}"/>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Which returned pointer can the caller use, assuming allocation succeeds?</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5</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Stack setup and cleanup</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On the course’s x86-64 model, the stack grows toward lower addresses. Subtracting from %rsp reserves space.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With this frame-pointer setup, cleanup moves %rsp back to %rbp, then restores the caller’s %rbp.</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A conventional frame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pushq %rbp</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movq %rsp, %rbp</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subq $32, %rsp</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Cleanup (leave is equivalent)</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movq %rbp, %rsp</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popq %rbp</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ret</a:t>
            </a:r>
          </a:p>
        </p:txBody>
      </p:sp>
      <p:sp>
        <p:nvSpPr>
          <p:cNvPr id="534" name="Takeaway">
            <a:extLst xmlns:a="http://schemas.openxmlformats.org/drawingml/2006/main">
              <a:ext uri="{FF2B5EF4-FFF2-40B4-BE49-F238E27FC236}">
                <a16:creationId xmlns:a16="http://schemas.microsoft.com/office/drawing/2014/main" id="{7A41ED02-16A2-4943-A9A0-D2FC2D8A4863}"/>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Direction matters: cleanup copies RBP into RSP, not RSP into RBP.</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6</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An address or its contents?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 introduces a literal constant. A bare register names its stored value. Parentheses in a mov source mean read memory at the calculated address.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lea calculates an address without reading that memory.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rbx = 0x1000</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8-byte value at 0x1000 is 27</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movq $6, %rax       # rax =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movq %rbx, %rax     # rax =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movq (%rbx), %rax   # rax =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leaq 8(%rbx), %rax  # rax = ?</a:t>
            </a:r>
          </a:p>
        </p:txBody>
      </p:sp>
      <p:sp>
        <p:nvSpPr>
          <p:cNvPr id="534" name="Takeaway">
            <a:extLst xmlns:a="http://schemas.openxmlformats.org/drawingml/2006/main">
              <a:ext uri="{FF2B5EF4-FFF2-40B4-BE49-F238E27FC236}">
                <a16:creationId xmlns:a16="http://schemas.microsoft.com/office/drawing/2014/main" id="{70053DA7-F09D-4570-847F-32397D0C0051}"/>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Copying an address and fetching what is stored there are different operations.</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7</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Instruction width and register names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suffix describes the operand width. It does not depend on whether the literal looks small.</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EAX is the low 32-bit part of RAX. Writing EAX also clears the upper 32 bits of RAX.</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Suffix   Width</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b        8 bits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w        16 bits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l        32 bits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q        64 bits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movl $5, %eax  # 32-bit write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movq $5, %rax  # 64-bit write</a:t>
            </a:r>
          </a:p>
        </p:txBody>
      </p:sp>
      <p:sp>
        <p:nvSpPr>
          <p:cNvPr id="534" name="Takeaway">
            <a:extLst xmlns:a="http://schemas.openxmlformats.org/drawingml/2006/main">
              <a:ext uri="{FF2B5EF4-FFF2-40B4-BE49-F238E27FC236}">
                <a16:creationId xmlns:a16="http://schemas.microsoft.com/office/drawing/2014/main" id="{B351121F-963A-41AF-9926-D6A656F8F5CE}"/>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 64-bit machine still has instructions that operate on 8, 16, or 32 bits.</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8</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Array indexing is address arithmetic</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C advances by elements: p + 2 skips two whole ints. Assembly calculates the byte address explicitly.</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 displacement(base, index, scale), calculate displacement + base + index × scale.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rax = 0x1000; rcx = 2</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int elements are 4 bytes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movl 4(%rax,%rcx,4), %edx</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Address = 4 + 0x1000 + 2 × 4</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 ?</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Which zero-based array index?</a:t>
            </a:r>
          </a:p>
        </p:txBody>
      </p:sp>
      <p:sp>
        <p:nvSpPr>
          <p:cNvPr id="534" name="Takeaway">
            <a:extLst xmlns:a="http://schemas.openxmlformats.org/drawingml/2006/main">
              <a:ext uri="{FF2B5EF4-FFF2-40B4-BE49-F238E27FC236}">
                <a16:creationId xmlns:a16="http://schemas.microsoft.com/office/drawing/2014/main" id="{5ED3F4BE-38B6-4980-9309-D1E6087DBA1E}"/>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An index of 2 means the third element; displacement can move the access further.</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9</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Struct: separate fields; union: shared bytes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struct gives each member its own place.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union gives different names to overlapping storage. Writing through one name changes the bytes seen through the other name.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Think: separate drawers versus two labels on the same drawer.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struct Separate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float value;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unsigned int bits;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union Shared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float value;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unsigned int bits;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t>
            </a:r>
          </a:p>
        </p:txBody>
      </p:sp>
      <p:sp>
        <p:nvSpPr>
          <p:cNvPr id="534" name="Takeaway">
            <a:extLst xmlns:a="http://schemas.openxmlformats.org/drawingml/2006/main">
              <a:ext uri="{FF2B5EF4-FFF2-40B4-BE49-F238E27FC236}">
                <a16:creationId xmlns:a16="http://schemas.microsoft.com/office/drawing/2014/main" id="{C4F297A4-0022-447E-B6ED-41A7D723F31A}"/>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Assume float and unsigned int are 4 bytes, with alignment 4.</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10</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Alignment leaves gaps for a reason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Alignment says where an object is allowed to start. A 4-byte-aligned int starts at an address divisible by 4.</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compiler inserts padding to preserve those boundaries, including between array elements.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5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struct Record {</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  char tag; int count; char ready;</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 char: 1-byte size/alignment</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 int: 4-byte size/alignment</a:t>
            </a:r>
          </a:p>
        </p:txBody>
      </p:sp>
      <p:graphicFrame>
        <p:nvGraphicFramePr>
          <p:cNvPr id="534" name="">
            <a:extLst xmlns:a="http://schemas.openxmlformats.org/drawingml/2006/main">
              <a:ext uri="{FF2B5EF4-FFF2-40B4-BE49-F238E27FC236}">
                <a16:creationId xmlns:a16="http://schemas.microsoft.com/office/drawing/2014/main" id="{971C40B4-20AC-4450-9A51-A85F453F177B}"/>
              </a:ext>
            </a:extLst>
          </p:cNvPr>
          <p:cNvGraphicFramePr/>
          <p:nvPr/>
        </p:nvGraphicFramePr>
        <p:xfrm>
          <a:off xmlns:a="http://schemas.openxmlformats.org/drawingml/2006/main" x="6248400" y="3657600"/>
          <a:ext xmlns:a="http://schemas.openxmlformats.org/drawingml/2006/main" cx="5543550" cy="1866900"/>
        </p:xfrm>
        <a:graphic xmlns:a="http://schemas.openxmlformats.org/drawingml/2006/main">
          <a:graphicData uri="http://schemas.openxmlformats.org/drawingml/2006/table">
            <a:tbl>
              <a:tblPr firstRow="0" bandRow="0"/>
              <a:tblGrid>
                <a:gridCol w="1847850"/>
                <a:gridCol w="1847850"/>
                <a:gridCol w="1847850"/>
              </a:tblGrid>
              <a:tr h="311150">
                <a:tc>
                  <a:txBody>
                    <a:bodyPr/>
                    <a:lstStyle/>
                    <a:p>
                      <a:r>
                        <a:rPr sz="1425">
                          <a:solidFill>
                            <a:srgbClr val="A7F3D0"/>
                          </a:solidFill>
                          <a:latin typeface="Arial"/>
                          <a:ea typeface="Arial"/>
                          <a:cs typeface="Arial"/>
                        </a:rPr>
                        <a:t>Member</a:t>
                      </a:r>
                    </a:p>
                  </a:txBody>
                  <a:tcPr marL="76200" marR="76200" marT="47625" marB="47625">
                    <a:lnL w="4763">
                      <a:solidFill>
                        <a:srgbClr val="3F3F46"/>
                      </a:solidFill>
                      <a:prstDash val="solid"/>
                    </a:lnL>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c>
                  <a:txBody>
                    <a:bodyPr/>
                    <a:lstStyle/>
                    <a:p>
                      <a:r>
                        <a:rPr sz="1425">
                          <a:solidFill>
                            <a:srgbClr val="A7F3D0"/>
                          </a:solidFill>
                          <a:latin typeface="Arial"/>
                          <a:ea typeface="Arial"/>
                          <a:cs typeface="Arial"/>
                        </a:rPr>
                        <a:t>Offset</a:t>
                      </a:r>
                    </a:p>
                  </a:txBody>
                  <a:tcPr marL="76200" marR="76200" marT="47625" marB="47625">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c>
                  <a:txBody>
                    <a:bodyPr/>
                    <a:lstStyle/>
                    <a:p>
                      <a:r>
                        <a:rPr sz="1425">
                          <a:solidFill>
                            <a:srgbClr val="A7F3D0"/>
                          </a:solidFill>
                          <a:latin typeface="Arial"/>
                          <a:ea typeface="Arial"/>
                          <a:cs typeface="Arial"/>
                        </a:rPr>
                        <a:t>Bytes</a:t>
                      </a:r>
                    </a:p>
                  </a:txBody>
                  <a:tcPr marL="76200" marR="76200" marT="47625" marB="47625">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r>
              <a:tr h="311150">
                <a:tc>
                  <a:txBody>
                    <a:bodyPr/>
                    <a:lstStyle/>
                    <a:p>
                      <a:r>
                        <a:rPr sz="1425">
                          <a:solidFill>
                            <a:srgbClr val="FFFFFF"/>
                          </a:solidFill>
                          <a:latin typeface="Arial"/>
                          <a:ea typeface="Arial"/>
                          <a:cs typeface="Arial"/>
                        </a:rPr>
                        <a:t>tag</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0</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1</a:t>
                      </a:r>
                    </a:p>
                  </a:txBody>
                  <a:tcPr marL="76200" marR="76200" marT="47625" marB="47625">
                    <a:lnR w="4763">
                      <a:solidFill>
                        <a:srgbClr val="3F3F46"/>
                      </a:solidFill>
                      <a:prstDash val="solid"/>
                    </a:lnR>
                    <a:lnB w="4763">
                      <a:solidFill>
                        <a:srgbClr val="3F3F46"/>
                      </a:solidFill>
                      <a:prstDash val="solid"/>
                    </a:lnB>
                    <a:solidFill>
                      <a:srgbClr val="000000"/>
                    </a:solidFill>
                  </a:tcPr>
                </a:tc>
              </a:tr>
              <a:tr h="311150">
                <a:tc>
                  <a:txBody>
                    <a:bodyPr/>
                    <a:lstStyle/>
                    <a:p>
                      <a:r>
                        <a:rPr sz="1425">
                          <a:solidFill>
                            <a:srgbClr val="FFFFFF"/>
                          </a:solidFill>
                          <a:latin typeface="Arial"/>
                          <a:ea typeface="Arial"/>
                          <a:cs typeface="Arial"/>
                        </a:rPr>
                        <a:t>padding</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1–3</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3</a:t>
                      </a:r>
                    </a:p>
                  </a:txBody>
                  <a:tcPr marL="76200" marR="76200" marT="47625" marB="47625">
                    <a:lnR w="4763">
                      <a:solidFill>
                        <a:srgbClr val="3F3F46"/>
                      </a:solidFill>
                      <a:prstDash val="solid"/>
                    </a:lnR>
                    <a:lnB w="4763">
                      <a:solidFill>
                        <a:srgbClr val="3F3F46"/>
                      </a:solidFill>
                      <a:prstDash val="solid"/>
                    </a:lnB>
                    <a:solidFill>
                      <a:srgbClr val="000000"/>
                    </a:solidFill>
                  </a:tcPr>
                </a:tc>
              </a:tr>
              <a:tr h="311150">
                <a:tc>
                  <a:txBody>
                    <a:bodyPr/>
                    <a:lstStyle/>
                    <a:p>
                      <a:r>
                        <a:rPr sz="1425">
                          <a:solidFill>
                            <a:srgbClr val="FFFFFF"/>
                          </a:solidFill>
                          <a:latin typeface="Arial"/>
                          <a:ea typeface="Arial"/>
                          <a:cs typeface="Arial"/>
                        </a:rPr>
                        <a:t>count</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4</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4</a:t>
                      </a:r>
                    </a:p>
                  </a:txBody>
                  <a:tcPr marL="76200" marR="76200" marT="47625" marB="47625">
                    <a:lnR w="4763">
                      <a:solidFill>
                        <a:srgbClr val="3F3F46"/>
                      </a:solidFill>
                      <a:prstDash val="solid"/>
                    </a:lnR>
                    <a:lnB w="4763">
                      <a:solidFill>
                        <a:srgbClr val="3F3F46"/>
                      </a:solidFill>
                      <a:prstDash val="solid"/>
                    </a:lnB>
                    <a:solidFill>
                      <a:srgbClr val="000000"/>
                    </a:solidFill>
                  </a:tcPr>
                </a:tc>
              </a:tr>
              <a:tr h="311150">
                <a:tc>
                  <a:txBody>
                    <a:bodyPr/>
                    <a:lstStyle/>
                    <a:p>
                      <a:r>
                        <a:rPr sz="1425">
                          <a:solidFill>
                            <a:srgbClr val="FFFFFF"/>
                          </a:solidFill>
                          <a:latin typeface="Arial"/>
                          <a:ea typeface="Arial"/>
                          <a:cs typeface="Arial"/>
                        </a:rPr>
                        <a:t>ready</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8</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1</a:t>
                      </a:r>
                    </a:p>
                  </a:txBody>
                  <a:tcPr marL="76200" marR="76200" marT="47625" marB="47625">
                    <a:lnR w="4763">
                      <a:solidFill>
                        <a:srgbClr val="3F3F46"/>
                      </a:solidFill>
                      <a:prstDash val="solid"/>
                    </a:lnR>
                    <a:lnB w="4763">
                      <a:solidFill>
                        <a:srgbClr val="3F3F46"/>
                      </a:solidFill>
                      <a:prstDash val="solid"/>
                    </a:lnB>
                    <a:solidFill>
                      <a:srgbClr val="000000"/>
                    </a:solidFill>
                  </a:tcPr>
                </a:tc>
              </a:tr>
              <a:tr h="311150">
                <a:tc>
                  <a:txBody>
                    <a:bodyPr/>
                    <a:lstStyle/>
                    <a:p>
                      <a:r>
                        <a:rPr sz="1425">
                          <a:solidFill>
                            <a:srgbClr val="FFFFFF"/>
                          </a:solidFill>
                          <a:latin typeface="Arial"/>
                          <a:ea typeface="Arial"/>
                          <a:cs typeface="Arial"/>
                        </a:rPr>
                        <a:t>tail padding</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9–11</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3</a:t>
                      </a:r>
                    </a:p>
                  </a:txBody>
                  <a:tcPr marL="76200" marR="76200" marT="47625" marB="47625">
                    <a:lnR w="4763">
                      <a:solidFill>
                        <a:srgbClr val="3F3F46"/>
                      </a:solidFill>
                      <a:prstDash val="solid"/>
                    </a:lnR>
                    <a:lnB w="4763">
                      <a:solidFill>
                        <a:srgbClr val="3F3F46"/>
                      </a:solidFill>
                      <a:prstDash val="solid"/>
                    </a:lnB>
                    <a:solidFill>
                      <a:srgbClr val="000000"/>
                    </a:solidFill>
                  </a:tcPr>
                </a:tc>
              </a:tr>
            </a:tbl>
          </a:graphicData>
        </a:graphic>
      </p:graphicFrame>
      <p:sp>
        <p:nvSpPr>
          <p:cNvPr id="535" name="Takeaway">
            <a:extLst xmlns:a="http://schemas.openxmlformats.org/drawingml/2006/main">
              <a:ext uri="{FF2B5EF4-FFF2-40B4-BE49-F238E27FC236}">
                <a16:creationId xmlns:a16="http://schemas.microsoft.com/office/drawing/2014/main" id="{7FBE8C99-2F84-48F5-B843-49889E06CF14}"/>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Assume ordinary x86-64 layout with no packing. What is the total size?</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11</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Float bits are three fields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Separate the sign, stored exponent, and stored fraction before doing any arithmetic.</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 a normal number, the fraction has an implied 1 before the binary point. Subtract the bias from the stored exponent.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FP32: 1 sign, 8 exponent, 23 fraction</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value = (-1)^s × 2^(E-127) × (1.f)</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E: stored exponent as an integer</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1.f: complete binary significand</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Fraction weights: 1/2, 1/4, 1/8, ...</a:t>
            </a:r>
          </a:p>
        </p:txBody>
      </p:sp>
      <p:sp>
        <p:nvSpPr>
          <p:cNvPr id="534" name="Takeaway">
            <a:extLst xmlns:a="http://schemas.openxmlformats.org/drawingml/2006/main">
              <a:ext uri="{FF2B5EF4-FFF2-40B4-BE49-F238E27FC236}">
                <a16:creationId xmlns:a16="http://schemas.microsoft.com/office/drawing/2014/main" id="{832D1CA6-F714-43F2-92AB-193FEC35CE41}"/>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The stored fraction and the full significand are not the same thing.</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12</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 small float, one step at a time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Format: 1 sign bit, 5 exponent bits, 2 fraction bits. Bias = 15.</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Decode 1 | 10000 | 10.</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Use the field values, not the whole 8-bit pattern as an integer.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Sign:      1 means negative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Exponent:  10000₂ = 16</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Scale:     2^(16−15) = 2</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Fraction:  .10₂ = 1/2</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Significand: 1.10₂ = 1.5</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Value = −1 × 2 × 1.5 = −3</a:t>
            </a:r>
          </a:p>
        </p:txBody>
      </p:sp>
      <p:sp>
        <p:nvSpPr>
          <p:cNvPr id="534" name="Takeaway">
            <a:extLst xmlns:a="http://schemas.openxmlformats.org/drawingml/2006/main">
              <a:ext uri="{FF2B5EF4-FFF2-40B4-BE49-F238E27FC236}">
                <a16:creationId xmlns:a16="http://schemas.microsoft.com/office/drawing/2014/main" id="{B9374ABE-FFE3-48BB-BE72-8E7E710AE770}"/>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The exponent and fraction fields can also be reported as integers: E = 16, F = 2.</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13</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Quiz 3: from the struct to printf</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First build the fields: exponent = 128, sign = 0, and stored fraction = 0. The omitted named fields are zero-initialized.</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Next read those bytes as a float and store that value in f.</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Finally, printf displays f. What will it print?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struct FloatBits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unsigned int significand : 23;</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unsigned int exponent : 8;</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unsigned int sign : 1;</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struct FloatBits fb = {.exponent = 128};</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float f = *(float *)&amp;fb;</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printf("First value is %f\n", f);</a:t>
            </a:r>
          </a:p>
        </p:txBody>
      </p:sp>
      <p:sp>
        <p:nvSpPr>
          <p:cNvPr id="534" name="Takeaway">
            <a:extLst xmlns:a="http://schemas.openxmlformats.org/drawingml/2006/main">
              <a:ext uri="{FF2B5EF4-FFF2-40B4-BE49-F238E27FC236}">
                <a16:creationId xmlns:a16="http://schemas.microsoft.com/office/drawing/2014/main" id="{0185E7EE-2D1D-45DF-8068-D2D525BD8030}"/>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As in the quiz: assume the course’s FP32 bit-field layout. This pointer-cast technique is not portable C.</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14</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Quiz 3: follow the union writes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two member names refer to the same four bytes.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initial 12.0 does not survive a later write of integer zero. That write replaces all 32 bits.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Always trace assignments in order.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5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union FloatInt { float f; int i; };</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union FloatInt u = {.f = 12.0f};</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u.i = 0;</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u.i |= (127 &lt;&lt; 23) | (1 &lt;&lt; 22);</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printf("Second value is %f\n", u.f);</a:t>
            </a:r>
          </a:p>
        </p:txBody>
      </p:sp>
      <p:graphicFrame>
        <p:nvGraphicFramePr>
          <p:cNvPr id="534" name="">
            <a:extLst xmlns:a="http://schemas.openxmlformats.org/drawingml/2006/main">
              <a:ext uri="{FF2B5EF4-FFF2-40B4-BE49-F238E27FC236}">
                <a16:creationId xmlns:a16="http://schemas.microsoft.com/office/drawing/2014/main" id="{FB8DB4C9-6933-4726-8D17-04EFE20708EA}"/>
              </a:ext>
            </a:extLst>
          </p:cNvPr>
          <p:cNvGraphicFramePr/>
          <p:nvPr/>
        </p:nvGraphicFramePr>
        <p:xfrm>
          <a:off xmlns:a="http://schemas.openxmlformats.org/drawingml/2006/main" x="6248400" y="3657600"/>
          <a:ext xmlns:a="http://schemas.openxmlformats.org/drawingml/2006/main" cx="5543550" cy="1447800"/>
        </p:xfrm>
        <a:graphic xmlns:a="http://schemas.openxmlformats.org/drawingml/2006/main">
          <a:graphicData uri="http://schemas.openxmlformats.org/drawingml/2006/table">
            <a:tbl>
              <a:tblPr firstRow="0" bandRow="0"/>
              <a:tblGrid>
                <a:gridCol w="2771775"/>
                <a:gridCol w="2771775"/>
              </a:tblGrid>
              <a:tr h="361950">
                <a:tc>
                  <a:txBody>
                    <a:bodyPr/>
                    <a:lstStyle/>
                    <a:p>
                      <a:r>
                        <a:rPr sz="1425">
                          <a:solidFill>
                            <a:srgbClr val="A7F3D0"/>
                          </a:solidFill>
                          <a:latin typeface="Arial"/>
                          <a:ea typeface="Arial"/>
                          <a:cs typeface="Arial"/>
                        </a:rPr>
                        <a:t>Write</a:t>
                      </a:r>
                    </a:p>
                  </a:txBody>
                  <a:tcPr marL="76200" marR="76200" marT="47625" marB="47625">
                    <a:lnL w="4763">
                      <a:solidFill>
                        <a:srgbClr val="3F3F46"/>
                      </a:solidFill>
                      <a:prstDash val="solid"/>
                    </a:lnL>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c>
                  <a:txBody>
                    <a:bodyPr/>
                    <a:lstStyle/>
                    <a:p>
                      <a:r>
                        <a:rPr sz="1425">
                          <a:solidFill>
                            <a:srgbClr val="A7F3D0"/>
                          </a:solidFill>
                          <a:latin typeface="Arial"/>
                          <a:ea typeface="Arial"/>
                          <a:cs typeface="Arial"/>
                        </a:rPr>
                        <a:t>Shared 32-bit pattern</a:t>
                      </a:r>
                    </a:p>
                  </a:txBody>
                  <a:tcPr marL="76200" marR="76200" marT="47625" marB="47625">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r>
              <a:tr h="361950">
                <a:tc>
                  <a:txBody>
                    <a:bodyPr/>
                    <a:lstStyle/>
                    <a:p>
                      <a:r>
                        <a:rPr sz="1425">
                          <a:solidFill>
                            <a:srgbClr val="FFFFFF"/>
                          </a:solidFill>
                          <a:latin typeface="Arial"/>
                          <a:ea typeface="Arial"/>
                          <a:cs typeface="Arial"/>
                        </a:rPr>
                        <a:t>f = 12.0f</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0x41400000</a:t>
                      </a:r>
                    </a:p>
                  </a:txBody>
                  <a:tcPr marL="76200" marR="76200" marT="47625" marB="47625">
                    <a:lnR w="4763">
                      <a:solidFill>
                        <a:srgbClr val="3F3F46"/>
                      </a:solidFill>
                      <a:prstDash val="solid"/>
                    </a:lnR>
                    <a:lnB w="4763">
                      <a:solidFill>
                        <a:srgbClr val="3F3F46"/>
                      </a:solidFill>
                      <a:prstDash val="solid"/>
                    </a:lnB>
                    <a:solidFill>
                      <a:srgbClr val="000000"/>
                    </a:solidFill>
                  </a:tcPr>
                </a:tc>
              </a:tr>
              <a:tr h="361950">
                <a:tc>
                  <a:txBody>
                    <a:bodyPr/>
                    <a:lstStyle/>
                    <a:p>
                      <a:r>
                        <a:rPr sz="1425">
                          <a:solidFill>
                            <a:srgbClr val="FFFFFF"/>
                          </a:solidFill>
                          <a:latin typeface="Arial"/>
                          <a:ea typeface="Arial"/>
                          <a:cs typeface="Arial"/>
                        </a:rPr>
                        <a:t>i = 0</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0x00000000</a:t>
                      </a:r>
                    </a:p>
                  </a:txBody>
                  <a:tcPr marL="76200" marR="76200" marT="47625" marB="47625">
                    <a:lnR w="4763">
                      <a:solidFill>
                        <a:srgbClr val="3F3F46"/>
                      </a:solidFill>
                      <a:prstDash val="solid"/>
                    </a:lnR>
                    <a:lnB w="4763">
                      <a:solidFill>
                        <a:srgbClr val="3F3F46"/>
                      </a:solidFill>
                      <a:prstDash val="solid"/>
                    </a:lnB>
                    <a:solidFill>
                      <a:srgbClr val="000000"/>
                    </a:solidFill>
                  </a:tcPr>
                </a:tc>
              </a:tr>
              <a:tr h="361950">
                <a:tc>
                  <a:txBody>
                    <a:bodyPr/>
                    <a:lstStyle/>
                    <a:p>
                      <a:r>
                        <a:rPr sz="1425">
                          <a:solidFill>
                            <a:srgbClr val="FFFFFF"/>
                          </a:solidFill>
                          <a:latin typeface="Arial"/>
                          <a:ea typeface="Arial"/>
                          <a:cs typeface="Arial"/>
                        </a:rPr>
                        <a:t>OR new fields</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0x3FC00000</a:t>
                      </a:r>
                    </a:p>
                  </a:txBody>
                  <a:tcPr marL="76200" marR="76200" marT="47625" marB="47625">
                    <a:lnR w="4763">
                      <a:solidFill>
                        <a:srgbClr val="3F3F46"/>
                      </a:solidFill>
                      <a:prstDash val="solid"/>
                    </a:lnR>
                    <a:lnB w="4763">
                      <a:solidFill>
                        <a:srgbClr val="3F3F46"/>
                      </a:solidFill>
                      <a:prstDash val="solid"/>
                    </a:lnB>
                    <a:solidFill>
                      <a:srgbClr val="000000"/>
                    </a:solidFill>
                  </a:tcPr>
                </a:tc>
              </a:tr>
            </a:tbl>
          </a:graphicData>
        </a:graphic>
      </p:graphicFrame>
      <p:sp>
        <p:nvSpPr>
          <p:cNvPr id="535" name="Takeaway">
            <a:extLst xmlns:a="http://schemas.openxmlformats.org/drawingml/2006/main">
              <a:ext uri="{FF2B5EF4-FFF2-40B4-BE49-F238E27FC236}">
                <a16:creationId xmlns:a16="http://schemas.microsoft.com/office/drawing/2014/main" id="{E4C585EB-FCC5-4710-B805-C0B40B32A791}"/>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Assume the course’s 4-byte int and IEEE FP32 layout. This is reinterpretation, not numeric conversion.</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15</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Quiz 3: turn the new bits into a value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127 &lt;&lt; 23 places 127 in the exponent field. It does not multiply the final float by 2²³.</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1 &lt;&lt; 22 sets the first fraction bit, whose weight is 1/2.</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Now decode the fields normally.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Sign:      0</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Exponent:  127 = 01111111₂</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Fraction:  100000...000</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Actual exponent = 127−127 = 0</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Significand = 1 + 1/2 = 1.5</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Value = 2⁰ × 1.5 = 1.5</a:t>
            </a:r>
          </a:p>
        </p:txBody>
      </p:sp>
      <p:sp>
        <p:nvSpPr>
          <p:cNvPr id="534" name="Takeaway">
            <a:extLst xmlns:a="http://schemas.openxmlformats.org/drawingml/2006/main">
              <a:ext uri="{FF2B5EF4-FFF2-40B4-BE49-F238E27FC236}">
                <a16:creationId xmlns:a16="http://schemas.microsoft.com/office/drawing/2014/main" id="{6742AE34-50CA-4D0F-A8FB-A294D37CF768}"/>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The second printed value is 1.5. The union is 4 bytes under the quiz’s layout.</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16</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Your turn: a different exponent and fraction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Use the same FP32 layout and bias 127.</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What value comes from the initialized fields?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What value does the unsigned bit pattern represent when interpreted as FP32?</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Case A: initialized fields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 = 0; E = 126; F = 0;</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Case B: an FP32 bit pattern</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uint32_t bits = (129u &lt;&lt; 23)</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 (1u &lt;&lt; 21);</a:t>
            </a:r>
          </a:p>
        </p:txBody>
      </p:sp>
      <p:sp>
        <p:nvSpPr>
          <p:cNvPr id="534" name="Takeaway">
            <a:extLst xmlns:a="http://schemas.openxmlformats.org/drawingml/2006/main">
              <a:ext uri="{FF2B5EF4-FFF2-40B4-BE49-F238E27FC236}">
                <a16:creationId xmlns:a16="http://schemas.microsoft.com/office/drawing/2014/main" id="{F5C7BD72-255F-4EBC-AE26-AF106DC0323D}"/>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Do not add the integer values of the shifted terms and treat that sum as the float.</a:t>
            </a:r>
          </a:p>
        </p:txBody>
      </p:sp>
    </p:spTree>
    <p:extLst>
      <p:ext uri="{BB962C8B-B14F-4D97-AF65-F5344CB8AC3E}">
        <p14:creationId xmlns:p14="http://schemas.microsoft.com/office/powerpoint/2010/main" val="36671821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17</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Encode a decimal float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Use the 8-bit format: 1 sign bit, 5 exponent bits, 2 fraction bits; bias 15.</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Represent −0.75. First convert the magnitude to binary and normalize it.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Report the stored fields in decimal too.</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0.75 = 0.11₂</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Normalize: 1.1₂ × 2^(?)</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Sign bit =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Stored exponent =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Fraction bits =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Stored fraction integer F = ?</a:t>
            </a:r>
          </a:p>
        </p:txBody>
      </p:sp>
      <p:sp>
        <p:nvSpPr>
          <p:cNvPr id="534" name="Takeaway">
            <a:extLst xmlns:a="http://schemas.openxmlformats.org/drawingml/2006/main">
              <a:ext uri="{FF2B5EF4-FFF2-40B4-BE49-F238E27FC236}">
                <a16:creationId xmlns:a16="http://schemas.microsoft.com/office/drawing/2014/main" id="{4DF58262-EB23-4D35-8BD2-FBAEE31CB15B}"/>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The leading normalized 1 is implied; only the bits after the point are stored.</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18</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 64-bit CPU can have wider registers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machine’s common integer-register width does not set the maximum size of every register.</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An XMM register can hold a scalar 32-bit float even though the register itself is 128 bits wide.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Wider extensions depend on the supported instruction set.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x87: 80-bit floating-point registers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XMM: 128 bits = 16 bytes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YMM: 256 bits = 32 bytes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ZMM: 512 bits = 64 bytes (AVX-512)</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movss / addss: low scalar FP32</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movsd / addsd: low scalar FP64</a:t>
            </a:r>
          </a:p>
        </p:txBody>
      </p:sp>
      <p:sp>
        <p:nvSpPr>
          <p:cNvPr id="534" name="Takeaway">
            <a:extLst xmlns:a="http://schemas.openxmlformats.org/drawingml/2006/main">
              <a:ext uri="{FF2B5EF4-FFF2-40B4-BE49-F238E27FC236}">
                <a16:creationId xmlns:a16="http://schemas.microsoft.com/office/drawing/2014/main" id="{812A45D3-92CA-4E5D-BD87-4E21314A084A}"/>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There is no universal “largest register = 64 bits” rule for a 64-bit system.</a:t>
            </a:r>
          </a:p>
        </p:txBody>
      </p:sp>
    </p:spTree>
    <p:extLst>
      <p:ext uri="{BB962C8B-B14F-4D97-AF65-F5344CB8AC3E}">
        <p14:creationId xmlns:p14="http://schemas.microsoft.com/office/powerpoint/2010/main" val="366718214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19</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Hex, binary, and byte order</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One hex digit represents four bits. Convert one digit at a time.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Endianness orders bytes in memory; it does not reverse the bits within each byte.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Start at the lowest address when listing stored bytes.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0xD6 = 1101 0110₂</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0x1234, low address first:</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Little endian: 34 12</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Big endian:    12 34</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Your turn:</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1. 0xA7 in binary?</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2. Bytes of 0xA7B2, little-endian?</a:t>
            </a:r>
          </a:p>
        </p:txBody>
      </p:sp>
      <p:sp>
        <p:nvSpPr>
          <p:cNvPr id="534" name="Takeaway">
            <a:extLst xmlns:a="http://schemas.openxmlformats.org/drawingml/2006/main">
              <a:ext uri="{FF2B5EF4-FFF2-40B4-BE49-F238E27FC236}">
                <a16:creationId xmlns:a16="http://schemas.microsoft.com/office/drawing/2014/main" id="{A299AB3F-CAC7-45C6-B905-56803A147272}"/>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Same numeric value, different byte order in memory.</a:t>
            </a:r>
          </a:p>
        </p:txBody>
      </p:sp>
    </p:spTree>
    <p:extLst>
      <p:ext uri="{BB962C8B-B14F-4D97-AF65-F5344CB8AC3E}">
        <p14:creationId xmlns:p14="http://schemas.microsoft.com/office/powerpoint/2010/main" val="366718214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20</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Signed values use the same bit patterns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n bits provide 2^n distinct patterns. Signed and unsigned interpretation assign different meanings to those patterns.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 8-bit two’s complement, the range is −128 through 127. Negation flips the bits and adds 1, keeping 8 bits.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8-bit pattern: 11111111</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Unsigned meaning: 255</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Signed meaning:   −1</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Negate 10000000 in 8 bits: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Flip: 01111111</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Add 1: 10000000</a:t>
            </a:r>
          </a:p>
        </p:txBody>
      </p:sp>
      <p:sp>
        <p:nvSpPr>
          <p:cNvPr id="534" name="Takeaway">
            <a:extLst xmlns:a="http://schemas.openxmlformats.org/drawingml/2006/main">
              <a:ext uri="{FF2B5EF4-FFF2-40B4-BE49-F238E27FC236}">
                <a16:creationId xmlns:a16="http://schemas.microsoft.com/office/drawing/2014/main" id="{DE634C2C-0898-4853-A5C4-D01918BBB8B2}"/>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Mathematically +128 cannot fit in a signed 8-bit result.</a:t>
            </a:r>
          </a:p>
        </p:txBody>
      </p:sp>
    </p:spTree>
    <p:extLst>
      <p:ext uri="{BB962C8B-B14F-4D97-AF65-F5344CB8AC3E}">
        <p14:creationId xmlns:p14="http://schemas.microsoft.com/office/powerpoint/2010/main" val="366718214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21</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Masks, shifts, and rotations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AND keeps only bits selected by a mask. OR sets selected bits. XOR flips selected bits.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shift drops bits from one end. A rotation brings those bits around to the other end.</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Use an explicitly unsigned 8-bit model here.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x = 0xB6 = 10110110₂</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x &amp; 0x0F =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(x &lt;&lt; 1) &amp; 0xFF =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Rotate left by 1 within 8 bits = ?</a:t>
            </a:r>
          </a:p>
        </p:txBody>
      </p:sp>
      <p:sp>
        <p:nvSpPr>
          <p:cNvPr id="534" name="Takeaway">
            <a:extLst xmlns:a="http://schemas.openxmlformats.org/drawingml/2006/main">
              <a:ext uri="{FF2B5EF4-FFF2-40B4-BE49-F238E27FC236}">
                <a16:creationId xmlns:a16="http://schemas.microsoft.com/office/drawing/2014/main" id="{ED771414-6432-454D-8253-E68F1E8D3552}"/>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Keep the chosen width explicit; C integer promotions do not automatically limit x &lt;&lt; 1 to 8 bits.</a:t>
            </a:r>
          </a:p>
        </p:txBody>
      </p:sp>
    </p:spTree>
    <p:extLst>
      <p:ext uri="{BB962C8B-B14F-4D97-AF65-F5344CB8AC3E}">
        <p14:creationId xmlns:p14="http://schemas.microsoft.com/office/powerpoint/2010/main" val="366718214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22</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Build a truth table one gate at a time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Do not try to guess the entire circuit at once. Write a column for each intermediate result.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 one-bit inputs, AND needs both 1, OR needs at least one 1, and NOT reverses the bit.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5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Output = (A AND B) OR (NOT A)</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Fill each row from left to right.</a:t>
            </a:r>
          </a:p>
        </p:txBody>
      </p:sp>
      <p:graphicFrame>
        <p:nvGraphicFramePr>
          <p:cNvPr id="534" name="">
            <a:extLst xmlns:a="http://schemas.openxmlformats.org/drawingml/2006/main">
              <a:ext uri="{FF2B5EF4-FFF2-40B4-BE49-F238E27FC236}">
                <a16:creationId xmlns:a16="http://schemas.microsoft.com/office/drawing/2014/main" id="{89013C81-78D9-4D92-AF05-E237CFA2DC9F}"/>
              </a:ext>
            </a:extLst>
          </p:cNvPr>
          <p:cNvGraphicFramePr/>
          <p:nvPr/>
        </p:nvGraphicFramePr>
        <p:xfrm>
          <a:off xmlns:a="http://schemas.openxmlformats.org/drawingml/2006/main" x="6248400" y="3124200"/>
          <a:ext xmlns:a="http://schemas.openxmlformats.org/drawingml/2006/main" cx="5543550" cy="1809750"/>
        </p:xfrm>
        <a:graphic xmlns:a="http://schemas.openxmlformats.org/drawingml/2006/main">
          <a:graphicData uri="http://schemas.openxmlformats.org/drawingml/2006/table">
            <a:tbl>
              <a:tblPr firstRow="0" bandRow="0"/>
              <a:tblGrid>
                <a:gridCol w="1108710"/>
                <a:gridCol w="1108710"/>
                <a:gridCol w="1108710"/>
                <a:gridCol w="1108710"/>
                <a:gridCol w="1108710"/>
              </a:tblGrid>
              <a:tr h="361950">
                <a:tc>
                  <a:txBody>
                    <a:bodyPr/>
                    <a:lstStyle/>
                    <a:p>
                      <a:r>
                        <a:rPr sz="1425">
                          <a:solidFill>
                            <a:srgbClr val="A7F3D0"/>
                          </a:solidFill>
                          <a:latin typeface="Arial"/>
                          <a:ea typeface="Arial"/>
                          <a:cs typeface="Arial"/>
                        </a:rPr>
                        <a:t>A</a:t>
                      </a:r>
                    </a:p>
                  </a:txBody>
                  <a:tcPr marL="76200" marR="76200" marT="47625" marB="47625">
                    <a:lnL w="4763">
                      <a:solidFill>
                        <a:srgbClr val="3F3F46"/>
                      </a:solidFill>
                      <a:prstDash val="solid"/>
                    </a:lnL>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c>
                  <a:txBody>
                    <a:bodyPr/>
                    <a:lstStyle/>
                    <a:p>
                      <a:r>
                        <a:rPr sz="1425">
                          <a:solidFill>
                            <a:srgbClr val="A7F3D0"/>
                          </a:solidFill>
                          <a:latin typeface="Arial"/>
                          <a:ea typeface="Arial"/>
                          <a:cs typeface="Arial"/>
                        </a:rPr>
                        <a:t>B</a:t>
                      </a:r>
                    </a:p>
                  </a:txBody>
                  <a:tcPr marL="76200" marR="76200" marT="47625" marB="47625">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c>
                  <a:txBody>
                    <a:bodyPr/>
                    <a:lstStyle/>
                    <a:p>
                      <a:r>
                        <a:rPr sz="1425">
                          <a:solidFill>
                            <a:srgbClr val="A7F3D0"/>
                          </a:solidFill>
                          <a:latin typeface="Arial"/>
                          <a:ea typeface="Arial"/>
                          <a:cs typeface="Arial"/>
                        </a:rPr>
                        <a:t>A AND B</a:t>
                      </a:r>
                    </a:p>
                  </a:txBody>
                  <a:tcPr marL="76200" marR="76200" marT="47625" marB="47625">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c>
                  <a:txBody>
                    <a:bodyPr/>
                    <a:lstStyle/>
                    <a:p>
                      <a:r>
                        <a:rPr sz="1425">
                          <a:solidFill>
                            <a:srgbClr val="A7F3D0"/>
                          </a:solidFill>
                          <a:latin typeface="Arial"/>
                          <a:ea typeface="Arial"/>
                          <a:cs typeface="Arial"/>
                        </a:rPr>
                        <a:t>NOT A</a:t>
                      </a:r>
                    </a:p>
                  </a:txBody>
                  <a:tcPr marL="76200" marR="76200" marT="47625" marB="47625">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c>
                  <a:txBody>
                    <a:bodyPr/>
                    <a:lstStyle/>
                    <a:p>
                      <a:r>
                        <a:rPr sz="1425">
                          <a:solidFill>
                            <a:srgbClr val="A7F3D0"/>
                          </a:solidFill>
                          <a:latin typeface="Arial"/>
                          <a:ea typeface="Arial"/>
                          <a:cs typeface="Arial"/>
                        </a:rPr>
                        <a:t>Out</a:t>
                      </a:r>
                    </a:p>
                  </a:txBody>
                  <a:tcPr marL="76200" marR="76200" marT="47625" marB="47625">
                    <a:lnR w="4763">
                      <a:solidFill>
                        <a:srgbClr val="3F3F46"/>
                      </a:solidFill>
                      <a:prstDash val="solid"/>
                    </a:lnR>
                    <a:lnT w="4763">
                      <a:solidFill>
                        <a:srgbClr val="3F3F46"/>
                      </a:solidFill>
                      <a:prstDash val="solid"/>
                    </a:lnT>
                    <a:lnB w="4763">
                      <a:solidFill>
                        <a:srgbClr val="3F3F46"/>
                      </a:solidFill>
                      <a:prstDash val="solid"/>
                    </a:lnB>
                    <a:solidFill>
                      <a:srgbClr val="000000"/>
                    </a:solidFill>
                  </a:tcPr>
                </a:tc>
              </a:tr>
              <a:tr h="361950">
                <a:tc>
                  <a:txBody>
                    <a:bodyPr/>
                    <a:lstStyle/>
                    <a:p>
                      <a:r>
                        <a:rPr sz="1425">
                          <a:solidFill>
                            <a:srgbClr val="FFFFFF"/>
                          </a:solidFill>
                          <a:latin typeface="Arial"/>
                          <a:ea typeface="Arial"/>
                          <a:cs typeface="Arial"/>
                        </a:rPr>
                        <a:t>0</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0</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r>
              <a:tr h="361950">
                <a:tc>
                  <a:txBody>
                    <a:bodyPr/>
                    <a:lstStyle/>
                    <a:p>
                      <a:r>
                        <a:rPr sz="1425">
                          <a:solidFill>
                            <a:srgbClr val="FFFFFF"/>
                          </a:solidFill>
                          <a:latin typeface="Arial"/>
                          <a:ea typeface="Arial"/>
                          <a:cs typeface="Arial"/>
                        </a:rPr>
                        <a:t>0</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1</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r>
              <a:tr h="361950">
                <a:tc>
                  <a:txBody>
                    <a:bodyPr/>
                    <a:lstStyle/>
                    <a:p>
                      <a:r>
                        <a:rPr sz="1425">
                          <a:solidFill>
                            <a:srgbClr val="FFFFFF"/>
                          </a:solidFill>
                          <a:latin typeface="Arial"/>
                          <a:ea typeface="Arial"/>
                          <a:cs typeface="Arial"/>
                        </a:rPr>
                        <a:t>1</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0</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r>
              <a:tr h="361950">
                <a:tc>
                  <a:txBody>
                    <a:bodyPr/>
                    <a:lstStyle/>
                    <a:p>
                      <a:r>
                        <a:rPr sz="1425">
                          <a:solidFill>
                            <a:srgbClr val="FFFFFF"/>
                          </a:solidFill>
                          <a:latin typeface="Arial"/>
                          <a:ea typeface="Arial"/>
                          <a:cs typeface="Arial"/>
                        </a:rPr>
                        <a:t>1</a:t>
                      </a:r>
                    </a:p>
                  </a:txBody>
                  <a:tcPr marL="76200" marR="76200" marT="47625" marB="47625">
                    <a:lnL w="4763">
                      <a:solidFill>
                        <a:srgbClr val="3F3F46"/>
                      </a:solidFill>
                      <a:prstDash val="solid"/>
                    </a:lnL>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1</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c>
                  <a:txBody>
                    <a:bodyPr/>
                    <a:lstStyle/>
                    <a:p>
                      <a:r>
                        <a:rPr sz="1425">
                          <a:solidFill>
                            <a:srgbClr val="FFFFFF"/>
                          </a:solidFill>
                          <a:latin typeface="Arial"/>
                          <a:ea typeface="Arial"/>
                          <a:cs typeface="Arial"/>
                        </a:rPr>
                        <a:t>?</a:t>
                      </a:r>
                    </a:p>
                  </a:txBody>
                  <a:tcPr marL="76200" marR="76200" marT="47625" marB="47625">
                    <a:lnR w="4763">
                      <a:solidFill>
                        <a:srgbClr val="3F3F46"/>
                      </a:solidFill>
                      <a:prstDash val="solid"/>
                    </a:lnR>
                    <a:lnB w="4763">
                      <a:solidFill>
                        <a:srgbClr val="3F3F46"/>
                      </a:solidFill>
                      <a:prstDash val="solid"/>
                    </a:lnB>
                    <a:solidFill>
                      <a:srgbClr val="000000"/>
                    </a:solidFill>
                  </a:tcPr>
                </a:tc>
              </a:tr>
            </a:tbl>
          </a:graphicData>
        </a:graphic>
      </p:graphicFrame>
      <p:sp>
        <p:nvSpPr>
          <p:cNvPr id="535" name="Takeaway">
            <a:extLst xmlns:a="http://schemas.openxmlformats.org/drawingml/2006/main">
              <a:ext uri="{FF2B5EF4-FFF2-40B4-BE49-F238E27FC236}">
                <a16:creationId xmlns:a16="http://schemas.microsoft.com/office/drawing/2014/main" id="{80E7B2F5-B15B-4346-B9E1-82DA41827297}"/>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The same method works when the circuit is drawn with gate symbols.</a:t>
            </a:r>
          </a:p>
        </p:txBody>
      </p:sp>
    </p:spTree>
    <p:extLst>
      <p:ext uri="{BB962C8B-B14F-4D97-AF65-F5344CB8AC3E}">
        <p14:creationId xmlns:p14="http://schemas.microsoft.com/office/powerpoint/2010/main" val="366718214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vl1pPr>
              <a:defRPr sz="1125">
                <a:solidFill>
                  <a:srgbClr val="FFFFFF"/>
                </a:solidFill>
                <a:latin typeface="Arial"/>
                <a:ea typeface="Arial"/>
                <a:cs typeface="Arial"/>
              </a:defRPr>
            </a:lvl1pPr>
            <a:lvl2pPr>
              <a:defRPr sz="1125">
                <a:solidFill>
                  <a:srgbClr val="FFFFFF"/>
                </a:solidFill>
                <a:latin typeface="Arial"/>
                <a:ea typeface="Arial"/>
                <a:cs typeface="Arial"/>
              </a:defRPr>
            </a:lvl2pPr>
            <a:lvl3pPr>
              <a:defRPr sz="1125">
                <a:solidFill>
                  <a:srgbClr val="FFFFFF"/>
                </a:solidFill>
                <a:latin typeface="Arial"/>
                <a:ea typeface="Arial"/>
                <a:cs typeface="Arial"/>
              </a:defRPr>
            </a:lvl3pPr>
            <a:lvl4pPr>
              <a:defRPr sz="1125">
                <a:solidFill>
                  <a:srgbClr val="FFFFFF"/>
                </a:solidFill>
                <a:latin typeface="Arial"/>
                <a:ea typeface="Arial"/>
                <a:cs typeface="Arial"/>
              </a:defRPr>
            </a:lvl4pPr>
            <a:lvl5pPr>
              <a:defRPr sz="1125">
                <a:solidFill>
                  <a:srgbClr val="FFFFFF"/>
                </a:solidFill>
                <a:latin typeface="Arial"/>
                <a:ea typeface="Arial"/>
                <a:cs typeface="Arial"/>
              </a:defRPr>
            </a:lvl5pPr>
            <a:lvl6pPr>
              <a:defRPr sz="1125">
                <a:solidFill>
                  <a:srgbClr val="FFFFFF"/>
                </a:solidFill>
                <a:latin typeface="Arial"/>
                <a:ea typeface="Arial"/>
                <a:cs typeface="Arial"/>
              </a:defRPr>
            </a:lvl6pPr>
            <a:lvl7pPr>
              <a:defRPr sz="1125">
                <a:solidFill>
                  <a:srgbClr val="FFFFFF"/>
                </a:solidFill>
                <a:latin typeface="Arial"/>
                <a:ea typeface="Arial"/>
                <a:cs typeface="Arial"/>
              </a:defRPr>
            </a:lvl7pPr>
            <a:lvl8pPr>
              <a:defRPr sz="1125">
                <a:solidFill>
                  <a:srgbClr val="FFFFFF"/>
                </a:solidFill>
                <a:latin typeface="Arial"/>
                <a:ea typeface="Arial"/>
                <a:cs typeface="Arial"/>
              </a:defRPr>
            </a:lvl8pPr>
            <a:lvl9pPr>
              <a:defRPr sz="1125">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23</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vl1pPr>
              <a:defRPr sz="3150">
                <a:solidFill>
                  <a:srgbClr val="FFFFFF"/>
                </a:solidFill>
                <a:latin typeface="Arial"/>
                <a:ea typeface="Arial"/>
                <a:cs typeface="Arial"/>
              </a:defRPr>
            </a:lvl1pPr>
            <a:lvl2pPr>
              <a:defRPr sz="3150">
                <a:solidFill>
                  <a:srgbClr val="FFFFFF"/>
                </a:solidFill>
                <a:latin typeface="Arial"/>
                <a:ea typeface="Arial"/>
                <a:cs typeface="Arial"/>
              </a:defRPr>
            </a:lvl2pPr>
            <a:lvl3pPr>
              <a:defRPr sz="3150">
                <a:solidFill>
                  <a:srgbClr val="FFFFFF"/>
                </a:solidFill>
                <a:latin typeface="Arial"/>
                <a:ea typeface="Arial"/>
                <a:cs typeface="Arial"/>
              </a:defRPr>
            </a:lvl3pPr>
            <a:lvl4pPr>
              <a:defRPr sz="3150">
                <a:solidFill>
                  <a:srgbClr val="FFFFFF"/>
                </a:solidFill>
                <a:latin typeface="Arial"/>
                <a:ea typeface="Arial"/>
                <a:cs typeface="Arial"/>
              </a:defRPr>
            </a:lvl4pPr>
            <a:lvl5pPr>
              <a:defRPr sz="3150">
                <a:solidFill>
                  <a:srgbClr val="FFFFFF"/>
                </a:solidFill>
                <a:latin typeface="Arial"/>
                <a:ea typeface="Arial"/>
                <a:cs typeface="Arial"/>
              </a:defRPr>
            </a:lvl5pPr>
            <a:lvl6pPr>
              <a:defRPr sz="3150">
                <a:solidFill>
                  <a:srgbClr val="FFFFFF"/>
                </a:solidFill>
                <a:latin typeface="Arial"/>
                <a:ea typeface="Arial"/>
                <a:cs typeface="Arial"/>
              </a:defRPr>
            </a:lvl6pPr>
            <a:lvl7pPr>
              <a:defRPr sz="3150">
                <a:solidFill>
                  <a:srgbClr val="FFFFFF"/>
                </a:solidFill>
                <a:latin typeface="Arial"/>
                <a:ea typeface="Arial"/>
                <a:cs typeface="Arial"/>
              </a:defRPr>
            </a:lvl7pPr>
            <a:lvl8pPr>
              <a:defRPr sz="3150">
                <a:solidFill>
                  <a:srgbClr val="FFFFFF"/>
                </a:solidFill>
                <a:latin typeface="Arial"/>
                <a:ea typeface="Arial"/>
                <a:cs typeface="Arial"/>
              </a:defRPr>
            </a:lvl8pPr>
            <a:lvl9pPr>
              <a:defRPr sz="3150">
                <a:solidFill>
                  <a:srgbClr val="FFFFFF"/>
                </a:solidFill>
                <a:latin typeface="Arial"/>
                <a:ea typeface="Arial"/>
                <a:cs typeface="Arial"/>
              </a:defRPr>
            </a:lvl9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Adders and propagation delay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5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575">
                <a:solidFill>
                  <a:srgbClr val="FFFFFF"/>
                </a:solidFill>
                <a:latin typeface="Arial"/>
                <a:ea typeface="Arial"/>
                <a:cs typeface="Arial"/>
              </a:defRPr>
            </a:pPr>
            <a:r>
              <a:rPr sz="1575">
                <a:solidFill>
                  <a:srgbClr val="FFFFFF"/>
                </a:solidFill>
                <a:latin typeface="Arial"/>
                <a:ea typeface="Arial"/>
                <a:cs typeface="Arial"/>
              </a:rPr>
              <a:t>A full adder takes A, B, and carry-in. It produces a sum bit and carry-out.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575">
                <a:solidFill>
                  <a:srgbClr val="FFFFFF"/>
                </a:solidFill>
                <a:latin typeface="Arial"/>
                <a:ea typeface="Arial"/>
                <a:cs typeface="Arial"/>
              </a:defRPr>
            </a:pPr>
            <a:r>
              <a:rPr sz="1575">
                <a:solidFill>
                  <a:srgbClr val="FFFFFF"/>
                </a:solidFill>
                <a:latin typeface="Arial"/>
                <a:ea typeface="Arial"/>
                <a:cs typeface="Arial"/>
              </a:rPr>
              <a:t>Signals need time to propagate through gates. A ripple adder can wait for a carry to pass through many bit positions.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575">
                <a:solidFill>
                  <a:srgbClr val="FFFFFF"/>
                </a:solidFill>
                <a:latin typeface="Arial"/>
                <a:ea typeface="Arial"/>
                <a:cs typeface="Arial"/>
              </a:defRPr>
            </a:pPr>
            <a:r>
              <a:rPr sz="1575">
                <a:solidFill>
                  <a:srgbClr val="FFFFFF"/>
                </a:solidFill>
                <a:latin typeface="Arial"/>
                <a:ea typeface="Arial"/>
                <a:cs typeface="Arial"/>
              </a:rPr>
              <a:t>Carry-lookahead uses more logic to reduce that dependency.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Sum = A XOR B XOR Cin</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Cout = (A AND B) OR</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(Cin AND (A XOR B))</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A=1, B=1, Cin=0:</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Sum =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Cout = ?</a:t>
            </a:r>
          </a:p>
        </p:txBody>
      </p:sp>
      <p:sp>
        <p:nvSpPr>
          <p:cNvPr id="534" name="Takeaway">
            <a:extLst xmlns:a="http://schemas.openxmlformats.org/drawingml/2006/main">
              <a:ext uri="{FF2B5EF4-FFF2-40B4-BE49-F238E27FC236}">
                <a16:creationId xmlns:a16="http://schemas.microsoft.com/office/drawing/2014/main" id="{ED900BF0-8FCE-4DC5-929A-57620050F0A2}"/>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vl1pPr>
              <a:defRPr sz="1350">
                <a:solidFill>
                  <a:srgbClr val="CCCCCC"/>
                </a:solidFill>
                <a:latin typeface="Arial"/>
                <a:ea typeface="Arial"/>
                <a:cs typeface="Arial"/>
              </a:defRPr>
            </a:lvl1pPr>
            <a:lvl2pPr>
              <a:defRPr sz="1350">
                <a:solidFill>
                  <a:srgbClr val="CCCCCC"/>
                </a:solidFill>
                <a:latin typeface="Arial"/>
                <a:ea typeface="Arial"/>
                <a:cs typeface="Arial"/>
              </a:defRPr>
            </a:lvl2pPr>
            <a:lvl3pPr>
              <a:defRPr sz="1350">
                <a:solidFill>
                  <a:srgbClr val="CCCCCC"/>
                </a:solidFill>
                <a:latin typeface="Arial"/>
                <a:ea typeface="Arial"/>
                <a:cs typeface="Arial"/>
              </a:defRPr>
            </a:lvl3pPr>
            <a:lvl4pPr>
              <a:defRPr sz="1350">
                <a:solidFill>
                  <a:srgbClr val="CCCCCC"/>
                </a:solidFill>
                <a:latin typeface="Arial"/>
                <a:ea typeface="Arial"/>
                <a:cs typeface="Arial"/>
              </a:defRPr>
            </a:lvl4pPr>
            <a:lvl5pPr>
              <a:defRPr sz="1350">
                <a:solidFill>
                  <a:srgbClr val="CCCCCC"/>
                </a:solidFill>
                <a:latin typeface="Arial"/>
                <a:ea typeface="Arial"/>
                <a:cs typeface="Arial"/>
              </a:defRPr>
            </a:lvl5pPr>
            <a:lvl6pPr>
              <a:defRPr sz="1350">
                <a:solidFill>
                  <a:srgbClr val="CCCCCC"/>
                </a:solidFill>
                <a:latin typeface="Arial"/>
                <a:ea typeface="Arial"/>
                <a:cs typeface="Arial"/>
              </a:defRPr>
            </a:lvl6pPr>
            <a:lvl7pPr>
              <a:defRPr sz="1350">
                <a:solidFill>
                  <a:srgbClr val="CCCCCC"/>
                </a:solidFill>
                <a:latin typeface="Arial"/>
                <a:ea typeface="Arial"/>
                <a:cs typeface="Arial"/>
              </a:defRPr>
            </a:lvl7pPr>
            <a:lvl8pPr>
              <a:defRPr sz="1350">
                <a:solidFill>
                  <a:srgbClr val="CCCCCC"/>
                </a:solidFill>
                <a:latin typeface="Arial"/>
                <a:ea typeface="Arial"/>
                <a:cs typeface="Arial"/>
              </a:defRPr>
            </a:lvl8pPr>
            <a:lvl9pPr>
              <a:defRPr sz="1350">
                <a:solidFill>
                  <a:srgbClr val="CCCCCC"/>
                </a:solidFill>
                <a:latin typeface="Arial"/>
                <a:ea typeface="Arial"/>
                <a:cs typeface="Arial"/>
              </a:defRPr>
            </a:lvl9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Timing follows the longest relevant signal path, not just the number of gates drawn.</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2026-10-23T15:13:58.5230000Z</dcterms:created>
  <dcterms:modified xsi:type="dcterms:W3CDTF">2026-10-23T15:13:58.5230000Z</dcterms:modified>
</coreProperties>
</file>