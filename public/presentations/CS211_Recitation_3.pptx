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e75112435d4904" /><Relationship Type="http://schemas.openxmlformats.org/officeDocument/2006/relationships/extended-properties" Target="/docProps/app.xml" Id="R630280926f2a4986" /><Relationship Type="http://schemas.openxmlformats.org/officeDocument/2006/relationships/officeDocument" Target="/ppt/presentation.xml" Id="R74cefabb165641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68ad4fd84a47cc"/>
  </p:sldMasterIdLst>
  <p:notesMasterIdLst>
    <p:notesMasterId xmlns:r="http://schemas.openxmlformats.org/officeDocument/2006/relationships" r:id="Rf14b7f2b99254511"/>
  </p:notesMasterIdLst>
  <p:sldIdLst>
    <p:sldId xmlns:r="http://schemas.openxmlformats.org/officeDocument/2006/relationships" id="256" r:id="R5267d73aa5874270"/>
    <p:sldId xmlns:r="http://schemas.openxmlformats.org/officeDocument/2006/relationships" id="257" r:id="R4aae4a14d1454a16"/>
    <p:sldId xmlns:r="http://schemas.openxmlformats.org/officeDocument/2006/relationships" id="258" r:id="Rc0f65d20b6634bdb"/>
    <p:sldId xmlns:r="http://schemas.openxmlformats.org/officeDocument/2006/relationships" id="259" r:id="Rd38053d8d9e74084"/>
    <p:sldId xmlns:r="http://schemas.openxmlformats.org/officeDocument/2006/relationships" id="260" r:id="R3b9dd25fa84345d1"/>
    <p:sldId xmlns:r="http://schemas.openxmlformats.org/officeDocument/2006/relationships" id="261" r:id="R6b5d7bf35bdf495a"/>
    <p:sldId xmlns:r="http://schemas.openxmlformats.org/officeDocument/2006/relationships" id="262" r:id="R2ec18e9e512745e0"/>
    <p:sldId xmlns:r="http://schemas.openxmlformats.org/officeDocument/2006/relationships" id="263" r:id="R1f840f1fbef04f32"/>
    <p:sldId xmlns:r="http://schemas.openxmlformats.org/officeDocument/2006/relationships" id="264" r:id="Rfecf66dcab394e97"/>
    <p:sldId xmlns:r="http://schemas.openxmlformats.org/officeDocument/2006/relationships" id="265" r:id="R60723292eea841aa"/>
    <p:sldId xmlns:r="http://schemas.openxmlformats.org/officeDocument/2006/relationships" id="266" r:id="Re1f14d0166f34c45"/>
    <p:sldId xmlns:r="http://schemas.openxmlformats.org/officeDocument/2006/relationships" id="267" r:id="R7fb7ed0b61e149be"/>
    <p:sldId xmlns:r="http://schemas.openxmlformats.org/officeDocument/2006/relationships" id="268" r:id="Rc9360792d54144b3"/>
    <p:sldId xmlns:r="http://schemas.openxmlformats.org/officeDocument/2006/relationships" id="269" r:id="R194cd94b0dce415d"/>
    <p:sldId xmlns:r="http://schemas.openxmlformats.org/officeDocument/2006/relationships" id="270" r:id="R27ffca7f438c4ed5"/>
    <p:sldId xmlns:r="http://schemas.openxmlformats.org/officeDocument/2006/relationships" id="271" r:id="Rc8e7e17d97f643df"/>
    <p:sldId xmlns:r="http://schemas.openxmlformats.org/officeDocument/2006/relationships" id="272" r:id="Rf2a99ac22aca4a16"/>
    <p:sldId xmlns:r="http://schemas.openxmlformats.org/officeDocument/2006/relationships" id="273" r:id="Rd4ee585781d84149"/>
    <p:sldId xmlns:r="http://schemas.openxmlformats.org/officeDocument/2006/relationships" id="274" r:id="Re9e87104bc05434b"/>
    <p:sldId xmlns:r="http://schemas.openxmlformats.org/officeDocument/2006/relationships" id="275" r:id="Rb2e27981acfa43a2"/>
    <p:sldId xmlns:r="http://schemas.openxmlformats.org/officeDocument/2006/relationships" id="276" r:id="R188c15c14f384b7c"/>
    <p:sldId xmlns:r="http://schemas.openxmlformats.org/officeDocument/2006/relationships" id="277" r:id="Rf43030d33e9541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7b9ecb098b49ba" /><Relationship Type="http://schemas.openxmlformats.org/officeDocument/2006/relationships/slideMaster" Target="/ppt/slideMasters/slideMaster1.xml" Id="R8d68ad4fd84a47cc" /><Relationship Type="http://schemas.openxmlformats.org/officeDocument/2006/relationships/notesMaster" Target="/ppt/notesMasters/notesMaster1.xml" Id="Rf14b7f2b99254511" /><Relationship Type="http://schemas.openxmlformats.org/officeDocument/2006/relationships/presProps" Target="/ppt/presProps.xml" Id="Ra8a8cfc3bcbd410b" /><Relationship Type="http://schemas.openxmlformats.org/officeDocument/2006/relationships/tableStyles" Target="/ppt/tableStyles.xml" Id="R556fbffcb2ee45cf" /><Relationship Type="http://schemas.openxmlformats.org/officeDocument/2006/relationships/slide" Target="/ppt/slides/slide1.xml" Id="R5267d73aa5874270" /><Relationship Type="http://schemas.openxmlformats.org/officeDocument/2006/relationships/slide" Target="/ppt/slides/slide2.xml" Id="R4aae4a14d1454a16" /><Relationship Type="http://schemas.openxmlformats.org/officeDocument/2006/relationships/slide" Target="/ppt/slides/slide3.xml" Id="Rc0f65d20b6634bdb" /><Relationship Type="http://schemas.openxmlformats.org/officeDocument/2006/relationships/slide" Target="/ppt/slides/slide4.xml" Id="Rd38053d8d9e74084" /><Relationship Type="http://schemas.openxmlformats.org/officeDocument/2006/relationships/slide" Target="/ppt/slides/slide5.xml" Id="R3b9dd25fa84345d1" /><Relationship Type="http://schemas.openxmlformats.org/officeDocument/2006/relationships/slide" Target="/ppt/slides/slide6.xml" Id="R6b5d7bf35bdf495a" /><Relationship Type="http://schemas.openxmlformats.org/officeDocument/2006/relationships/slide" Target="/ppt/slides/slide7.xml" Id="R2ec18e9e512745e0" /><Relationship Type="http://schemas.openxmlformats.org/officeDocument/2006/relationships/slide" Target="/ppt/slides/slide8.xml" Id="R1f840f1fbef04f32" /><Relationship Type="http://schemas.openxmlformats.org/officeDocument/2006/relationships/slide" Target="/ppt/slides/slide9.xml" Id="Rfecf66dcab394e97" /><Relationship Type="http://schemas.openxmlformats.org/officeDocument/2006/relationships/slide" Target="/ppt/slides/slide10.xml" Id="R60723292eea841aa" /><Relationship Type="http://schemas.openxmlformats.org/officeDocument/2006/relationships/slide" Target="/ppt/slides/slide11.xml" Id="Re1f14d0166f34c45" /><Relationship Type="http://schemas.openxmlformats.org/officeDocument/2006/relationships/slide" Target="/ppt/slides/slide12.xml" Id="R7fb7ed0b61e149be" /><Relationship Type="http://schemas.openxmlformats.org/officeDocument/2006/relationships/slide" Target="/ppt/slides/slide13.xml" Id="Rc9360792d54144b3" /><Relationship Type="http://schemas.openxmlformats.org/officeDocument/2006/relationships/slide" Target="/ppt/slides/slide14.xml" Id="R194cd94b0dce415d" /><Relationship Type="http://schemas.openxmlformats.org/officeDocument/2006/relationships/slide" Target="/ppt/slides/slide15.xml" Id="R27ffca7f438c4ed5" /><Relationship Type="http://schemas.openxmlformats.org/officeDocument/2006/relationships/slide" Target="/ppt/slides/slide16.xml" Id="Rc8e7e17d97f643df" /><Relationship Type="http://schemas.openxmlformats.org/officeDocument/2006/relationships/slide" Target="/ppt/slides/slide17.xml" Id="Rf2a99ac22aca4a16" /><Relationship Type="http://schemas.openxmlformats.org/officeDocument/2006/relationships/slide" Target="/ppt/slides/slide18.xml" Id="Rd4ee585781d84149" /><Relationship Type="http://schemas.openxmlformats.org/officeDocument/2006/relationships/slide" Target="/ppt/slides/slide19.xml" Id="Re9e87104bc05434b" /><Relationship Type="http://schemas.openxmlformats.org/officeDocument/2006/relationships/slide" Target="/ppt/slides/slide20.xml" Id="Rb2e27981acfa43a2" /><Relationship Type="http://schemas.openxmlformats.org/officeDocument/2006/relationships/slide" Target="/ppt/slides/slide21.xml" Id="R188c15c14f384b7c" /><Relationship Type="http://schemas.openxmlformats.org/officeDocument/2006/relationships/slide" Target="/ppt/slides/slide22.xml" Id="Rf43030d33e9541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9bbe84d82a49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d9e8a5c33b4540" /><Relationship Type="http://schemas.openxmlformats.org/officeDocument/2006/relationships/notesMaster" Target="/ppt/notesMasters/notesMaster1.xml" Id="Rea48c7a019de4c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c1885eee884dbb" /><Relationship Type="http://schemas.openxmlformats.org/officeDocument/2006/relationships/notesMaster" Target="/ppt/notesMasters/notesMaster1.xml" Id="Rf09b0d66b3de40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86c6835c7d479e" /><Relationship Type="http://schemas.openxmlformats.org/officeDocument/2006/relationships/notesMaster" Target="/ppt/notesMasters/notesMaster1.xml" Id="R95929b442c8a42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4fb46b72c14085" /><Relationship Type="http://schemas.openxmlformats.org/officeDocument/2006/relationships/notesMaster" Target="/ppt/notesMasters/notesMaster1.xml" Id="R8c3426c0bfdd41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0f7e2c0e7145e0" /><Relationship Type="http://schemas.openxmlformats.org/officeDocument/2006/relationships/notesMaster" Target="/ppt/notesMasters/notesMaster1.xml" Id="Rb9d15478af3e48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673348a2484d91" /><Relationship Type="http://schemas.openxmlformats.org/officeDocument/2006/relationships/notesMaster" Target="/ppt/notesMasters/notesMaster1.xml" Id="R582e6e5235e24d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204a7a659f46d0" /><Relationship Type="http://schemas.openxmlformats.org/officeDocument/2006/relationships/notesMaster" Target="/ppt/notesMasters/notesMaster1.xml" Id="Ra99d62e4291a4a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34061719714a96" /><Relationship Type="http://schemas.openxmlformats.org/officeDocument/2006/relationships/notesMaster" Target="/ppt/notesMasters/notesMaster1.xml" Id="R639e3bdaed2445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c4014b261a454f" /><Relationship Type="http://schemas.openxmlformats.org/officeDocument/2006/relationships/notesMaster" Target="/ppt/notesMasters/notesMaster1.xml" Id="R36ac055e59be49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fd6aa512184374" /><Relationship Type="http://schemas.openxmlformats.org/officeDocument/2006/relationships/notesMaster" Target="/ppt/notesMasters/notesMaster1.xml" Id="R864d64a6ac294c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1169b579dc4204" /><Relationship Type="http://schemas.openxmlformats.org/officeDocument/2006/relationships/notesMaster" Target="/ppt/notesMasters/notesMaster1.xml" Id="Re206fbe132df4b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2a28b220ad4339" /><Relationship Type="http://schemas.openxmlformats.org/officeDocument/2006/relationships/notesMaster" Target="/ppt/notesMasters/notesMaster1.xml" Id="R7ecf799dff4d45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fd9fac878a45d7" /><Relationship Type="http://schemas.openxmlformats.org/officeDocument/2006/relationships/notesMaster" Target="/ppt/notesMasters/notesMaster1.xml" Id="R182752d36ce64e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e2039d336a4926" /><Relationship Type="http://schemas.openxmlformats.org/officeDocument/2006/relationships/notesMaster" Target="/ppt/notesMasters/notesMaster1.xml" Id="Re149927f10c4405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02f10afdf344d14" /><Relationship Type="http://schemas.openxmlformats.org/officeDocument/2006/relationships/notesMaster" Target="/ppt/notesMasters/notesMaster1.xml" Id="R0abd4885ec3547f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ce891f10dad4bca" /><Relationship Type="http://schemas.openxmlformats.org/officeDocument/2006/relationships/notesMaster" Target="/ppt/notesMasters/notesMaster1.xml" Id="R893bef62dec44ec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155531119944ff4" /><Relationship Type="http://schemas.openxmlformats.org/officeDocument/2006/relationships/notesMaster" Target="/ppt/notesMasters/notesMaster1.xml" Id="Rea44296ace3c402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ea8465d3ff94560" /><Relationship Type="http://schemas.openxmlformats.org/officeDocument/2006/relationships/notesMaster" Target="/ppt/notesMasters/notesMaster1.xml" Id="R5ce245dab4174e9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7e27034b6f46f2" /><Relationship Type="http://schemas.openxmlformats.org/officeDocument/2006/relationships/notesMaster" Target="/ppt/notesMasters/notesMaster1.xml" Id="Rb4b9557fd71b40c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0794620e78c457a" /><Relationship Type="http://schemas.openxmlformats.org/officeDocument/2006/relationships/notesMaster" Target="/ppt/notesMasters/notesMaster1.xml" Id="Rb4cb1dd871194d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c04bdc08e114eca" /><Relationship Type="http://schemas.openxmlformats.org/officeDocument/2006/relationships/notesMaster" Target="/ppt/notesMasters/notesMaster1.xml" Id="Ra65a6da76c494da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77c0e2d5dc048b5" /><Relationship Type="http://schemas.openxmlformats.org/officeDocument/2006/relationships/notesMaster" Target="/ppt/notesMasters/notesMaster1.xml" Id="R072fb1ba1f894f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50-minute pacing: binary place values and fields 7 min; normal values 10 min; subnormals and the boundary 14 min; decoding and encoding practice 8 min; rounding and spacing 4 min; HW3 preview and recap 7 min. Pause after the subnormal step table and ask students to name the next value after 7/32. The HW3 details are based on the professor’s description supplied by the TA; the assignment is not officially posted. Source: lecture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planned assignment accepts exponent-bit count, bias, significand-bit count, numerator, and denominator. Do not present this as the released homework. Explain that these are stored fields, not decimal digits. Here F means the integer represented by the three fraction bits. Lecture 6 reviews normal and subnormal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before introducing exponent fields. This bridges base-2 arithmetic to the 5/4 and 3/16 examples. The 0.101₂ example equals 0.625.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1, 1/2, 1/4, 1/8. 1.010 binary is exactly 1.25. The trailing zero pads the practice format; it does not change the value. The examples are constructed for teaching, not copied from the unreleased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notation before either formula: this deck uses E for the stored unsigned field and e for the unbiased true exponent. Thus decode e=E−bias; encode E=e+bias. A student may have seen E=e−bias where their E means true exponent. Both describe the same operation with different names. Normal fields have stored E from 1 through 6 in this toy format. E=0 is for zero/subnormals and E=7 is reserved. The planned homework supplies the bias explicitly.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through this slowly on the board. Ask which part of 1.010 is stored: 010. The lecture equation is (−1)^S × 2^(E−bias) × (1+F/2^sig_bits). For E=3, bias=3, F=2, sig_bits=3 the result is exactly 1.25.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at each field and ask students what it means. The sign is zero. E=2 lies in the normal range, e=-1, and F=5. The value is 0.8125.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before giving the subnormal rule. Ask: if E=1 is the smallest normal field, where could 1/8 go? A normal encoding would need true exponent −3 and stored E=0, but zero is reserved for a different rule. The next slide explains that rule using binary digits rather than a formula first. Source: lecture 6 normal and subnormal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same scale before and after the boundary: 2^(1−bias)=2^-2. This is the key change: replace the normal hidden 1 with 0. Do not compute 0−bias for E=0. Ask students why 0.100 binary is 1/2, then multiply by 1/4 to get 1/8. Source: lecture 6 subnormal equation.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 the step: one fraction unit is 1/8; multiplying by 2^-2=1/4 gives 1/32. For this practice format, E=0,F=0 is zero and E=0,F=1..7 are positive subnormals. Let students answer 8/32=1/4 before the boundary slide. Source: lecture 6 subnormal equation.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calculation concrete: 1/8=4/32, so F=4. Decode using 0.100 binary times 2^-2: 1/2 times 1/4 is 1/8. Ask why E is zero and why F is four. Source: lecture 6 subnormal equation.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Link back to the question on the previous step table. The step from 7/32 to 8/32 is 1/32, matching the subnormal spacing. E=0 does not mean exponent −3; both values use 2^-2. Source: lecture 6 normal and subnormal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two to three minutes. A is normal: E=2,F=4, value (1+4/8)×2^-1=3/4. B is subnormal: E=0,F=3, value 3/32. Ask students to name the equation before calculating.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students explain why B is not (1+3/8)×2^-3. The exponent for subnormals is fixed at 1−bias=-2, and the leading 1 is absent.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two minutes. Both examples are exactly representable, so no rounding rule is needed. Ask students to check results by substituting E and F into the appropriate formula.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reveal until students have tried both. Emphasize that E=0 is a category marker here, not the unbiased exponent. E=3 represents true exponent zero because bias is three.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future homework description does not specify rounding, so do not teach truncation or nearest as a required rule. Here E=1 for both nearby normals. 5/16=0.3125, 11/32=0.34375, and 1/3≈0.3333. This replaces the earlier abstract associativity slide with a representation example directly tied to the professor's stated learning goal.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normals with fixed E, incrementing F by one changes the value by 2^(E−bias)/8. Show how this connects to the rounding slide and lecture 6’s discussion of gaps between floats.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Based on the professor’s preview supplied by the TA. The intended command-line inputs are exponent bits, bias, significand bits, numerator, and denominator, in that order. The output contains the exponent and significand field values. Use 5/2 as a new teaching example. The final handout may add input and rounding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example is mathematically exact and uses the planned input order. Important TA note: the supplied draft solution computes the normal significand as (numerator &lt;&lt; sig_bits)/denominator − 2^sig_bits without scaling by 2^power_of_two. For these inputs that draft gives F=12, outside the three-bit range, rather than F=2. Do not present that draft code as a correct answer key until the normal path is fixed. Source: professor’s preview and lecture 6 normal-value equation.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Here p is the number of significand bits. For exact examples, solve the equation algebraically. The eventual homework may specify how to round values that fall between encodings, so do not assume a rounding rule yet. This is a conceptual approach, not a copy of the unreleased source code. Source: professor’s preview and lecture 6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the two mistakes most likely to occur: forgetting to add the bias for a normal exponent, and using the normal hidden 1 for a subnormal. Do not reveal the unreleased homework solution. Remind students to follow the eventual assignment’s rounding and valid-input rules.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111b85595147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e4b71a7e124f61" /><Relationship Type="http://schemas.openxmlformats.org/officeDocument/2006/relationships/slideLayout" Target="/ppt/slideLayouts/slideLayout1.xml" Id="R2eed2ef29c5a48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ed2ef29c5a48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0ccda53574751" /><Relationship Type="http://schemas.openxmlformats.org/officeDocument/2006/relationships/notesSlide" Target="/ppt/notesSlides/notesSlide1.xml" Id="Rc2386e938cd244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61dc858a644db5" /><Relationship Type="http://schemas.openxmlformats.org/officeDocument/2006/relationships/notesSlide" Target="/ppt/notesSlides/notesSlide2.xml" Id="R3a17995f780842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63720b1644d8f" /><Relationship Type="http://schemas.openxmlformats.org/officeDocument/2006/relationships/notesSlide" Target="/ppt/notesSlides/notesSlide3.xml" Id="R8c4be87eb2f546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18fc36f16402f" /><Relationship Type="http://schemas.openxmlformats.org/officeDocument/2006/relationships/notesSlide" Target="/ppt/notesSlides/notesSlide4.xml" Id="R972a67461a0e43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c10bb4cc84a48" /><Relationship Type="http://schemas.openxmlformats.org/officeDocument/2006/relationships/notesSlide" Target="/ppt/notesSlides/notesSlide5.xml" Id="Rdaf87e59441e4c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1063604f4379" /><Relationship Type="http://schemas.openxmlformats.org/officeDocument/2006/relationships/notesSlide" Target="/ppt/notesSlides/notesSlide6.xml" Id="R1c46e562346147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ed2290f2c498a" /><Relationship Type="http://schemas.openxmlformats.org/officeDocument/2006/relationships/notesSlide" Target="/ppt/notesSlides/notesSlide7.xml" Id="R80de2652951b4e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0b1fa33544448" /><Relationship Type="http://schemas.openxmlformats.org/officeDocument/2006/relationships/notesSlide" Target="/ppt/notesSlides/notesSlide8.xml" Id="Redb64ddc6b1841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6b0ca093146d9" /><Relationship Type="http://schemas.openxmlformats.org/officeDocument/2006/relationships/notesSlide" Target="/ppt/notesSlides/notesSlide9.xml" Id="R486e5c44ddb144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6167c4fca482b" /><Relationship Type="http://schemas.openxmlformats.org/officeDocument/2006/relationships/notesSlide" Target="/ppt/notesSlides/notesSlide10.xml" Id="R74a2f0dda81748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8fa01d2e74550" /><Relationship Type="http://schemas.openxmlformats.org/officeDocument/2006/relationships/notesSlide" Target="/ppt/notesSlides/notesSlide11.xml" Id="R6171eaa3cecd43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8d584f4a14fe2" /><Relationship Type="http://schemas.openxmlformats.org/officeDocument/2006/relationships/notesSlide" Target="/ppt/notesSlides/notesSlide12.xml" Id="Re7cfee36d1d547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141bf25ec4331" /><Relationship Type="http://schemas.openxmlformats.org/officeDocument/2006/relationships/notesSlide" Target="/ppt/notesSlides/notesSlide13.xml" Id="R2ec938270ce3403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c13985a944dd0" /><Relationship Type="http://schemas.openxmlformats.org/officeDocument/2006/relationships/notesSlide" Target="/ppt/notesSlides/notesSlide14.xml" Id="Re06d519ba1e240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1eb185faa4903" /><Relationship Type="http://schemas.openxmlformats.org/officeDocument/2006/relationships/notesSlide" Target="/ppt/notesSlides/notesSlide15.xml" Id="R9b7e220dddc0414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a5b8e81294b4f" /><Relationship Type="http://schemas.openxmlformats.org/officeDocument/2006/relationships/notesSlide" Target="/ppt/notesSlides/notesSlide16.xml" Id="Ra20f0e28a03a400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633c1f9a34604" /><Relationship Type="http://schemas.openxmlformats.org/officeDocument/2006/relationships/notesSlide" Target="/ppt/notesSlides/notesSlide17.xml" Id="Re0626a39946b486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a753b2c4f4a2b" /><Relationship Type="http://schemas.openxmlformats.org/officeDocument/2006/relationships/notesSlide" Target="/ppt/notesSlides/notesSlide18.xml" Id="Re58aef9696d04b4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2aee6e85d4a47" /><Relationship Type="http://schemas.openxmlformats.org/officeDocument/2006/relationships/notesSlide" Target="/ppt/notesSlides/notesSlide19.xml" Id="Raa24e01599404f0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b6e3eb11b4d02" /><Relationship Type="http://schemas.openxmlformats.org/officeDocument/2006/relationships/notesSlide" Target="/ppt/notesSlides/notesSlide20.xml" Id="R07aa1efe2f4346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0d75f5d744502" /><Relationship Type="http://schemas.openxmlformats.org/officeDocument/2006/relationships/notesSlide" Target="/ppt/notesSlides/notesSlide21.xml" Id="R4ac3bb3b168f45a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ffcf7a5b04bc1" /><Relationship Type="http://schemas.openxmlformats.org/officeDocument/2006/relationships/notesSlide" Target="/ppt/notesSlides/notesSlide22.xml" Id="R3cade8e4500c4b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5A9CF-720A-44C7-8892-52DB130A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CS 211 · RECITATION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C0B84-CEFB-4C94-9A52-E2F799B7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45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Floating point numbers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DCB16E-01E0-44DC-B52E-55F3E014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Build and decode numbers in a small floating point format. We will work through the bits before worrying about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BFE31-4E89-4E9C-A6C1-6B1DC19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Today’s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Binary fractions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Exponent and significand fields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 and subnormal values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with ratios and bit patterns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HW3 preview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A9A68-0243-45E1-8E3A-073C6455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Every example uses a tiny format so every bit has a visible job.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875137-4A77-4850-9E53-34918B66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01 / 22</a:t>
            </a:r>
          </a:p>
        </p:txBody>
      </p:sp>
    </p:spTree>
    <p:extLst>
      <p:ext uri="{BB962C8B-B14F-4D97-AF65-F5344CB8AC3E}">
        <p14:creationId xmlns:p14="http://schemas.microsoft.com/office/powerpoint/2010/main" val="20038787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FA7D7-A9A4-4E20-B4BB-8F5429B7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B417B-A1A4-4103-A251-41297467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float has three fields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05AB9-C2BF-4BB7-9199-FEA1FA11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sign says positive or negative. The exponent sets the scale. The significand carries the detail.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our nonnegative examples, the sign bit is always 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2FAC3-6750-4FCE-BD25-11D79F5C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S  |  EEE  |  FFF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0  |  011  | 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sign bit, 3 exponent bits,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3 stored significand (fraction) bits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F5D24-84A8-44EF-90E7-5DEFDD23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Normal values also have a leading 1 that is implied rather than stored.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8D6FA-A861-47F3-A379-560FF106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02 / 22</a:t>
            </a:r>
          </a:p>
        </p:txBody>
      </p:sp>
    </p:spTree>
    <p:extLst>
      <p:ext uri="{BB962C8B-B14F-4D97-AF65-F5344CB8AC3E}">
        <p14:creationId xmlns:p14="http://schemas.microsoft.com/office/powerpoint/2010/main" val="5431481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392E2-ECE4-47EE-B3D0-9D82E9C1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PLACE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87D23-1C78-4E8D-BE9A-8D7DD6EC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Binary fractions use halves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D77F0-B9D5-4B25-9CB0-F3C48603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Digits after a binary point are worth 1/2, 1/4, 1/8, and so on. A zero means that place contributes nothing.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Add the places marked 1 to find the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2D823-812C-45B1-B937-3F76BB8C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0.101₂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× 1/2 = 1/2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 × 1/4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× 1/8 = 1/8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Total =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2C52A-EF74-4A1F-8EE9-C24F596D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Ask students to read 0.011₂ aloud as 1/4 + 1/8 = 3/8.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FEE4C-B9E4-4741-91C8-4F97DD41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03 / 22</a:t>
            </a:r>
          </a:p>
        </p:txBody>
      </p:sp>
    </p:spTree>
    <p:extLst>
      <p:ext uri="{BB962C8B-B14F-4D97-AF65-F5344CB8AC3E}">
        <p14:creationId xmlns:p14="http://schemas.microsoft.com/office/powerpoint/2010/main" val="2917712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B8F6E-916B-4F1A-B1DE-7F8CF981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FIRST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07235-B5C4-4979-B81B-2ED6B27E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Write a ratio in binary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4A061-A866-4339-8D2C-DCC225B1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Start with the value, before thinking about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is 1.25 in decimal. The quarter is 2⁻², so 5/4 is 1.01 in binary.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F2147-9B56-4059-8DF7-AE2DD714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5/4 = 1 + 1/4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 + 2⁻²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1.01₂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3 fraction bits: 1.010₂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6F628-BA88-4D78-A4F2-3E09B064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Binary places after the point are 1/2, 1/4, 1/8, and so 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450FB-5658-4F21-83CF-52AD8EE3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04 / 22</a:t>
            </a:r>
          </a:p>
        </p:txBody>
      </p:sp>
    </p:spTree>
    <p:extLst>
      <p:ext uri="{BB962C8B-B14F-4D97-AF65-F5344CB8AC3E}">
        <p14:creationId xmlns:p14="http://schemas.microsoft.com/office/powerpoint/2010/main" val="576821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701F5-44AC-470A-90E3-4B400A43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NORMAL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41727-1C44-4AA9-BFCF-804B0B36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Stored and true exponents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1D40A-6476-4B46-98BE-F07AD1BA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Here E is the unsigned number stored in the exponent bits. Lowercase e is the true exponent in 2ᵉ. For normal values, subtract the bias when decoding and add it when encoding.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DE952-D3BD-4AA4-9C56-58162D37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bias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Decode bits 001₂: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1  →  e = 1 − 3 = −2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Encode true exponent e = −2: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−2 + 3 = 1  →  bits 001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CB498-5F45-448E-BB8D-9308ECED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Symbols vary by source: first decide which exponent is stored.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872D8-2421-41B5-BA58-B863431F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05 / 22</a:t>
            </a:r>
          </a:p>
        </p:txBody>
      </p:sp>
    </p:spTree>
    <p:extLst>
      <p:ext uri="{BB962C8B-B14F-4D97-AF65-F5344CB8AC3E}">
        <p14:creationId xmlns:p14="http://schemas.microsoft.com/office/powerpoint/2010/main" val="35799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EA43F-92DB-4BE5-9FFF-F3398FA0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5A1436-63F1-4731-91E3-0B1734A4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normal value: 5/4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2FDEA-F645-47DC-919B-5685E856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= 1.010₂ × 2⁰.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true exponent is e = 0, so stored E = 0 + 3 = 3. The fraction after the leading 1 is 010₂, or F = 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56661-037E-4836-A00D-BBE7BEC6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= 011₂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2 = 010₂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011 |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(1 + 2/8) × 2⁰ = 5/4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7AF00-6FE1-4CFC-B54D-88BC56D3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has three bits; the implied leading 1 is not one of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2E0CF-972D-435B-99E9-C4F31D41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06 / 22</a:t>
            </a:r>
          </a:p>
        </p:txBody>
      </p:sp>
    </p:spTree>
    <p:extLst>
      <p:ext uri="{BB962C8B-B14F-4D97-AF65-F5344CB8AC3E}">
        <p14:creationId xmlns:p14="http://schemas.microsoft.com/office/powerpoint/2010/main" val="10954958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4F9435-A104-4D30-A188-4EE2456C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C3344-C3E4-4449-AF40-33DADFB1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Decode a normal bit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8D5084-9296-4E15-A9DC-A45F46A1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Read the exponent field as an unsigned integer, then subtract the bias. Read the fraction field as F/8.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Because E is not zero, include the implied leading 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48711-085C-45B3-A8BC-2D9BA414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Bits: 0 | 010 | 101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2, so e = 2 − 3 = −1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5, so 1 + F/8 = 13/8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(13/8) × 2⁻¹ = 13/16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E23CF-F2CD-46A9-9F4D-2094917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bit pattern is a recipe for a value, not the digits of that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02F47-A9E9-43B2-AC22-5EF03769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07 / 22</a:t>
            </a:r>
          </a:p>
        </p:txBody>
      </p:sp>
    </p:spTree>
    <p:extLst>
      <p:ext uri="{BB962C8B-B14F-4D97-AF65-F5344CB8AC3E}">
        <p14:creationId xmlns:p14="http://schemas.microsoft.com/office/powerpoint/2010/main" val="659736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EAABF-BD4F-40AF-A282-4DA602FE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WHY SUBNORMALS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309F2-033B-47F8-941D-460A77FA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smallest normal is 1/4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3D46C-F548-4E0D-8AC8-B55CC5C0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smallest normal exponent field is E = 1. With bias 3, that means e = −2. If the stored fraction is 000, the value is 1/4. We need another way to represent smaller positive values such as 1/8.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5AD63-6E91-45DD-AE29-2F54895B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Smallest normal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001₂  →  e = 1 − 3 = −2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000₂  →  significand 1.000₂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1.000₂ × 2⁻² = 1/4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1/8 is smaller. E = 0 marks a new case.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83417-6965-41D8-8054-D122A500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For E = 0, use the subnormal rule instead of subtracting the bias.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F2603-246C-497E-B2CC-C75AC390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08 / 22</a:t>
            </a:r>
          </a:p>
        </p:txBody>
      </p:sp>
    </p:spTree>
    <p:extLst>
      <p:ext uri="{BB962C8B-B14F-4D97-AF65-F5344CB8AC3E}">
        <p14:creationId xmlns:p14="http://schemas.microsoft.com/office/powerpoint/2010/main" val="18571225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C1D56-F3B0-4FC7-8312-5DCE66DE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SUBNORMAL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C4111-990D-4F27-A48D-9B66E856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 = 0 drops the hidden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FC2C0-68E4-440B-B218-A53A78DE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Normal values start with an implied 1 before the fraction bits. When E = 0, use an implied 0 instead. Keep the same 2⁻² scale as the smallest normal so the values grow smoothly from zero.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97746-2F05-4C79-997B-46EF673F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Fixed e = 1 − bias = −2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Normal, E = 1:</a:t>
            </a:r>
          </a:p>
          <a:p xmlns:a="http://schemas.openxmlformats.org/drawingml/2006/main">
            <a:pPr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1.FFF₂ × 2⁻²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Subnormal, E = 0: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0.FFF₂ × 2⁻²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000  →  0.000₂ × 2⁻²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100  →  0.100₂ × 2⁻² = 1/8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3FAB2-7571-49A3-B6C8-87F90FA9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leading 0 or 1 is implied; only FFF is stored.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7F5E9-2417-44C6-925E-4767F90F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09 / 22</a:t>
            </a:r>
          </a:p>
        </p:txBody>
      </p:sp>
    </p:spTree>
    <p:extLst>
      <p:ext uri="{BB962C8B-B14F-4D97-AF65-F5344CB8AC3E}">
        <p14:creationId xmlns:p14="http://schemas.microsoft.com/office/powerpoint/2010/main" val="10820362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5E5C3-C59B-4F4C-8123-D26BB2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PLACE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148DA-667A-4F17-8947-3A10B5D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Subnormals count in steps of 1/32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E9A2B-E617-4407-BF21-6D1C10DB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three stored fraction bits make 0.FFF₂ increase by 1/8 each time. Multiplying by the fixed 2⁻² scale makes each step 1/32. So the field value F counts steps of 1/32.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EA955-1341-477F-B9E0-1F67FB9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    bits     value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     000      0/32</a:t>
            </a:r>
          </a:p>
          <a:p xmlns:a="http://schemas.openxmlformats.org/drawingml/2006/main">
            <a:pPr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    001      1/32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4     100      4/32 = 1/8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7     111      7/32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 value = F/32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59BBF-C1FE-4848-A1BE-0E49C615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Ask: what is the next value after 7/32?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8CDEF-F520-47D3-A60F-E6AFCB83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10 / 22</a:t>
            </a:r>
          </a:p>
        </p:txBody>
      </p:sp>
    </p:spTree>
    <p:extLst>
      <p:ext uri="{BB962C8B-B14F-4D97-AF65-F5344CB8AC3E}">
        <p14:creationId xmlns:p14="http://schemas.microsoft.com/office/powerpoint/2010/main" val="10062187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C1D56-F3B0-4FC7-8312-5DCE66DE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C4111-990D-4F27-A48D-9B66E856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subnormal: 1/8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FC2C0-68E4-440B-B218-A53A78DE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1/8 is below the smallest normal, 1/4, so E = 0. A subnormal here is worth F/32. Solve F/32 = 1/8: F = 4, which is 100₂ in three bits.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97746-2F05-4C79-997B-46EF673F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 = 000₂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4 = 100₂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000 | 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4/32 = 1/8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3FAB2-7571-49A3-B6C8-87F90FA9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No hidden 1: read the significand as 0.100₂.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7F5E9-2417-44C6-925E-4767F90F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11 / 22</a:t>
            </a:r>
          </a:p>
        </p:txBody>
      </p:sp>
    </p:spTree>
    <p:extLst>
      <p:ext uri="{BB962C8B-B14F-4D97-AF65-F5344CB8AC3E}">
        <p14:creationId xmlns:p14="http://schemas.microsoft.com/office/powerpoint/2010/main" val="10820362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5E5C3-C59B-4F4C-8123-D26BB2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148DA-667A-4F17-8947-3A10B5D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next normal is one step 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E9A2B-E617-4407-BF21-6D1C10DB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largest subnormal is 7/32. The smallest normal is 8/32. Both use the 2⁻² scale; the implied leading digit changes from 0 to 1 when E changes from 0 to 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EA955-1341-477F-B9E0-1F67FB9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0, F = 111₂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0.111₂ × 2⁻² = 7/32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1, F = 000₂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1.000₂ × 2⁻² = 8/32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Gap = 1/32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59BBF-C1FE-4848-A1BE-0E49C615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Subnormal values fill the space between zero and 1/4.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8CDEF-F520-47D3-A60F-E6AFCB83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12 / 22</a:t>
            </a:r>
          </a:p>
        </p:txBody>
      </p:sp>
    </p:spTree>
    <p:extLst>
      <p:ext uri="{BB962C8B-B14F-4D97-AF65-F5344CB8AC3E}">
        <p14:creationId xmlns:p14="http://schemas.microsoft.com/office/powerpoint/2010/main" val="10062187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F0A3D-C361-4FA6-9CFE-2E669E0D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1682B-A598-4D48-84FE-CD10468F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decode two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976BE-C2D5-4F13-B1DA-E2F9D261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pattern, classify it, find E and F, then calculate the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877AB9-DA81-4CB4-8D40-AAADEA86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0 | 010 | 100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value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0 | 000 | 011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value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68E93-B810-439B-9ECE-DACDD625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If E = 0, count F steps of 1/32. Otherwise use the normal rule.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85357-E888-4A45-92E1-47CDEA8A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13 / 22</a:t>
            </a:r>
          </a:p>
        </p:txBody>
      </p:sp>
    </p:spTree>
    <p:extLst>
      <p:ext uri="{BB962C8B-B14F-4D97-AF65-F5344CB8AC3E}">
        <p14:creationId xmlns:p14="http://schemas.microsoft.com/office/powerpoint/2010/main" val="15075950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5D697-73A9-4130-AF88-3B9A153D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9792B-54CD-4C1F-8A87-49C3F494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Decode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3E9C7-6AC5-4E40-B664-B323C1BA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has E = 2, so decode a normal value. B has E = 0, so its F = 3 means three steps of 1/32.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C1F1B-87F6-43C2-BCA8-B1C729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0 | 010 | 100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(1 + 4/8) × 2⁻¹ = 3/4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0 | 000 | 011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3  →  3/32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D2664-9B32-4402-A088-C1DEBD68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If the answer seems surprising, decode the same fields back into the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61FAB-FD81-4893-85F8-90700B31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14 / 22</a:t>
            </a:r>
          </a:p>
        </p:txBody>
      </p:sp>
    </p:spTree>
    <p:extLst>
      <p:ext uri="{BB962C8B-B14F-4D97-AF65-F5344CB8AC3E}">
        <p14:creationId xmlns:p14="http://schemas.microsoft.com/office/powerpoint/2010/main" val="15027313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724E8-02D1-4C78-A9D3-AE6AD6E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140D5-AD40-4B2D-9276-45B94835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classify two ratios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609DC-0513-451F-B1A4-CD75618D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practice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ratio, decide normal or subnormal, then find E and 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2E272-B675-4F8B-8D9A-1DD0C7D3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00304-F8E7-4C1C-B3A0-F1A0DD60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Compare each value with the smallest normal, 1/4, before finding bits.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00DCD-0F16-4BE6-9538-9FDAF86C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15 / 22</a:t>
            </a:r>
          </a:p>
        </p:txBody>
      </p:sp>
    </p:spTree>
    <p:extLst>
      <p:ext uri="{BB962C8B-B14F-4D97-AF65-F5344CB8AC3E}">
        <p14:creationId xmlns:p14="http://schemas.microsoft.com/office/powerpoint/2010/main" val="20796592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A2A70-779E-4A39-9AD5-537DDE3C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733A3-E106-4C90-B097-BE7CB457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Practice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B6D32-B5C1-4BFB-8D41-7B7055B1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3/2 = 1.100₂ × 2⁰, so it is normal.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3/16 is below 1/4, so it is subnormal. Since value = F/32, F = 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5FA7D-EF72-4F2A-85B4-517634BC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3 = 011₂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4 = 100₂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(1 + 4/8) × 1 = 3/2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0 = 000₂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6 = 110₂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6/32 = 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DD94A5-8CF6-4CC6-9FAF-1AAE9F86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fraction can be exactly representable in one format and not another.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8226B-AC16-4616-9E79-3B5C231B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16 / 22</a:t>
            </a:r>
          </a:p>
        </p:txBody>
      </p:sp>
    </p:spTree>
    <p:extLst>
      <p:ext uri="{BB962C8B-B14F-4D97-AF65-F5344CB8AC3E}">
        <p14:creationId xmlns:p14="http://schemas.microsoft.com/office/powerpoint/2010/main" val="15907542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43C1D-677A-4484-B42E-435337BC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B736B-6CBC-48AB-BB9C-B94B56E8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Some ratios need 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F5015-85C0-4422-9A8D-3AB1598A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Only eight fraction patterns fit in three bits. A ratio such as 1/3 has a repeating binary expansion and cannot be stored exactly.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required rounding rule decides which nearby value to store.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E6650-2F07-46E8-968E-92CAC81B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1/3 = 1.010101…₂ × 2⁻²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Nearby values in this format: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010₂  →  5/16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011₂  →  11/32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Neither is exactly 1/3.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0F9BB-98E4-470C-A339-F30A270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Wait for the assignment’s rounding instructions before choosing a stored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702C8-3DF9-406E-8087-CF675ECC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17 / 22</a:t>
            </a:r>
          </a:p>
        </p:txBody>
      </p:sp>
    </p:spTree>
    <p:extLst>
      <p:ext uri="{BB962C8B-B14F-4D97-AF65-F5344CB8AC3E}">
        <p14:creationId xmlns:p14="http://schemas.microsoft.com/office/powerpoint/2010/main" val="17048518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SPACING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Precision changes with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same three fraction bits give eight values within each normal exponent range.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When the exponent increases by one, the distance between neighboring values doubles.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(e = 0)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 → 1       F = 1 → 9/8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step = 1/8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4 (e = 1)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 → 2       F = 1 → 9/4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step = 1/4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is why large floating point values have larger gaps.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18 / 22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ASSIGNMENT PREVIEW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HW3 preview: five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professor plans a program that reads a format and a nonnegative ratio. The assignment has not been posted, so treat these details as a preview.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format:  exp_bits = 3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bias = 3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sig_bits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value:   numerator = 5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denominator = 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Find: E (exponent), F (fraction)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first three inputs define the format; the last two define the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19 / 22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INPUT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HW3 preview: encode 5/2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With 3 exponent bits, bias 3, and 3 fraction bits, write 5/2 as 1.010₂ × 2¹. The true exponent is 1, so E = 1 + 3 = 4. The stored fraction is 010₂, so F = 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Inputs: 3 3 3 5 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4 = 100₂</a:t>
            </a:r>
          </a:p>
          <a:p xmlns:a="http://schemas.openxmlformats.org/drawingml/2006/main">
            <a:pPr>
              <a:buNone/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2 = 010₂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Output: 4 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(1 + 2/8) × 2¹ = 5/2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Move the binary point before taking the stored fraction bits.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20 / 22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HW3 preview: choose the equation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Compare a nonzero ratio with the smallest normal, 2^(1−bias). Below that threshold, set E = 0 and use no hidden 1.</a:t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Otherwise find the true exponent e and store E = e + bias. Solve for F, then decode to check.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 (E &gt; 0):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(1 + F/2^p) × 2^(E−bias)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 (E = 0):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(F/2^p) × 2^(1−bias)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If numerator = 0: E = 0, F = 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Use the supplied p and bias, not the values from our practice format.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21 / 22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9B079-C3E8-43BB-8638-96121018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3113E-85F1-4E22-A62E-265E94FE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How to check an encoding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5E33C-BA7C-4ADE-9FC3-9ABD9F3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In our practice format, E = 0 means count F steps of 1/32. Otherwise decode e = E − 3 and use the implied leading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an inexact value, follow the problem’s rounding rule.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39046-DA6B-448C-A179-5B13743C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Our 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Normal:    (1 + F/8) × 2^(E−3)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Subnormal: F/32  (E = 0)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0, F = 0  →  zero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Decode your bits as a final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A0E73-828D-45A1-9AD7-8EED8C5E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correct encoding must reproduce the intended value or its required rounded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BC5BD-1F5D-42FA-AC83-E0BF862F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22 / 22</a:t>
            </a:r>
          </a:p>
        </p:txBody>
      </p:sp>
    </p:spTree>
    <p:extLst>
      <p:ext uri="{BB962C8B-B14F-4D97-AF65-F5344CB8AC3E}">
        <p14:creationId xmlns:p14="http://schemas.microsoft.com/office/powerpoint/2010/main" val="101965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2026-09-25T03:34:20.1500000Z</dcterms:created>
  <dcterms:modified xsi:type="dcterms:W3CDTF">2026-09-25T03:34:20.1500000Z</dcterms:modified>
</coreProperties>
</file>