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41ca5fc348544fa" /><Relationship Type="http://schemas.openxmlformats.org/officeDocument/2006/relationships/extended-properties" Target="/docProps/app.xml" Id="Rb2b7672d39d04ade" /><Relationship Type="http://schemas.openxmlformats.org/officeDocument/2006/relationships/officeDocument" Target="/ppt/presentation.xml" Id="R3a14cdba472640e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5d0d16fdaa475b"/>
  </p:sldMasterIdLst>
  <p:notesMasterIdLst>
    <p:notesMasterId xmlns:r="http://schemas.openxmlformats.org/officeDocument/2006/relationships" r:id="R2abc4c829754438e"/>
  </p:notesMasterIdLst>
  <p:sldIdLst>
    <p:sldId xmlns:r="http://schemas.openxmlformats.org/officeDocument/2006/relationships" id="256" r:id="R41c92d0a04d84a4f"/>
    <p:sldId xmlns:r="http://schemas.openxmlformats.org/officeDocument/2006/relationships" id="257" r:id="R7f6c4896679b4c8a"/>
    <p:sldId xmlns:r="http://schemas.openxmlformats.org/officeDocument/2006/relationships" id="258" r:id="R0c0dbc3302e948cd"/>
    <p:sldId xmlns:r="http://schemas.openxmlformats.org/officeDocument/2006/relationships" id="259" r:id="Ra111a1530064470e"/>
    <p:sldId xmlns:r="http://schemas.openxmlformats.org/officeDocument/2006/relationships" id="260" r:id="R6697be5c5f2345ff"/>
    <p:sldId xmlns:r="http://schemas.openxmlformats.org/officeDocument/2006/relationships" id="261" r:id="R0c9c6051fd9d4919"/>
    <p:sldId xmlns:r="http://schemas.openxmlformats.org/officeDocument/2006/relationships" id="262" r:id="Rbd589d6e5e5c4748"/>
    <p:sldId xmlns:r="http://schemas.openxmlformats.org/officeDocument/2006/relationships" id="263" r:id="Re6a78861ffd34e22"/>
    <p:sldId xmlns:r="http://schemas.openxmlformats.org/officeDocument/2006/relationships" id="264" r:id="Rfe5ace0c12ea44ad"/>
    <p:sldId xmlns:r="http://schemas.openxmlformats.org/officeDocument/2006/relationships" id="265" r:id="R134c56d230bf4bf7"/>
    <p:sldId xmlns:r="http://schemas.openxmlformats.org/officeDocument/2006/relationships" id="266" r:id="R42c0bb16b97143e5"/>
    <p:sldId xmlns:r="http://schemas.openxmlformats.org/officeDocument/2006/relationships" id="267" r:id="R78022fac00da4a47"/>
    <p:sldId xmlns:r="http://schemas.openxmlformats.org/officeDocument/2006/relationships" id="268" r:id="Rddd0d78a7091423a"/>
    <p:sldId xmlns:r="http://schemas.openxmlformats.org/officeDocument/2006/relationships" id="269" r:id="Rfd478591fd7b4fc0"/>
    <p:sldId xmlns:r="http://schemas.openxmlformats.org/officeDocument/2006/relationships" id="270" r:id="R997b494a8d364e0e"/>
    <p:sldId xmlns:r="http://schemas.openxmlformats.org/officeDocument/2006/relationships" id="271" r:id="R477c49f2a279480f"/>
    <p:sldId xmlns:r="http://schemas.openxmlformats.org/officeDocument/2006/relationships" id="272" r:id="R8642616388894b86"/>
    <p:sldId xmlns:r="http://schemas.openxmlformats.org/officeDocument/2006/relationships" id="273" r:id="R4ffd4da5a257426f"/>
    <p:sldId xmlns:r="http://schemas.openxmlformats.org/officeDocument/2006/relationships" id="274" r:id="R40b761a8a6b04bf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a5a4b41e7b4628" /><Relationship Type="http://schemas.openxmlformats.org/officeDocument/2006/relationships/slideMaster" Target="/ppt/slideMasters/slideMaster1.xml" Id="Rfa5d0d16fdaa475b" /><Relationship Type="http://schemas.openxmlformats.org/officeDocument/2006/relationships/notesMaster" Target="/ppt/notesMasters/notesMaster1.xml" Id="R2abc4c829754438e" /><Relationship Type="http://schemas.openxmlformats.org/officeDocument/2006/relationships/presProps" Target="/ppt/presProps.xml" Id="Ra60bac0b825a49a8" /><Relationship Type="http://schemas.openxmlformats.org/officeDocument/2006/relationships/tableStyles" Target="/ppt/tableStyles.xml" Id="R25ffe729f2094612" /><Relationship Type="http://schemas.openxmlformats.org/officeDocument/2006/relationships/slide" Target="/ppt/slides/slide1.xml" Id="R41c92d0a04d84a4f" /><Relationship Type="http://schemas.openxmlformats.org/officeDocument/2006/relationships/slide" Target="/ppt/slides/slide2.xml" Id="R7f6c4896679b4c8a" /><Relationship Type="http://schemas.openxmlformats.org/officeDocument/2006/relationships/slide" Target="/ppt/slides/slide3.xml" Id="R0c0dbc3302e948cd" /><Relationship Type="http://schemas.openxmlformats.org/officeDocument/2006/relationships/slide" Target="/ppt/slides/slide4.xml" Id="Ra111a1530064470e" /><Relationship Type="http://schemas.openxmlformats.org/officeDocument/2006/relationships/slide" Target="/ppt/slides/slide5.xml" Id="R6697be5c5f2345ff" /><Relationship Type="http://schemas.openxmlformats.org/officeDocument/2006/relationships/slide" Target="/ppt/slides/slide6.xml" Id="R0c9c6051fd9d4919" /><Relationship Type="http://schemas.openxmlformats.org/officeDocument/2006/relationships/slide" Target="/ppt/slides/slide7.xml" Id="Rbd589d6e5e5c4748" /><Relationship Type="http://schemas.openxmlformats.org/officeDocument/2006/relationships/slide" Target="/ppt/slides/slide8.xml" Id="Re6a78861ffd34e22" /><Relationship Type="http://schemas.openxmlformats.org/officeDocument/2006/relationships/slide" Target="/ppt/slides/slide9.xml" Id="Rfe5ace0c12ea44ad" /><Relationship Type="http://schemas.openxmlformats.org/officeDocument/2006/relationships/slide" Target="/ppt/slides/slide10.xml" Id="R134c56d230bf4bf7" /><Relationship Type="http://schemas.openxmlformats.org/officeDocument/2006/relationships/slide" Target="/ppt/slides/slide11.xml" Id="R42c0bb16b97143e5" /><Relationship Type="http://schemas.openxmlformats.org/officeDocument/2006/relationships/slide" Target="/ppt/slides/slide12.xml" Id="R78022fac00da4a47" /><Relationship Type="http://schemas.openxmlformats.org/officeDocument/2006/relationships/slide" Target="/ppt/slides/slide13.xml" Id="Rddd0d78a7091423a" /><Relationship Type="http://schemas.openxmlformats.org/officeDocument/2006/relationships/slide" Target="/ppt/slides/slide14.xml" Id="Rfd478591fd7b4fc0" /><Relationship Type="http://schemas.openxmlformats.org/officeDocument/2006/relationships/slide" Target="/ppt/slides/slide15.xml" Id="R997b494a8d364e0e" /><Relationship Type="http://schemas.openxmlformats.org/officeDocument/2006/relationships/slide" Target="/ppt/slides/slide16.xml" Id="R477c49f2a279480f" /><Relationship Type="http://schemas.openxmlformats.org/officeDocument/2006/relationships/slide" Target="/ppt/slides/slide17.xml" Id="R8642616388894b86" /><Relationship Type="http://schemas.openxmlformats.org/officeDocument/2006/relationships/slide" Target="/ppt/slides/slide18.xml" Id="R4ffd4da5a257426f" /><Relationship Type="http://schemas.openxmlformats.org/officeDocument/2006/relationships/slide" Target="/ppt/slides/slide19.xml" Id="R40b761a8a6b04b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4a327454f647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0b674958d54738" /><Relationship Type="http://schemas.openxmlformats.org/officeDocument/2006/relationships/notesMaster" Target="/ppt/notesMasters/notesMaster1.xml" Id="R97da0af6544d46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a43ca157324165" /><Relationship Type="http://schemas.openxmlformats.org/officeDocument/2006/relationships/notesMaster" Target="/ppt/notesMasters/notesMaster1.xml" Id="R929b9df564534e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cd3652db6d4d47" /><Relationship Type="http://schemas.openxmlformats.org/officeDocument/2006/relationships/notesMaster" Target="/ppt/notesMasters/notesMaster1.xml" Id="R48341673c36749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6018d55f04427a" /><Relationship Type="http://schemas.openxmlformats.org/officeDocument/2006/relationships/notesMaster" Target="/ppt/notesMasters/notesMaster1.xml" Id="Re61be60304b4407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06f1797f1224bbb" /><Relationship Type="http://schemas.openxmlformats.org/officeDocument/2006/relationships/notesMaster" Target="/ppt/notesMasters/notesMaster1.xml" Id="Rb58ea3c4aec446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3224f601a54b91" /><Relationship Type="http://schemas.openxmlformats.org/officeDocument/2006/relationships/notesMaster" Target="/ppt/notesMasters/notesMaster1.xml" Id="Rca79cf59beb64f3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5c1df8e0634be3" /><Relationship Type="http://schemas.openxmlformats.org/officeDocument/2006/relationships/notesMaster" Target="/ppt/notesMasters/notesMaster1.xml" Id="Rc6c6869f813943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169643a8664147" /><Relationship Type="http://schemas.openxmlformats.org/officeDocument/2006/relationships/notesMaster" Target="/ppt/notesMasters/notesMaster1.xml" Id="R21e607d3ce564b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1b7d53e6dff47fb" /><Relationship Type="http://schemas.openxmlformats.org/officeDocument/2006/relationships/notesMaster" Target="/ppt/notesMasters/notesMaster1.xml" Id="R3c9fa25b2f524f1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c669c9394a42da" /><Relationship Type="http://schemas.openxmlformats.org/officeDocument/2006/relationships/notesMaster" Target="/ppt/notesMasters/notesMaster1.xml" Id="R83968fa6d97f48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dfbacf7bfda495b" /><Relationship Type="http://schemas.openxmlformats.org/officeDocument/2006/relationships/notesMaster" Target="/ppt/notesMasters/notesMaster1.xml" Id="R29debca6e73b447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d558fa790d45fe" /><Relationship Type="http://schemas.openxmlformats.org/officeDocument/2006/relationships/notesMaster" Target="/ppt/notesMasters/notesMaster1.xml" Id="Reb74342448c040d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c2199812c6b4e34" /><Relationship Type="http://schemas.openxmlformats.org/officeDocument/2006/relationships/notesMaster" Target="/ppt/notesMasters/notesMaster1.xml" Id="Rdb07d570253f461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64d4136377b4b20" /><Relationship Type="http://schemas.openxmlformats.org/officeDocument/2006/relationships/notesMaster" Target="/ppt/notesMasters/notesMaster1.xml" Id="R0bca79d7442241c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1df086cbcb34970" /><Relationship Type="http://schemas.openxmlformats.org/officeDocument/2006/relationships/notesMaster" Target="/ppt/notesMasters/notesMaster1.xml" Id="R6c896043e93e4a0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eceba53abdd4de3" /><Relationship Type="http://schemas.openxmlformats.org/officeDocument/2006/relationships/notesMaster" Target="/ppt/notesMasters/notesMaster1.xml" Id="Ra63fb87658054bb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74ae6d73c9a4b34" /><Relationship Type="http://schemas.openxmlformats.org/officeDocument/2006/relationships/notesMaster" Target="/ppt/notesMasters/notesMaster1.xml" Id="R0709c69b48c5425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c6785d2e2cc413e" /><Relationship Type="http://schemas.openxmlformats.org/officeDocument/2006/relationships/notesMaster" Target="/ppt/notesMasters/notesMaster1.xml" Id="R70e95fc455604db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bd270c8e4be4280" /><Relationship Type="http://schemas.openxmlformats.org/officeDocument/2006/relationships/notesMaster" Target="/ppt/notesMasters/notesMaster1.xml" Id="Rb02d0a20838d4c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50-minute pacing: representation and floating point 6 min; assembly syntax and tracing 21 min; calls and stack 12 min; arrays and practice 11 min. Source: lectures 6–8.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6 shows float rounding with 3.14, 1e10, and -1e10. Exact output depends on type and evaluation environment. This slide teaches the principle without promising a platform-independent numeric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lecture 6's C/addl/objdump progression. Compilers may choose registers or optimize the entire expression away, so avoid teaching a single assembly listing as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students to point to the value that changes. Contrast Intel syntax only if a student asks: its operand order is reversed. Source: lectures 6 and 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https://firner.com/presentations/cs211/2026-Fall/cs211_07/#/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an analogy: a register holds a street address; parentheses mean visit that street address. Distinguish $8 from 8(%rax) carefully. In real user programs address 8 is normally invalid; replace with a valid pointer for a live demo.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before showing the answer. Have students narrate the two changes aloud. Source operands are read; the destination receives the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https://firner.com/presentations/cs211/2026-Fall/cs211_07/#/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Common confusion: students may think 'move' transfers and clears rbx. Emphasize that it copies. Then ask what subq $2, %rax would do: rax becomes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https://firner.com/presentations/cs211/2026-Fall/cs211_07/#/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7 discusses register aliases and movl. Be precise: writing a 32-bit register zeroes the upper 32 bits; a movl from %eax into memory does not clear the upper half of %rax. Do not generalize this rule to 8- or 16-bit writes.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https://firner.com/presentations/cs211/2026-Fall/cs211_07/#/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Assume sizeof(int)==4 for this example; the C standard does not require int to be 4 bytes on every platform. Draw boxes at addresses base, base+4, base+8, base+12. Source: lectures 6–8.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Ask: which instruction could compute &amp;a[2], and which could load a[2]? Clarify that movq reads eight bytes here; the made-up memory value 42 is an eight-byte value for this trace. Source: lecture 8 sieve assembly and lecture 7 RIP-relative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https://firner.com/presentations/cs211/2026-Fall/cs211_08/#/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AT&amp;T cmpq $1, %rdi, flags describe rdi minus 1. ja is true for unsigned rdi &gt; 1. This matches lecture 7's unsigned sequence example. Distinguish signed jg from unsigned ja when asked. In a real compiled function there may be setup/cleanup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https://firner.com/presentations/cs211/2026-Fall/cs211_07/#/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partners time to trace. Ask one student why n=1 does not jump. The next slide moves to calls and stack frames.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https://firner.com/presentations/cs211/2026-Fall/cs211_07/#/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clear this is an ABI convention, not an inherent meaning of the registers. The call instruction also saves a return address. Source: lectures 6 and 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https://firner.com/presentations/cs211/2026-Fall/cs211_07/#/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8 gives this prologue and epilogue. Correct mental model: pushq decrements rsp by 8 then writes; popq reads then increments rsp by 8. call pushes the return address, ret pops it. Optimized code may omit rbp or use different frame layouts.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https://firner.com/presentations/cs211/2026-Fall/cs211_08/#/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down by eight bytes for pushq, then by sixteen for local space. The address notation here is conceptual, not a literal disassembly. The return address was pushed by call before the stated starting 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https://firner.com/presentations/cs211/2026-Fall/cs211_08/#/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8 covers known-size arrays, VLAs, and array parameters. Avoid claiming sizeof(pointer) always equals 8: that is platform dependent. A parameter written int a[10] is also adjusted to a pointer; the 10 does not enforce array length for a function argument.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https://firner.com/presentations/cs211/2026-Fall/cs211_08/#/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 8. The exact maximum safe VLA size depends on available stack space. C language support for VLAs depends on the chosen C version and compiler; use course tooling for live examples. A local array's storage duration, rather than whether its bytes are immediately overwritten, determines pointer validity.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https://firner.com/presentations/cs211/2026-Fall/cs211_08/#/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Expected: rdx = 0x2008 and eax = 30. The address is base + 2*4. Have students explain why leaq does not put 30 in rdx.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https://firner.com/presentations/cs211/2026-Fall/cs211_08/#/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pointing students to lectures 6–8 for the larger examples. Suggest compiling a very small C function with gcc -O0 -S and finding its arguments, arithmetic, and return value; compiler output may vary.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https://firner.com/presentations/cs211/2026-Fall/cs211_08/#/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26a5864fba47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96d304d5834fb8" /><Relationship Type="http://schemas.openxmlformats.org/officeDocument/2006/relationships/slideLayout" Target="/ppt/slideLayouts/slideLayout1.xml" Id="Rb2dafda1cdf34b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dafda1cdf34b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067928f9b416d" /><Relationship Type="http://schemas.openxmlformats.org/officeDocument/2006/relationships/notesSlide" Target="/ppt/notesSlides/notesSlide1.xml" Id="Rfd0cf5d31a594d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99f3791ff343b8" /><Relationship Type="http://schemas.openxmlformats.org/officeDocument/2006/relationships/notesSlide" Target="/ppt/notesSlides/notesSlide2.xml" Id="Rd35d6623bd3449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14a678edd24c24" /><Relationship Type="http://schemas.openxmlformats.org/officeDocument/2006/relationships/notesSlide" Target="/ppt/notesSlides/notesSlide3.xml" Id="Re037c68161294e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c5f75900284ce4" /><Relationship Type="http://schemas.openxmlformats.org/officeDocument/2006/relationships/notesSlide" Target="/ppt/notesSlides/notesSlide4.xml" Id="Re148c3b5484e432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d3c166741349b4" /><Relationship Type="http://schemas.openxmlformats.org/officeDocument/2006/relationships/notesSlide" Target="/ppt/notesSlides/notesSlide5.xml" Id="Rd6a94be5fe3a461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69e1317a68431b" /><Relationship Type="http://schemas.openxmlformats.org/officeDocument/2006/relationships/notesSlide" Target="/ppt/notesSlides/notesSlide6.xml" Id="R2fe085a19e4643d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5460a0abd44f5d" /><Relationship Type="http://schemas.openxmlformats.org/officeDocument/2006/relationships/notesSlide" Target="/ppt/notesSlides/notesSlide7.xml" Id="Rcbbeecc2e38147e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c86c6790954df4" /><Relationship Type="http://schemas.openxmlformats.org/officeDocument/2006/relationships/notesSlide" Target="/ppt/notesSlides/notesSlide8.xml" Id="R85ffdd4a4ec04e5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9b9016635f45a5" /><Relationship Type="http://schemas.openxmlformats.org/officeDocument/2006/relationships/notesSlide" Target="/ppt/notesSlides/notesSlide9.xml" Id="R8c33ff91d0e04cb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a2309ac1e74a31" /><Relationship Type="http://schemas.openxmlformats.org/officeDocument/2006/relationships/notesSlide" Target="/ppt/notesSlides/notesSlide10.xml" Id="Rf7fea38644c54c2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17d64e5990456a" /><Relationship Type="http://schemas.openxmlformats.org/officeDocument/2006/relationships/notesSlide" Target="/ppt/notesSlides/notesSlide11.xml" Id="Ra5da4a651532442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d6acaf2642467e" /><Relationship Type="http://schemas.openxmlformats.org/officeDocument/2006/relationships/notesSlide" Target="/ppt/notesSlides/notesSlide12.xml" Id="R5415a3a0995b478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0dfab627bb486d" /><Relationship Type="http://schemas.openxmlformats.org/officeDocument/2006/relationships/notesSlide" Target="/ppt/notesSlides/notesSlide13.xml" Id="R1542afa505284f3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fda55bbaf45b3" /><Relationship Type="http://schemas.openxmlformats.org/officeDocument/2006/relationships/notesSlide" Target="/ppt/notesSlides/notesSlide14.xml" Id="R6b7d8adbe0a0451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2046d79a5c4ad7" /><Relationship Type="http://schemas.openxmlformats.org/officeDocument/2006/relationships/notesSlide" Target="/ppt/notesSlides/notesSlide15.xml" Id="R288e67f4792d4d1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ac26213b974760" /><Relationship Type="http://schemas.openxmlformats.org/officeDocument/2006/relationships/notesSlide" Target="/ppt/notesSlides/notesSlide16.xml" Id="R788bb159c960408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c1f82d18824d7a" /><Relationship Type="http://schemas.openxmlformats.org/officeDocument/2006/relationships/notesSlide" Target="/ppt/notesSlides/notesSlide17.xml" Id="R3973f84ee534475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6918020194204" /><Relationship Type="http://schemas.openxmlformats.org/officeDocument/2006/relationships/notesSlide" Target="/ppt/notesSlides/notesSlide18.xml" Id="Rf1149733c66f44f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362a2d41c749a6" /><Relationship Type="http://schemas.openxmlformats.org/officeDocument/2006/relationships/notesSlide" Target="/ppt/notesSlides/notesSlide19.xml" Id="Rad7a36c2478b4b1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58C08C-436C-4F24-8C32-9803C799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CS 211 · RECITATION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1A8558-F3B2-4225-9809-DFCC32E0B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5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Reading assembly without panic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FB0252-B386-4FD6-9333-E5ED40A4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Lectures 6–8: program representations, x86-64 instructions, stack frames, and arrays.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6088FE-A8D2-4476-AC34-982C577C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Today’s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 → assembly → machine code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Read operands and trace values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Follow a call and its stack frame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Connect arrays to byte addresses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9DCD2A-FF21-420E-92FF-E3D7E400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Goal: explain what a short snippet does, one instruction at a time.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D2DD3D-DE9C-4652-82F2-D1DC89B9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01 / 19</a:t>
            </a:r>
          </a:p>
        </p:txBody>
      </p:sp>
    </p:spTree>
    <p:extLst>
      <p:ext uri="{BB962C8B-B14F-4D97-AF65-F5344CB8AC3E}">
        <p14:creationId xmlns:p14="http://schemas.microsoft.com/office/powerpoint/2010/main" val="5264433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75E4FF-8C23-4A5E-9A4C-714C57EF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6 · QUICK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6D74C7-C1EE-40A0-B155-567E4281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Floating point is approximate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A31579-C626-42EB-98F2-E746464E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 float stores a finite set of values. The gaps grow as the magnitude grows.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An intermediate result can round before the next operation, so rearranging arithmetic may change the answer.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D9F476-50A6-45F9-AF39-7CDEBF4A3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With finite precision: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(a + b) + c  may differ from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 + (b + c)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Try: a = 3.14, b = 1e10, c = -1e10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The large addition can lose 3.14.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8A5185-6640-45C0-BCAA-4607D66A9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Do not use algebraic rearrangement as a guaranteed floating point equivalence.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25D13A-D9A4-4840-A5C3-8E4D48DF2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02 / 19</a:t>
            </a:r>
          </a:p>
        </p:txBody>
      </p:sp>
    </p:spTree>
    <p:extLst>
      <p:ext uri="{BB962C8B-B14F-4D97-AF65-F5344CB8AC3E}">
        <p14:creationId xmlns:p14="http://schemas.microsoft.com/office/powerpoint/2010/main" val="17512704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C90D3C-4C7F-4582-8B2B-7EDDBB8E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6 · HARDWARE BRIDGE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0DDFA0-B47C-4A76-A1FF-930066C2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ALU, FPU, and instructions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B9DE3B-A5CA-4279-8DE4-F345BA2D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ALU handles integer arithmetic and logic. The FPU handles floating point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Machine instructions choose operations and operands. Assembly gives those instructions readable names.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4F9E59-1954-455E-8152-D44F7B87A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C:            a = a + 8;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Assembly:     addl $8, -4(%rbp)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Machine code: instruction bytes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Hardware:     decode, then execute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74882A-F115-4DA3-A31D-E06BC3B4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example assembly is one possible unoptimized x86-64 translation, not a required compiler output.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20927F-7A67-4230-A551-E5979780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03 / 19</a:t>
            </a:r>
          </a:p>
        </p:txBody>
      </p:sp>
    </p:spTree>
    <p:extLst>
      <p:ext uri="{BB962C8B-B14F-4D97-AF65-F5344CB8AC3E}">
        <p14:creationId xmlns:p14="http://schemas.microsoft.com/office/powerpoint/2010/main" val="15303304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381817-172F-441C-BC9E-88F5E0F8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6–7 · READING 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A442A3-54AB-4AFC-9894-D5DD62E00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One line of AT&amp;T assembly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36786-F1BF-42A0-B2FE-666B9BFF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Read the source first, then the destination. The destination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suffix says how much data is used: b = 1 byte, w = 2, l = 4, q = 8.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BFB8D7-85DA-4F4B-B130-3EB28E9D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$5, %rax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  move 8 bytes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$5     literal value 5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%rax   destination register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Afterward: %rax =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2E9E17-0D68-41B4-B0D4-41F73AC9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AT&amp;T syntax is the format used in these lectures and by GCC’s default assembly output.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F531E4-B997-4933-92F4-52963CB9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04 / 19</a:t>
            </a:r>
          </a:p>
        </p:txBody>
      </p:sp>
    </p:spTree>
    <p:extLst>
      <p:ext uri="{BB962C8B-B14F-4D97-AF65-F5344CB8AC3E}">
        <p14:creationId xmlns:p14="http://schemas.microsoft.com/office/powerpoint/2010/main" val="21194799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10AB8-001C-445F-8906-2047ED01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ASSEMBLY VOCABULARY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508FD5-C735-44EF-81C0-DA4F075C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Three kinds of operands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DA6CFB-DCAF-48B6-9244-7BD720BB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 dollar sign means the value itself. A percent sign names a register. Parentheses mean memory at an address.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These are different even when the same digits appear.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1A69D4-A8DE-4DC7-A299-610900BE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$8          value 8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%rax        value inside rax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(%rax)      memory at address in rax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8(%rax)     memory at address rax + 8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$8, %rax   → rax becomes 8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(%rax), %rbx → load from address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ED9CC3-08C7-4141-A321-39F8588C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last line only makes sense if address 8 is readable; it illustrates syntax, not a safe program.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A07E18-6B77-4D4A-B164-76BA29E2B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05 / 19</a:t>
            </a:r>
          </a:p>
        </p:txBody>
      </p:sp>
    </p:spTree>
    <p:extLst>
      <p:ext uri="{BB962C8B-B14F-4D97-AF65-F5344CB8AC3E}">
        <p14:creationId xmlns:p14="http://schemas.microsoft.com/office/powerpoint/2010/main" val="14406788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B9B8CD-A9D4-4A71-94A2-3E7C3221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TRY IT · 1 MINUTE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FAE137-E5CE-4B14-9FE9-15E5355C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Trace two instructions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742803-2FCF-4740-9085-A74FA6D6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Start with %rax = 100 and %rbx = 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What is in each register after these lines?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Which register changed on each line?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373B3B-6E49-4EA5-9B22-A2D4AED0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%rbx, %rax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addq $3, %rax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%rax = ?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%rbx =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B2C794-3957-49CE-866B-64DAA105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Read each line left to right: source, then destination.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EC1731-5FDA-4FC6-B4ED-CEED5A61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06 / 19</a:t>
            </a:r>
          </a:p>
        </p:txBody>
      </p:sp>
    </p:spTree>
    <p:extLst>
      <p:ext uri="{BB962C8B-B14F-4D97-AF65-F5344CB8AC3E}">
        <p14:creationId xmlns:p14="http://schemas.microsoft.com/office/powerpoint/2010/main" val="11619949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AAFCF9-5EBD-4593-BBDC-BDBA342C5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WORKED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1AE967-5D70-43B1-80BD-11C8068E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Trace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FF75AB-D080-42C0-B421-4A44FB46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first line copies 7 into %rax. The second adds 3 to that copy.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%rbx never changes.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826070-AED1-4AA6-80F5-05856842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Initially       rax = 100   rbx = 7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%rbx,%rax  rax =   7   rbx = 7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addq $3,%rax   rax =  10   rbx = 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3E413F-7904-4528-A08D-D14CD6B7B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A move copies a value; it does not erase the source.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F108AD-40E1-4E2D-A0AB-52183491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07 / 19</a:t>
            </a:r>
          </a:p>
        </p:txBody>
      </p:sp>
    </p:spTree>
    <p:extLst>
      <p:ext uri="{BB962C8B-B14F-4D97-AF65-F5344CB8AC3E}">
        <p14:creationId xmlns:p14="http://schemas.microsoft.com/office/powerpoint/2010/main" val="4795753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1EED7E-B98A-40F3-A5F6-F847FC56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6–7 · REGISTER NAMES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32EDD3-AD69-4717-8F36-B94A4B68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Registers have different widths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5C141F-7149-4DB5-AC30-E339D5C9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%rax is 64 bits. %eax names its low 32 bits; %ax names the low 16; %al names the low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Writing %eax zeroes the upper 32 bits of %rax. Reading %eax does not change %rax.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99C023-2BE9-4A75-960A-5B4CA7B0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$-1, %rax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movl $1, %eax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Now %rax = 0x0000000000000001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 ↔  %rax  ↔  8 bytes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movl  ↔  %eax  ↔  4 bytes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04CD27-1DA0-4EE3-B5F5-4DF338E0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This zero-extension rule applies to 32-bit register destinations in x86-64.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062B0A-8015-4A91-AFBB-9E04190B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08 / 19</a:t>
            </a:r>
          </a:p>
        </p:txBody>
      </p:sp>
    </p:spTree>
    <p:extLst>
      <p:ext uri="{BB962C8B-B14F-4D97-AF65-F5344CB8AC3E}">
        <p14:creationId xmlns:p14="http://schemas.microsoft.com/office/powerpoint/2010/main" val="10324860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A63E4D-D9DC-4F24-9325-98D2B594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6–8 · ADDRESSES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C8700A-908F-4130-B240-B1997CF6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Array indexing is byte arithmetic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062AE3-ACBD-4712-A361-20E2D87F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Memory addresses count bytes. For an int array, element i begins 4i bytes after the start when int is 4 bytes.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addressing form combines base + index × scale + displacement.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E4C6D3-ECDC-4DF0-BDEC-6B336B57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Assume %rax = &amp;a[0], %rcx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(%rax,%rcx,4)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= memory[rax + 3×4]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= a[3]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8(%rax,%rcx,4) = a[5]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13A293-676F-45D1-8F6F-A7383116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scale is the size of an element in bytes; 8 adds two more int positions here.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13D022-7584-4A00-8D28-110371BF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09 / 19</a:t>
            </a:r>
          </a:p>
        </p:txBody>
      </p:sp>
    </p:spTree>
    <p:extLst>
      <p:ext uri="{BB962C8B-B14F-4D97-AF65-F5344CB8AC3E}">
        <p14:creationId xmlns:p14="http://schemas.microsoft.com/office/powerpoint/2010/main" val="2165517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AF8674-4A76-4165-865B-3E0F47413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COMMON ASSEMBLY CONFUSION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640387-E3B6-4280-B068-99C3C379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Address versus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3081A9-786A-48C7-8B21-C4CEAA5FB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leaq computes an address and places that number in a register.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movq with a memory source reads the value stored at an address.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9D7140-EEE6-41B9-AE4B-80E94916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Assume rax = 1000, memory[1008] = 42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leaq 8(%rax), %rbx  → rbx = 1008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8(%rax), %rcx  → rcx = 42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8882BD-E6ED-4311-94C0-2A8FC227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lea does not dereference memory, even though its source looks like a memory operand.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295CBC-4F31-4FA8-AA48-E09D7882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10 / 19</a:t>
            </a:r>
          </a:p>
        </p:txBody>
      </p:sp>
    </p:spTree>
    <p:extLst>
      <p:ext uri="{BB962C8B-B14F-4D97-AF65-F5344CB8AC3E}">
        <p14:creationId xmlns:p14="http://schemas.microsoft.com/office/powerpoint/2010/main" val="1877006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D7C06C-3ECB-4C48-B6F2-8A21288E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7 · CONTROL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C313DE-56DE-422B-AED6-5A2A6A00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A branch is an if statement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B4DE23-87D7-4E9D-8147-FD56CC42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cmpq compares two operands and sets condition flags. A conditional jump reads those flags.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ja means unsigned “jump if above.” The target is a label elsewhere in the code.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194161-D916-4553-9F2F-BDD84DD8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C: if (n &gt; 1) return n;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cmpq $1, %rdi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ja   .Lbig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movl $1, %eax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ret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.Lbig: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%rdi, %rax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ret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D2144D-3488-4050-8528-64000666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Here %rdi is an unsigned 64-bit n; %rax carries the return value.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E1E3A4-70A3-4C6C-99F7-71E336D0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11 / 19</a:t>
            </a:r>
          </a:p>
        </p:txBody>
      </p:sp>
    </p:spTree>
    <p:extLst>
      <p:ext uri="{BB962C8B-B14F-4D97-AF65-F5344CB8AC3E}">
        <p14:creationId xmlns:p14="http://schemas.microsoft.com/office/powerpoint/2010/main" val="9139693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ADF1AD-B7B3-45D0-A67F-77D5E71A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TRY IT · 2 MINUTES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FE935-5CEE-4A63-A5AC-CABC8F25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Trace the branch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3031C8-2349-4185-B503-3D2A9AB3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Use the previous snippet. Predict the return value for n = 0, 1, and 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each input, decide whether ja jumps before following any other line.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2F0FA9-70A7-41A5-A444-B4DF44E0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 = 0  → ja? ___  return ___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 = 1  → ja? ___  return ___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 = 4  → ja? ___  return ___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Hint: “above 1” is strict, not ≥ 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6E87DD-D6CF-4F27-A0F0-ED691007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Check your answer by following only the instructions on the chosen path.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50FEF4-6F1E-4048-B9E4-E7122FB4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12 / 19</a:t>
            </a:r>
          </a:p>
        </p:txBody>
      </p:sp>
    </p:spTree>
    <p:extLst>
      <p:ext uri="{BB962C8B-B14F-4D97-AF65-F5344CB8AC3E}">
        <p14:creationId xmlns:p14="http://schemas.microsoft.com/office/powerpoint/2010/main" val="21277957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539392-4A41-4C61-8986-D1E351A9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6–7 · REGISTERS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C30156-0E7C-4F3A-9303-C7D41DDD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Function calls use conventions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B66976-E14F-4AB3-8EFF-16160C38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ordinary integer or pointer arguments on the x86-64 System V ABI, the first arguments use %rdi, %rsi, %rdx, %rcx, %r8, %r9.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return value usually arrives in %rax.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81C10-9623-42C5-9639-21CFBF8B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long double_it(long x) {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return 2 * x;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At call:   %rdi = x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       call double_it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On return: %rax = 2 * 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7B8DC-F482-434D-AC56-4D5481AB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This convention applies to the Linux x86-64 examples in the lectures; floating point arguments use different registers.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B7C5CC-57D0-4568-9257-16EE90F8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13 / 19</a:t>
            </a:r>
          </a:p>
        </p:txBody>
      </p:sp>
    </p:spTree>
    <p:extLst>
      <p:ext uri="{BB962C8B-B14F-4D97-AF65-F5344CB8AC3E}">
        <p14:creationId xmlns:p14="http://schemas.microsoft.com/office/powerpoint/2010/main" val="101631639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AF5619-B1AF-4840-92A6-E828C77D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7–8 · STACK FRAMES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175FC7-BAA1-4586-A7AA-32C681B3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The stack keeps each call’s 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3EFBE9-100B-4467-BEF3-43A1C8CC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stack grows toward lower addresses. %rsp points at its current top.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 function may save the old %rbp, set a new frame base, and subtract from %rsp to reserve space for local data.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E66211-5305-4925-AACF-698FA191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pushq %rbp        save old frame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%rsp, %rbp   set frame base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subq $16, %rsp   reserve 16 bytes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...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leave             restore old frame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ret               return to caller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57CCD4-7877-4BAB-B6AF-A4936859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These are common unoptimized patterns, not instructions every function must contain.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0874F7-41FF-40B4-BB7A-B4E15113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14 / 19</a:t>
            </a:r>
          </a:p>
        </p:txBody>
      </p:sp>
    </p:spTree>
    <p:extLst>
      <p:ext uri="{BB962C8B-B14F-4D97-AF65-F5344CB8AC3E}">
        <p14:creationId xmlns:p14="http://schemas.microsoft.com/office/powerpoint/2010/main" val="121564289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A12284-A980-424A-8533-88955AEA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WORKED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27DF81-B184-472A-9B1C-4D966F41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A stack frame in addresses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698C16-F485-4981-83A9-A2440ACC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Suppose %rsp is 0x1000 just after call has placed the return address on the stack.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Follow the three setup instructions. Which address holds the saved %rbp? Where does the new frame begin?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B76856-90F4-4205-A753-206E9AB5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Start             rsp = 0x1000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pushq %rbp        rsp = 0x0ff8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%rsp,%rbp    rbp = 0x0ff8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subq $16,%rsp     rsp = 0x0fe8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Saved rbp: [0x0ff8]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Return address: [0x1000]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11233-1C1B-417F-9226-79572B35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Local stack space is at addresses below the new %rbp.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2A8281-EB19-4743-856F-86C7BB16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15 / 19</a:t>
            </a:r>
          </a:p>
        </p:txBody>
      </p:sp>
    </p:spTree>
    <p:extLst>
      <p:ext uri="{BB962C8B-B14F-4D97-AF65-F5344CB8AC3E}">
        <p14:creationId xmlns:p14="http://schemas.microsoft.com/office/powerpoint/2010/main" val="71097926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6E22CF-2EB5-447F-98A2-453698567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8 · C MEETS MEMORY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C1011D-9354-4BA3-8CC1-BF8F2F51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Arrays and sizeof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033280-0C8C-481A-A272-246A8B241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An array stores elements in consecutive memory. In its own scope, sizeof array measures its total bytes.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 function parameter written as int a[] is treated as a pointer, so sizeof a there measures the pointer.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E05FE1-9610-49AC-BAFE-6BA8D492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int a[5];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sizeof a / sizeof a[0]  →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void f(int a[], int length) {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// use length for bounds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A4A3FF-B340-40DC-99B7-418B3F44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For a VLA, sizeof can be evaluated at run time. In a parameter, it still describes a pointer.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4A896D-C279-4E71-8D6A-927B4C14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16 / 19</a:t>
            </a:r>
          </a:p>
        </p:txBody>
      </p:sp>
    </p:spTree>
    <p:extLst>
      <p:ext uri="{BB962C8B-B14F-4D97-AF65-F5344CB8AC3E}">
        <p14:creationId xmlns:p14="http://schemas.microsoft.com/office/powerpoint/2010/main" val="127983838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4F8E14-AFD4-478E-97B3-8BAD58B2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8 · MEMORY OWNERSHIP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4FE8C1-4BBB-4DDA-AB73-A57E8798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Variable length arrays and lifetime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5404FB-8337-4DC6-A8A6-1DCD994F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 VLA gets its length at run time. Its elements need explicit initialization.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Local array storage ends when its scope ends, so returning a pointer to that array leaves a dangling pointer.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14FA59-2D59-440E-AF6A-FA4CC56D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int n = get_count();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if (n &lt;= 0) return;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int a[n];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for (int i = 0; i &lt; n; ++i) a[i] = 0;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// a is valid only in this scope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F64C51-654B-485F-BD4B-7E9D64DE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For data that must survive a function return, use an appropriate allocation and ownership plan.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6AE578-F060-4529-96D0-4836FA49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17 / 19</a:t>
            </a:r>
          </a:p>
        </p:txBody>
      </p:sp>
    </p:spTree>
    <p:extLst>
      <p:ext uri="{BB962C8B-B14F-4D97-AF65-F5344CB8AC3E}">
        <p14:creationId xmlns:p14="http://schemas.microsoft.com/office/powerpoint/2010/main" val="210984873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F8D382-8294-4DEF-998D-68AAB7B3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BOARD PRACTICE · 3 MINUTES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E9DAEB-821C-4F01-A675-0E7F23EC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One final trace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7249AD-D2B3-442A-B698-CC600D79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Assume int is 4 bytes, %rax holds &amp;a[0], and %rcx =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What address does leaq compute? What value does movl read?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C5B83A-CD97-44F6-A54B-23E177F9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 = {10, 20, 30, 40}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%rax = 0x2000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leaq (%rax,%rcx,4), %rdx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movl (%rdx), %eax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%rdx = ?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%eax =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F33EB1-5576-4097-80DE-D9081360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Sketch four boxes, each four bytes wide, before calculating.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39F4A2-27B5-47AF-AD7E-FB89A7CF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18 / 19</a:t>
            </a:r>
          </a:p>
        </p:txBody>
      </p:sp>
    </p:spTree>
    <p:extLst>
      <p:ext uri="{BB962C8B-B14F-4D97-AF65-F5344CB8AC3E}">
        <p14:creationId xmlns:p14="http://schemas.microsoft.com/office/powerpoint/2010/main" val="67100753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84071B-3FE2-4035-84E2-79DC355D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WRAP-UP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A5C113-1700-4EC3-B000-8AFC7F9D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Trace answer and checklist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3F9950-49C0-4063-BE73-62F30D23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leaq computes 0x2000 + 2×4 = 0x2008. movl reads the 4-byte int at that address: 30.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When assembly feels dense, mark the operand type, track the changed register, then follow the next instruction.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AA3BD9-9A8C-4BEB-9D3F-055A77D8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%rdx = 0x2008   address of a[2]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%eax = 30       value of a[2]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$        literal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        register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(...)    memory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q/l      8/4 bytes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E0DABB-390B-4F1B-8F5A-FA9ABE85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Read the relevant C beside the assembly, then verify one step at a time.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CDBF3C-3A45-4A85-B8ED-949FA3CB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19 / 19</a:t>
            </a:r>
          </a:p>
        </p:txBody>
      </p:sp>
    </p:spTree>
    <p:extLst>
      <p:ext uri="{BB962C8B-B14F-4D97-AF65-F5344CB8AC3E}">
        <p14:creationId xmlns:p14="http://schemas.microsoft.com/office/powerpoint/2010/main" val="5653071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2026-09-24T04:58:26.8350000Z</dcterms:created>
  <dcterms:modified xsi:type="dcterms:W3CDTF">2026-09-24T04:58:26.8350000Z</dcterms:modified>
</coreProperties>
</file>