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e57d3a503a4ddb" /><Relationship Type="http://schemas.openxmlformats.org/officeDocument/2006/relationships/extended-properties" Target="/docProps/app.xml" Id="Ra37dfc5e5ad64766" /><Relationship Type="http://schemas.openxmlformats.org/officeDocument/2006/relationships/officeDocument" Target="/ppt/presentation.xml" Id="R8756755e82534d27" /></Relationships>
</file>

<file path=ppt/presentation.xml><?xml version="1.0" encoding="utf-8"?>
<p:presentation xmlns:p="http://schemas.openxmlformats.org/presentationml/2006/main">
  <p:sldMasterIdLst>
    <p:sldMasterId xmlns:r="http://schemas.openxmlformats.org/officeDocument/2006/relationships" id="2147483648" r:id="Ra581eb1e70f04890"/>
  </p:sldMasterIdLst>
  <p:notesMasterIdLst>
    <p:notesMasterId xmlns:r="http://schemas.openxmlformats.org/officeDocument/2006/relationships" r:id="Rbb865c280d434164"/>
  </p:notesMasterIdLst>
  <p:sldIdLst>
    <p:sldId xmlns:r="http://schemas.openxmlformats.org/officeDocument/2006/relationships" id="256" r:id="R3b3728e610b24b82"/>
    <p:sldId xmlns:r="http://schemas.openxmlformats.org/officeDocument/2006/relationships" id="257" r:id="Rdf587f2ca1514ed5"/>
    <p:sldId xmlns:r="http://schemas.openxmlformats.org/officeDocument/2006/relationships" id="258" r:id="R788d641bee0e46f7"/>
    <p:sldId xmlns:r="http://schemas.openxmlformats.org/officeDocument/2006/relationships" id="259" r:id="R30cfa2125db74ca6"/>
    <p:sldId xmlns:r="http://schemas.openxmlformats.org/officeDocument/2006/relationships" id="260" r:id="R7d53adca072f4738"/>
    <p:sldId xmlns:r="http://schemas.openxmlformats.org/officeDocument/2006/relationships" id="261" r:id="R6c66a994006c45e0"/>
    <p:sldId xmlns:r="http://schemas.openxmlformats.org/officeDocument/2006/relationships" id="262" r:id="R6f1480aea06143a6"/>
    <p:sldId xmlns:r="http://schemas.openxmlformats.org/officeDocument/2006/relationships" id="263" r:id="R9f5c3e9ab19c4953"/>
    <p:sldId xmlns:r="http://schemas.openxmlformats.org/officeDocument/2006/relationships" id="264" r:id="R163ed676201b4ca9"/>
    <p:sldId xmlns:r="http://schemas.openxmlformats.org/officeDocument/2006/relationships" id="265" r:id="R6fb00f9d361c4b4b"/>
    <p:sldId xmlns:r="http://schemas.openxmlformats.org/officeDocument/2006/relationships" id="266" r:id="Rd5a016d5364547db"/>
    <p:sldId xmlns:r="http://schemas.openxmlformats.org/officeDocument/2006/relationships" id="267" r:id="R5b09294dfc4c4a08"/>
    <p:sldId xmlns:r="http://schemas.openxmlformats.org/officeDocument/2006/relationships" id="268" r:id="Rcab8b974bc2a495c"/>
    <p:sldId xmlns:r="http://schemas.openxmlformats.org/officeDocument/2006/relationships" id="269" r:id="R4db0ca0f0c1a4f87"/>
    <p:sldId xmlns:r="http://schemas.openxmlformats.org/officeDocument/2006/relationships" id="270" r:id="R805499bc847d4ef1"/>
    <p:sldId xmlns:r="http://schemas.openxmlformats.org/officeDocument/2006/relationships" id="271" r:id="Raec2f52b08104e65"/>
    <p:sldId xmlns:r="http://schemas.openxmlformats.org/officeDocument/2006/relationships" id="272" r:id="R26a40352e6c84eb9"/>
    <p:sldId xmlns:r="http://schemas.openxmlformats.org/officeDocument/2006/relationships" id="273" r:id="Rae14098eac234600"/>
    <p:sldId xmlns:r="http://schemas.openxmlformats.org/officeDocument/2006/relationships" id="274" r:id="Rd20e5cfba2c24adb"/>
    <p:sldId xmlns:r="http://schemas.openxmlformats.org/officeDocument/2006/relationships" id="275" r:id="R0540b3cf26454380"/>
    <p:sldId xmlns:r="http://schemas.openxmlformats.org/officeDocument/2006/relationships" id="276" r:id="R03d16bfa308b42ed"/>
    <p:sldId xmlns:r="http://schemas.openxmlformats.org/officeDocument/2006/relationships" id="277" r:id="R14fcb46eb35546e3"/>
    <p:sldId xmlns:r="http://schemas.openxmlformats.org/officeDocument/2006/relationships" id="278" r:id="R86a7c2badc484d81"/>
    <p:sldId xmlns:r="http://schemas.openxmlformats.org/officeDocument/2006/relationships" id="279" r:id="Rac8466e2a79d45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d29ed3a39a4224" /><Relationship Type="http://schemas.openxmlformats.org/officeDocument/2006/relationships/slideMaster" Target="/ppt/slideMasters/slideMaster1.xml" Id="Ra581eb1e70f04890" /><Relationship Type="http://schemas.openxmlformats.org/officeDocument/2006/relationships/notesMaster" Target="/ppt/notesMasters/notesMaster1.xml" Id="Rbb865c280d434164" /><Relationship Type="http://schemas.openxmlformats.org/officeDocument/2006/relationships/presProps" Target="/ppt/presProps.xml" Id="Ree3f9ef76e944bec" /><Relationship Type="http://schemas.openxmlformats.org/officeDocument/2006/relationships/tableStyles" Target="/ppt/tableStyles.xml" Id="R892e204177564eb9" /><Relationship Type="http://schemas.openxmlformats.org/officeDocument/2006/relationships/slide" Target="/ppt/slides/slide1.xml" Id="R3b3728e610b24b82" /><Relationship Type="http://schemas.openxmlformats.org/officeDocument/2006/relationships/slide" Target="/ppt/slides/slide2.xml" Id="Rdf587f2ca1514ed5" /><Relationship Type="http://schemas.openxmlformats.org/officeDocument/2006/relationships/slide" Target="/ppt/slides/slide3.xml" Id="R788d641bee0e46f7" /><Relationship Type="http://schemas.openxmlformats.org/officeDocument/2006/relationships/slide" Target="/ppt/slides/slide4.xml" Id="R30cfa2125db74ca6" /><Relationship Type="http://schemas.openxmlformats.org/officeDocument/2006/relationships/slide" Target="/ppt/slides/slide5.xml" Id="R7d53adca072f4738" /><Relationship Type="http://schemas.openxmlformats.org/officeDocument/2006/relationships/slide" Target="/ppt/slides/slide6.xml" Id="R6c66a994006c45e0" /><Relationship Type="http://schemas.openxmlformats.org/officeDocument/2006/relationships/slide" Target="/ppt/slides/slide7.xml" Id="R6f1480aea06143a6" /><Relationship Type="http://schemas.openxmlformats.org/officeDocument/2006/relationships/slide" Target="/ppt/slides/slide8.xml" Id="R9f5c3e9ab19c4953" /><Relationship Type="http://schemas.openxmlformats.org/officeDocument/2006/relationships/slide" Target="/ppt/slides/slide9.xml" Id="R163ed676201b4ca9" /><Relationship Type="http://schemas.openxmlformats.org/officeDocument/2006/relationships/slide" Target="/ppt/slides/slide10.xml" Id="R6fb00f9d361c4b4b" /><Relationship Type="http://schemas.openxmlformats.org/officeDocument/2006/relationships/slide" Target="/ppt/slides/slide11.xml" Id="Rd5a016d5364547db" /><Relationship Type="http://schemas.openxmlformats.org/officeDocument/2006/relationships/slide" Target="/ppt/slides/slide12.xml" Id="R5b09294dfc4c4a08" /><Relationship Type="http://schemas.openxmlformats.org/officeDocument/2006/relationships/slide" Target="/ppt/slides/slide13.xml" Id="Rcab8b974bc2a495c" /><Relationship Type="http://schemas.openxmlformats.org/officeDocument/2006/relationships/slide" Target="/ppt/slides/slide14.xml" Id="R4db0ca0f0c1a4f87" /><Relationship Type="http://schemas.openxmlformats.org/officeDocument/2006/relationships/slide" Target="/ppt/slides/slide15.xml" Id="R805499bc847d4ef1" /><Relationship Type="http://schemas.openxmlformats.org/officeDocument/2006/relationships/slide" Target="/ppt/slides/slide16.xml" Id="Raec2f52b08104e65" /><Relationship Type="http://schemas.openxmlformats.org/officeDocument/2006/relationships/slide" Target="/ppt/slides/slide17.xml" Id="R26a40352e6c84eb9" /><Relationship Type="http://schemas.openxmlformats.org/officeDocument/2006/relationships/slide" Target="/ppt/slides/slide18.xml" Id="Rae14098eac234600" /><Relationship Type="http://schemas.openxmlformats.org/officeDocument/2006/relationships/slide" Target="/ppt/slides/slide19.xml" Id="Rd20e5cfba2c24adb" /><Relationship Type="http://schemas.openxmlformats.org/officeDocument/2006/relationships/slide" Target="/ppt/slides/slide20.xml" Id="R0540b3cf26454380" /><Relationship Type="http://schemas.openxmlformats.org/officeDocument/2006/relationships/slide" Target="/ppt/slides/slide21.xml" Id="R03d16bfa308b42ed" /><Relationship Type="http://schemas.openxmlformats.org/officeDocument/2006/relationships/slide" Target="/ppt/slides/slide22.xml" Id="R14fcb46eb35546e3" /><Relationship Type="http://schemas.openxmlformats.org/officeDocument/2006/relationships/slide" Target="/ppt/slides/slide23.xml" Id="R86a7c2badc484d81" /><Relationship Type="http://schemas.openxmlformats.org/officeDocument/2006/relationships/slide" Target="/ppt/slides/slide24.xml" Id="Rac8466e2a79d45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81b10a82a84c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5f28261061407a" /><Relationship Type="http://schemas.openxmlformats.org/officeDocument/2006/relationships/notesMaster" Target="/ppt/notesMasters/notesMaster1.xml" Id="R55dbab0927814c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2016b981164a3f" /><Relationship Type="http://schemas.openxmlformats.org/officeDocument/2006/relationships/notesMaster" Target="/ppt/notesMasters/notesMaster1.xml" Id="R69bf2059f2834d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34dba0d0054e8f" /><Relationship Type="http://schemas.openxmlformats.org/officeDocument/2006/relationships/notesMaster" Target="/ppt/notesMasters/notesMaster1.xml" Id="Rf722919b7a464a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85058d48a9493f" /><Relationship Type="http://schemas.openxmlformats.org/officeDocument/2006/relationships/notesMaster" Target="/ppt/notesMasters/notesMaster1.xml" Id="Rba65ad2bee904c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cb45a8839e42b0" /><Relationship Type="http://schemas.openxmlformats.org/officeDocument/2006/relationships/notesMaster" Target="/ppt/notesMasters/notesMaster1.xml" Id="Rf705dfca21ff4c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a07251606c4d22" /><Relationship Type="http://schemas.openxmlformats.org/officeDocument/2006/relationships/notesMaster" Target="/ppt/notesMasters/notesMaster1.xml" Id="Rf6c28ad0850147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882f64556849e2" /><Relationship Type="http://schemas.openxmlformats.org/officeDocument/2006/relationships/notesMaster" Target="/ppt/notesMasters/notesMaster1.xml" Id="Rab7e401b334f46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bf11f41acb42d4" /><Relationship Type="http://schemas.openxmlformats.org/officeDocument/2006/relationships/notesMaster" Target="/ppt/notesMasters/notesMaster1.xml" Id="Rdc96c76ee2944f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0b2089cb4544ed" /><Relationship Type="http://schemas.openxmlformats.org/officeDocument/2006/relationships/notesMaster" Target="/ppt/notesMasters/notesMaster1.xml" Id="R990eeb031c8e44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d27f37a99148dd" /><Relationship Type="http://schemas.openxmlformats.org/officeDocument/2006/relationships/notesMaster" Target="/ppt/notesMasters/notesMaster1.xml" Id="Rff64203c13024a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e38b15d38f4329" /><Relationship Type="http://schemas.openxmlformats.org/officeDocument/2006/relationships/notesMaster" Target="/ppt/notesMasters/notesMaster1.xml" Id="R29b662bfcef84f4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ef7a60bec9b48d8" /><Relationship Type="http://schemas.openxmlformats.org/officeDocument/2006/relationships/notesMaster" Target="/ppt/notesMasters/notesMaster1.xml" Id="R23139194f27042b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025a0c0d784d53" /><Relationship Type="http://schemas.openxmlformats.org/officeDocument/2006/relationships/notesMaster" Target="/ppt/notesMasters/notesMaster1.xml" Id="R78f1b328011649a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7dd073ef2dd4d8c" /><Relationship Type="http://schemas.openxmlformats.org/officeDocument/2006/relationships/notesMaster" Target="/ppt/notesMasters/notesMaster1.xml" Id="R0c90d1d4d9094b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ab87a832b464fcc" /><Relationship Type="http://schemas.openxmlformats.org/officeDocument/2006/relationships/notesMaster" Target="/ppt/notesMasters/notesMaster1.xml" Id="R219becee4fa745f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be87ea81d3b4888" /><Relationship Type="http://schemas.openxmlformats.org/officeDocument/2006/relationships/notesMaster" Target="/ppt/notesMasters/notesMaster1.xml" Id="R8b6b3d924cfc486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4b07896cd0c4063" /><Relationship Type="http://schemas.openxmlformats.org/officeDocument/2006/relationships/notesMaster" Target="/ppt/notesMasters/notesMaster1.xml" Id="R08bc40eb7e894a0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a322a5abec643dc" /><Relationship Type="http://schemas.openxmlformats.org/officeDocument/2006/relationships/notesMaster" Target="/ppt/notesMasters/notesMaster1.xml" Id="R2bcf671330d8455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4053a56dc8f43e6" /><Relationship Type="http://schemas.openxmlformats.org/officeDocument/2006/relationships/notesMaster" Target="/ppt/notesMasters/notesMaster1.xml" Id="Rb9ea9a714b4a4c6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968792c0cf54ff4" /><Relationship Type="http://schemas.openxmlformats.org/officeDocument/2006/relationships/notesMaster" Target="/ppt/notesMasters/notesMaster1.xml" Id="R90e0a796762e49a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cede31015a74938" /><Relationship Type="http://schemas.openxmlformats.org/officeDocument/2006/relationships/notesMaster" Target="/ppt/notesMasters/notesMaster1.xml" Id="R837c154b0a704ad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49461823f154836" /><Relationship Type="http://schemas.openxmlformats.org/officeDocument/2006/relationships/notesMaster" Target="/ppt/notesMasters/notesMaster1.xml" Id="R798ef859ff304d6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d95449383a94f90" /><Relationship Type="http://schemas.openxmlformats.org/officeDocument/2006/relationships/notesMaster" Target="/ppt/notesMasters/notesMaster1.xml" Id="R18023435d881481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49f319fe6354d69" /><Relationship Type="http://schemas.openxmlformats.org/officeDocument/2006/relationships/notesMaster" Target="/ppt/notesMasters/notesMaster1.xml" Id="Rdbd0f46928cc48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50-minute pacing: binary place values and fields 7 min; normal values 10 min; quiz review 4 min; subnormals and the boundary 12 min; decoding and encoding practice 7 min; rounding and spacing 3 min; HW3 preview and recap 7 min. Pause after the quiz question before revealing the answer. The HW3 details are based on the professor’s description supplied by the TA; the assignment is not officially posted. Source: lecture 6 and the quiz screenshot supplied by the 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planned assignment accepts exponent-bit count, bias, significand-bit count, numerator, and denominator. Do not present this as the released homework. Explain that these are stored fields, not decimal digits. Here F means the integer represented by the three fraction bits. Lecture 6 reviews normal and subnormal equations.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Draw place-value columns before introducing exponent fields. This bridges base-2 arithmetic to the 5/4 and 3/16 examples. The 0.101₂ example equals 0.625.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Draw place-value columns 1, 1/2, 1/4, 1/8. 1.010 binary is exactly 1.25. The trailing zero pads the practice format; it does not change the value. The examples are constructed for teaching, not copied from the unreleased 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notation before either formula: this deck uses E for the stored unsigned field and e for the unbiased true exponent. Thus decode e=E−bias; encode E=e+bias. A student may have seen E=e−bias where their E means true exponent. Both describe the same operation with different names. Normal fields have stored E from 1 through 6 in this toy format. E=0 is for zero/subnormals and E=7 is reserved. The planned homework supplies the bias explicitly.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through this slowly on the board. Ask which part of 1.010 is stored: 010. The lecture equation is (−1)^S × 2^(E−bias) × (1+F/2^sig_bits). For E=3, bias=3, F=2, sig_bits=3 the result is exactly 1.25.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at each field and ask students what it means. The sign is zero. E=2 lies in the normal range, e=-1, and F=5. The value is 0.8125.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adapted from the quiz screenshot supplied by the TA. Give students one or two minutes. The question asks for the closest representable value and the decimal values of the sign, exponent, and significand fields. It is an exact case, so no rounding is needed. Keep the answer hidden until the next slide. The quiz calls the two stored fraction bits significand bits.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Quiz screenshot supplied by the TA. Decode the fields aloud: sign bit 1 makes the value negative; 01111₂ is 15, so true exponent 15−15=0; 00₂ is stored significand field 0, with implied leading 1 for a normal value. Thus (−1)^1 × (1+0/4) × 2^0=−1.0. The reserved all-ones exponent is 11111₂=31, not 01111₂=15. Explicitly tell students that an exact target is its own closest representable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giving the subnormal rule. Ask: if E=1 is the smallest normal field, where could 1/8 go? A normal encoding would need true exponent −3 and stored E=0, but zero is reserved for a different rule. The next slide explains that rule using binary digits rather than a formula first. Source: lecture 6 normal and subnormal equations.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same scale before and after the boundary: 2^(1−bias)=2^-2. This is the key change: replace the normal hidden 1 with 0. Do not compute 0−bias for E=0. Ask students why 0.100 binary is 1/2, then multiply by 1/4 to get 1/8. Source: lecture 6 subnormal equation.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Derive the step: one fraction unit is 1/8; multiplying by 2^-2=1/4 gives 1/32. For this practice format, E=0,F=0 is zero and E=0,F=1..7 are positive subnormals. Let students answer 8/32=1/4 before the boundary slide. Source: lecture 6 subnormal equation.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calculation concrete: 1/8=4/32, so F=4. Decode using 0.100 binary times 2^-2: 1/2 times 1/4 is 1/8. Ask why E is zero and why F is four. Source: lecture 6 subnormal equation.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Link back to the question on the previous step table. The step from 7/32 to 8/32 is 1/32, matching the subnormal spacing. E=0 does not mean exponent −3; both values use 2^-2. Source: lecture 6 normal and subnormal equations.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two to three minutes. A is normal: E=2,F=4, value (1+4/8)×2^-1=3/4. B is subnormal: E=0,F=3, value 3/32. Ask students to name the equation before calculating.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students explain why B is not (1+3/8)×2^-3. The exponent for subnormals is fixed at 1−bias=-2, and the leading 1 is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two minutes. Both examples are exactly representable, so no rounding rule is needed. Ask students to check results by substituting E and F into the appropriate formula.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reveal until students have tried both. Emphasize that E=0 is a category marker here, not the unbiased exponent. E=3 represents true exponent zero because bias is three.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future homework description does not specify rounding, so do not teach truncation or nearest as a required rule. Here E=1 for both nearby normals. 5/16=0.3125, 11/32=0.34375, and 1/3≈0.3333. This replaces the earlier abstract associativity slide with a representation example directly tied to the professor's stated learning goal.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normals with fixed E, incrementing F by one changes the value by 2^(E−bias)/8. Show how this connects to the rounding slide and lecture 6’s discussion of gaps between floats.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Based on the professor’s preview supplied by the TA. The intended command-line inputs are exponent bits, bias, significand bits, numerator, and denominator, in that order. The output contains the exponent and significand field values. Use 5/2 as a new teaching example. The final handout may add input and rounding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example is mathematically exact and uses the planned input order. Important TA note: the supplied draft solution computes the normal significand as (numerator &lt;&lt; sig_bits)/denominator − 2^sig_bits without scaling by 2^power_of_two. For these inputs that draft gives F=12, outside the three-bit range, rather than F=2. Do not present that draft code as a correct answer key until the normal path is fixed. Source: professor’s preview and lecture 6 normal-value equation.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p is the number of significand bits. For exact examples, solve the equation algebraically. The eventual homework may specify how to round values that fall between encodings, so do not assume a rounding rule yet. This is a conceptual approach, not a copy of the unreleased source code. Source: professor’s preview and lecture 6 equations.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the two mistakes most likely to occur: forgetting to add the bias for a normal exponent, and using the normal hidden 1 for a subnormal. Do not reveal the unreleased homework solution. Remind students to follow the eventual assignment’s rounding and valid-input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09aba319484c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db0817232f4ed7" /><Relationship Type="http://schemas.openxmlformats.org/officeDocument/2006/relationships/slideLayout" Target="/ppt/slideLayouts/slideLayout1.xml" Id="R37788616201544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788616201544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d2cf8729a5742ec" /><Relationship Type="http://schemas.openxmlformats.org/officeDocument/2006/relationships/notesSlide" Target="/ppt/notesSlides/notesSlide1.xml" Id="Rd54c7e04257149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68db0ab7c864f76" /><Relationship Type="http://schemas.openxmlformats.org/officeDocument/2006/relationships/notesSlide" Target="/ppt/notesSlides/notesSlide2.xml" Id="Rfdc9dd473fce4f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b19c4a9aed4386" /><Relationship Type="http://schemas.openxmlformats.org/officeDocument/2006/relationships/notesSlide" Target="/ppt/notesSlides/notesSlide3.xml" Id="Rf426c55a18f246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ffe88a8a644bbd" /><Relationship Type="http://schemas.openxmlformats.org/officeDocument/2006/relationships/notesSlide" Target="/ppt/notesSlides/notesSlide4.xml" Id="Rfccbaffab2414a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e18e4ed92e54187" /><Relationship Type="http://schemas.openxmlformats.org/officeDocument/2006/relationships/notesSlide" Target="/ppt/notesSlides/notesSlide5.xml" Id="Rd48b384582f940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ad6fff7d18c4fae" /><Relationship Type="http://schemas.openxmlformats.org/officeDocument/2006/relationships/notesSlide" Target="/ppt/notesSlides/notesSlide6.xml" Id="R7ca1edcfafdc4f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1fcbbdb72d8488e" /><Relationship Type="http://schemas.openxmlformats.org/officeDocument/2006/relationships/notesSlide" Target="/ppt/notesSlides/notesSlide7.xml" Id="Rf02834e7374b43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c3a6f77c5849f7" /><Relationship Type="http://schemas.openxmlformats.org/officeDocument/2006/relationships/notesSlide" Target="/ppt/notesSlides/notesSlide8.xml" Id="Re196014904524c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9d9d3a67dfa413b" /><Relationship Type="http://schemas.openxmlformats.org/officeDocument/2006/relationships/notesSlide" Target="/ppt/notesSlides/notesSlide9.xml" Id="Rd718731966f14d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c695c8ba53348e6" /><Relationship Type="http://schemas.openxmlformats.org/officeDocument/2006/relationships/notesSlide" Target="/ppt/notesSlides/notesSlide10.xml" Id="Re8d01b09547e410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cc4be1130cd49d0" /><Relationship Type="http://schemas.openxmlformats.org/officeDocument/2006/relationships/notesSlide" Target="/ppt/notesSlides/notesSlide11.xml" Id="R19a1ec108c41486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dd614ad17f040e2" /><Relationship Type="http://schemas.openxmlformats.org/officeDocument/2006/relationships/notesSlide" Target="/ppt/notesSlides/notesSlide12.xml" Id="R38af57a36bb5410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5904d9fad0b4cbb" /><Relationship Type="http://schemas.openxmlformats.org/officeDocument/2006/relationships/notesSlide" Target="/ppt/notesSlides/notesSlide13.xml" Id="R7d9f7c3f25f948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303bd631ff04a6b" /><Relationship Type="http://schemas.openxmlformats.org/officeDocument/2006/relationships/notesSlide" Target="/ppt/notesSlides/notesSlide14.xml" Id="Ra57f7bf5a59d490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46637bddbae4741" /><Relationship Type="http://schemas.openxmlformats.org/officeDocument/2006/relationships/notesSlide" Target="/ppt/notesSlides/notesSlide15.xml" Id="R66e815da292940d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0d1998a96bb4af8" /><Relationship Type="http://schemas.openxmlformats.org/officeDocument/2006/relationships/notesSlide" Target="/ppt/notesSlides/notesSlide16.xml" Id="R2e841e58023a403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4adbc91a61542bd" /><Relationship Type="http://schemas.openxmlformats.org/officeDocument/2006/relationships/notesSlide" Target="/ppt/notesSlides/notesSlide17.xml" Id="R374328b330504d6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a603177dfcf4060" /><Relationship Type="http://schemas.openxmlformats.org/officeDocument/2006/relationships/notesSlide" Target="/ppt/notesSlides/notesSlide18.xml" Id="R48bce46ea1a34a8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3be17e4eb30435a" /><Relationship Type="http://schemas.openxmlformats.org/officeDocument/2006/relationships/notesSlide" Target="/ppt/notesSlides/notesSlide19.xml" Id="Rc4edd0c43ac748a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e868fd4df814535" /><Relationship Type="http://schemas.openxmlformats.org/officeDocument/2006/relationships/notesSlide" Target="/ppt/notesSlides/notesSlide20.xml" Id="Rc3dba146652e406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8489d1e897f4ebc" /><Relationship Type="http://schemas.openxmlformats.org/officeDocument/2006/relationships/notesSlide" Target="/ppt/notesSlides/notesSlide21.xml" Id="Rc591518095704df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27014527c6e43e7" /><Relationship Type="http://schemas.openxmlformats.org/officeDocument/2006/relationships/notesSlide" Target="/ppt/notesSlides/notesSlide22.xml" Id="R99d571afa257485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a9b5f95d43541bf" /><Relationship Type="http://schemas.openxmlformats.org/officeDocument/2006/relationships/notesSlide" Target="/ppt/notesSlides/notesSlide23.xml" Id="R76e2ff87d636406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004a5019d024f35" /><Relationship Type="http://schemas.openxmlformats.org/officeDocument/2006/relationships/notesSlide" Target="/ppt/notesSlides/notesSlide24.xml" Id="R89540fc287f74002" /></Relationships>
</file>

<file path=ppt/slides/slide1.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B5A9CF-720A-44C7-8892-52DB130A17A2}"/>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CS 211 · RECITATION 03</a:t>
            </a:r>
          </a:p>
        </p:txBody>
      </p:sp>
      <p:sp>
        <p:nvSpPr>
          <p:cNvPr id="2" name="">
            <a:extLst xmlns:a="http://schemas.openxmlformats.org/drawingml/2006/main">
              <a:ext uri="{FF2B5EF4-FFF2-40B4-BE49-F238E27FC236}">
                <a16:creationId xmlns:a16="http://schemas.microsoft.com/office/drawing/2014/main" id="{A14C0B84-CEFB-4C94-9A52-E2F799B7FBED}"/>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4500" b="0">
                <a:solidFill>
                  <a:srgbClr val="FAFAFA"/>
                </a:solidFill>
                <a:latin typeface="Arial"/>
                <a:ea typeface="Arial"/>
                <a:cs typeface="Arial"/>
              </a:defRPr>
            </a:pPr>
            <a:r>
              <a:rPr sz="4500" b="0">
                <a:solidFill>
                  <a:srgbClr val="FAFAFA"/>
                </a:solidFill>
                <a:latin typeface="Arial"/>
                <a:ea typeface="Arial"/>
                <a:cs typeface="Arial"/>
              </a:rPr>
              <a:t>Floating point numbers</a:t>
            </a:r>
          </a:p>
        </p:txBody>
      </p:sp>
      <p:sp>
        <p:nvSpPr>
          <p:cNvPr id="3" name="">
            <a:extLst xmlns:a="http://schemas.openxmlformats.org/drawingml/2006/main">
              <a:ext uri="{FF2B5EF4-FFF2-40B4-BE49-F238E27FC236}">
                <a16:creationId xmlns:a16="http://schemas.microsoft.com/office/drawing/2014/main" id="{12DCB16E-01E0-44DC-B52E-55F3E014E7A7}"/>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2100" b="0">
                <a:solidFill>
                  <a:srgbClr val="D4D4D8"/>
                </a:solidFill>
                <a:latin typeface="Arial"/>
                <a:ea typeface="Arial"/>
                <a:cs typeface="Arial"/>
              </a:defRPr>
            </a:pPr>
            <a:r>
              <a:rPr sz="2100" b="0">
                <a:solidFill>
                  <a:srgbClr val="D4D4D8"/>
                </a:solidFill>
                <a:latin typeface="Arial"/>
                <a:ea typeface="Arial"/>
                <a:cs typeface="Arial"/>
              </a:rPr>
              <a:t>Build and decode numbers in a small floating point format. We will work through the bits before worrying about implementation.</a:t>
            </a:r>
          </a:p>
        </p:txBody>
      </p:sp>
      <p:sp>
        <p:nvSpPr>
          <p:cNvPr id="4" name="">
            <a:extLst xmlns:a="http://schemas.openxmlformats.org/drawingml/2006/main">
              <a:ext uri="{FF2B5EF4-FFF2-40B4-BE49-F238E27FC236}">
                <a16:creationId xmlns:a16="http://schemas.microsoft.com/office/drawing/2014/main" id="{8A4BFE31-4E89-4E9C-A6C1-6B1DC19BC25A}"/>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Today’s path</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Binary fractions</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Exponent and significand fields</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Quiz review: −1.0</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Normal and subnormal values</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Practice with ratios and bit patterns</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HW3 preview</a:t>
            </a:r>
          </a:p>
        </p:txBody>
      </p:sp>
      <p:sp>
        <p:nvSpPr>
          <p:cNvPr id="5" name="">
            <a:extLst xmlns:a="http://schemas.openxmlformats.org/drawingml/2006/main">
              <a:ext uri="{FF2B5EF4-FFF2-40B4-BE49-F238E27FC236}">
                <a16:creationId xmlns:a16="http://schemas.microsoft.com/office/drawing/2014/main" id="{969A9A68-0243-45E1-8E3A-073C6455A09E}"/>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Every example uses a tiny format so every bit has a visible job.</a:t>
            </a:r>
          </a:p>
        </p:txBody>
      </p:sp>
      <p:sp>
        <p:nvSpPr>
          <p:cNvPr id="6" name="">
            <a:extLst xmlns:a="http://schemas.openxmlformats.org/drawingml/2006/main">
              <a:ext uri="{FF2B5EF4-FFF2-40B4-BE49-F238E27FC236}">
                <a16:creationId xmlns:a16="http://schemas.microsoft.com/office/drawing/2014/main" id="{83875137-4A77-4850-9E53-34918B663FF4}"/>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01 / 24</a:t>
            </a:r>
          </a:p>
        </p:txBody>
      </p:sp>
    </p:spTree>
    <p:extLst>
      <p:ext uri="{BB962C8B-B14F-4D97-AF65-F5344CB8AC3E}">
        <p14:creationId xmlns:p14="http://schemas.microsoft.com/office/powerpoint/2010/main" val="2003878777"/>
      </p:ext>
    </p:extLst>
  </p:cSld>
</p:sld>
</file>

<file path=ppt/slides/slide2.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DFA7D7-A9A4-4E20-B4BB-8F5429B7E714}"/>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FORMAT</a:t>
            </a:r>
          </a:p>
        </p:txBody>
      </p:sp>
      <p:sp>
        <p:nvSpPr>
          <p:cNvPr id="2" name="">
            <a:extLst xmlns:a="http://schemas.openxmlformats.org/drawingml/2006/main">
              <a:ext uri="{FF2B5EF4-FFF2-40B4-BE49-F238E27FC236}">
                <a16:creationId xmlns:a16="http://schemas.microsoft.com/office/drawing/2014/main" id="{807B417B-A1A4-4103-A251-41297467A68C}"/>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A float has three fields</a:t>
            </a:r>
          </a:p>
        </p:txBody>
      </p:sp>
      <p:sp>
        <p:nvSpPr>
          <p:cNvPr id="3" name="">
            <a:extLst xmlns:a="http://schemas.openxmlformats.org/drawingml/2006/main">
              <a:ext uri="{FF2B5EF4-FFF2-40B4-BE49-F238E27FC236}">
                <a16:creationId xmlns:a16="http://schemas.microsoft.com/office/drawing/2014/main" id="{A6F05AB9-C2BF-4BB7-9199-FEA1FA113B01}"/>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The sign says positive or negative. The exponent sets the scale. The significand carries the detail.</a:t>
            </a:r>
          </a:p>
          <a:p xmlns:a="http://schemas.openxmlformats.org/drawingml/2006/main">
            <a:r>
              <a:t/>
            </a:r>
          </a:p>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For our nonnegative examples, the sign bit is always 0.</a:t>
            </a:r>
          </a:p>
        </p:txBody>
      </p:sp>
      <p:sp>
        <p:nvSpPr>
          <p:cNvPr id="4" name="">
            <a:extLst xmlns:a="http://schemas.openxmlformats.org/drawingml/2006/main">
              <a:ext uri="{FF2B5EF4-FFF2-40B4-BE49-F238E27FC236}">
                <a16:creationId xmlns:a16="http://schemas.microsoft.com/office/drawing/2014/main" id="{76F2FAC3-6750-4FCE-BD25-11D79F5C3EEC}"/>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Practice format</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S  |  EEE  |  FFF</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0  |  011  |  010</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1 sign bit, 3 exponent bits,</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3 stored significand (fraction) bits</a:t>
            </a:r>
          </a:p>
        </p:txBody>
      </p:sp>
      <p:sp>
        <p:nvSpPr>
          <p:cNvPr id="5" name="">
            <a:extLst xmlns:a="http://schemas.openxmlformats.org/drawingml/2006/main">
              <a:ext uri="{FF2B5EF4-FFF2-40B4-BE49-F238E27FC236}">
                <a16:creationId xmlns:a16="http://schemas.microsoft.com/office/drawing/2014/main" id="{4BDF5D24-84A8-44EF-90E7-5DEFDD23FFAC}"/>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Normal values also have a leading 1 that is implied rather than stored.</a:t>
            </a:r>
          </a:p>
        </p:txBody>
      </p:sp>
      <p:sp>
        <p:nvSpPr>
          <p:cNvPr id="6" name="">
            <a:extLst xmlns:a="http://schemas.openxmlformats.org/drawingml/2006/main">
              <a:ext uri="{FF2B5EF4-FFF2-40B4-BE49-F238E27FC236}">
                <a16:creationId xmlns:a16="http://schemas.microsoft.com/office/drawing/2014/main" id="{BB18D6FA-A861-47F3-A379-560FF106EC0D}"/>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02 / 24</a:t>
            </a:r>
          </a:p>
        </p:txBody>
      </p:sp>
    </p:spTree>
    <p:extLst>
      <p:ext uri="{BB962C8B-B14F-4D97-AF65-F5344CB8AC3E}">
        <p14:creationId xmlns:p14="http://schemas.microsoft.com/office/powerpoint/2010/main" val="543148191"/>
      </p:ext>
    </p:extLst>
  </p:cSld>
</p:sld>
</file>

<file path=ppt/slides/slide3.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D392E2-ECE4-47EE-B3D0-9D82E9C110AB}"/>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PLACE VALUES</a:t>
            </a:r>
          </a:p>
        </p:txBody>
      </p:sp>
      <p:sp>
        <p:nvSpPr>
          <p:cNvPr id="2" name="">
            <a:extLst xmlns:a="http://schemas.openxmlformats.org/drawingml/2006/main">
              <a:ext uri="{FF2B5EF4-FFF2-40B4-BE49-F238E27FC236}">
                <a16:creationId xmlns:a16="http://schemas.microsoft.com/office/drawing/2014/main" id="{0FA87D23-1C78-4E8D-BE9A-8D7DD6EC2DE8}"/>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Binary fractions use halves</a:t>
            </a:r>
          </a:p>
        </p:txBody>
      </p:sp>
      <p:sp>
        <p:nvSpPr>
          <p:cNvPr id="3" name="">
            <a:extLst xmlns:a="http://schemas.openxmlformats.org/drawingml/2006/main">
              <a:ext uri="{FF2B5EF4-FFF2-40B4-BE49-F238E27FC236}">
                <a16:creationId xmlns:a16="http://schemas.microsoft.com/office/drawing/2014/main" id="{33AD77F0-B9D5-4B25-9CB0-F3C4860335FB}"/>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Digits after a binary point are worth 1/2, 1/4, 1/8, and so on. A zero means that place contributes nothing.</a:t>
            </a:r>
          </a:p>
          <a:p xmlns:a="http://schemas.openxmlformats.org/drawingml/2006/main">
            <a:r>
              <a:t/>
            </a:r>
          </a:p>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Add the places marked 1 to find the value.</a:t>
            </a:r>
          </a:p>
        </p:txBody>
      </p:sp>
      <p:sp>
        <p:nvSpPr>
          <p:cNvPr id="4" name="">
            <a:extLst xmlns:a="http://schemas.openxmlformats.org/drawingml/2006/main">
              <a:ext uri="{FF2B5EF4-FFF2-40B4-BE49-F238E27FC236}">
                <a16:creationId xmlns:a16="http://schemas.microsoft.com/office/drawing/2014/main" id="{9042D823-812C-45B1-B937-3F76BB8CC4E9}"/>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0.101₂</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1 × 1/2 = 1/2</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0 × 1/4 = 0</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1 × 1/8 = 1/8</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Total = 5/8</a:t>
            </a:r>
          </a:p>
        </p:txBody>
      </p:sp>
      <p:sp>
        <p:nvSpPr>
          <p:cNvPr id="5" name="">
            <a:extLst xmlns:a="http://schemas.openxmlformats.org/drawingml/2006/main">
              <a:ext uri="{FF2B5EF4-FFF2-40B4-BE49-F238E27FC236}">
                <a16:creationId xmlns:a16="http://schemas.microsoft.com/office/drawing/2014/main" id="{F772C52A-EF74-4A1F-8EE9-C24F596DDA95}"/>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Ask students to read 0.011₂ aloud as 1/4 + 1/8 = 3/8.</a:t>
            </a:r>
          </a:p>
        </p:txBody>
      </p:sp>
      <p:sp>
        <p:nvSpPr>
          <p:cNvPr id="6" name="">
            <a:extLst xmlns:a="http://schemas.openxmlformats.org/drawingml/2006/main">
              <a:ext uri="{FF2B5EF4-FFF2-40B4-BE49-F238E27FC236}">
                <a16:creationId xmlns:a16="http://schemas.microsoft.com/office/drawing/2014/main" id="{F1AFEE4C-B9E4-4741-91C8-4F97DD41E561}"/>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03 / 24</a:t>
            </a:r>
          </a:p>
        </p:txBody>
      </p:sp>
    </p:spTree>
    <p:extLst>
      <p:ext uri="{BB962C8B-B14F-4D97-AF65-F5344CB8AC3E}">
        <p14:creationId xmlns:p14="http://schemas.microsoft.com/office/powerpoint/2010/main" val="291771276"/>
      </p:ext>
    </p:extLst>
  </p:cSld>
</p:sld>
</file>

<file path=ppt/slides/slide4.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2B8F6E-916B-4F1A-B1DE-7F8CF9815ED1}"/>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FIRST STEP</a:t>
            </a:r>
          </a:p>
        </p:txBody>
      </p:sp>
      <p:sp>
        <p:nvSpPr>
          <p:cNvPr id="2" name="">
            <a:extLst xmlns:a="http://schemas.openxmlformats.org/drawingml/2006/main">
              <a:ext uri="{FF2B5EF4-FFF2-40B4-BE49-F238E27FC236}">
                <a16:creationId xmlns:a16="http://schemas.microsoft.com/office/drawing/2014/main" id="{46C07235-B5C4-4979-B81B-2ED6B27EB17B}"/>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Write a ratio in binary</a:t>
            </a:r>
          </a:p>
        </p:txBody>
      </p:sp>
      <p:sp>
        <p:nvSpPr>
          <p:cNvPr id="3" name="">
            <a:extLst xmlns:a="http://schemas.openxmlformats.org/drawingml/2006/main">
              <a:ext uri="{FF2B5EF4-FFF2-40B4-BE49-F238E27FC236}">
                <a16:creationId xmlns:a16="http://schemas.microsoft.com/office/drawing/2014/main" id="{A5C4A061-A866-4339-8D2C-DCC225B16872}"/>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Start with the value, before thinking about fields.</a:t>
            </a:r>
          </a:p>
          <a:p xmlns:a="http://schemas.openxmlformats.org/drawingml/2006/main">
            <a:r>
              <a:t/>
            </a:r>
          </a:p>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5/4 is 1.25 in decimal. The quarter is 2⁻², so 5/4 is 1.01 in binary.</a:t>
            </a:r>
          </a:p>
        </p:txBody>
      </p:sp>
      <p:sp>
        <p:nvSpPr>
          <p:cNvPr id="4" name="">
            <a:extLst xmlns:a="http://schemas.openxmlformats.org/drawingml/2006/main">
              <a:ext uri="{FF2B5EF4-FFF2-40B4-BE49-F238E27FC236}">
                <a16:creationId xmlns:a16="http://schemas.microsoft.com/office/drawing/2014/main" id="{7B4F2147-9B56-4059-8DF7-AE2DD714A12F}"/>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5/4 = 1 + 1/4</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 1 + 2⁻²</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 1.01₂</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With 3 fraction bits: 1.010₂</a:t>
            </a:r>
          </a:p>
        </p:txBody>
      </p:sp>
      <p:sp>
        <p:nvSpPr>
          <p:cNvPr id="5" name="">
            <a:extLst xmlns:a="http://schemas.openxmlformats.org/drawingml/2006/main">
              <a:ext uri="{FF2B5EF4-FFF2-40B4-BE49-F238E27FC236}">
                <a16:creationId xmlns:a16="http://schemas.microsoft.com/office/drawing/2014/main" id="{A6E6F628-BA88-4D78-A4F2-3E09B0641802}"/>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Binary places after the point are 1/2, 1/4, 1/8, and so on.</a:t>
            </a:r>
          </a:p>
        </p:txBody>
      </p:sp>
      <p:sp>
        <p:nvSpPr>
          <p:cNvPr id="6" name="">
            <a:extLst xmlns:a="http://schemas.openxmlformats.org/drawingml/2006/main">
              <a:ext uri="{FF2B5EF4-FFF2-40B4-BE49-F238E27FC236}">
                <a16:creationId xmlns:a16="http://schemas.microsoft.com/office/drawing/2014/main" id="{9EA450FB-5658-4F21-83CF-52AD8EE310C6}"/>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04 / 24</a:t>
            </a:r>
          </a:p>
        </p:txBody>
      </p:sp>
    </p:spTree>
    <p:extLst>
      <p:ext uri="{BB962C8B-B14F-4D97-AF65-F5344CB8AC3E}">
        <p14:creationId xmlns:p14="http://schemas.microsoft.com/office/powerpoint/2010/main" val="576821286"/>
      </p:ext>
    </p:extLst>
  </p:cSld>
</p:sld>
</file>

<file path=ppt/slides/slide5.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6701F5-44AC-470A-90E3-4B400A4368B1}"/>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NORMAL VALUES</a:t>
            </a:r>
          </a:p>
        </p:txBody>
      </p:sp>
      <p:sp>
        <p:nvSpPr>
          <p:cNvPr id="2" name="">
            <a:extLst xmlns:a="http://schemas.openxmlformats.org/drawingml/2006/main">
              <a:ext uri="{FF2B5EF4-FFF2-40B4-BE49-F238E27FC236}">
                <a16:creationId xmlns:a16="http://schemas.microsoft.com/office/drawing/2014/main" id="{F1A41727-1C44-4AA9-BFCF-804B0B36CB62}"/>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Stored and true exponents</a:t>
            </a:r>
          </a:p>
        </p:txBody>
      </p:sp>
      <p:sp>
        <p:nvSpPr>
          <p:cNvPr id="3" name="">
            <a:extLst xmlns:a="http://schemas.openxmlformats.org/drawingml/2006/main">
              <a:ext uri="{FF2B5EF4-FFF2-40B4-BE49-F238E27FC236}">
                <a16:creationId xmlns:a16="http://schemas.microsoft.com/office/drawing/2014/main" id="{3AD1D40A-6476-4B46-98BE-F07AD1BAED8F}"/>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Here E is the unsigned number stored in the exponent bits. Lowercase e is the true exponent in 2ᵉ. For normal values, subtract the bias when decoding and add it when encoding.</a:t>
            </a:r>
          </a:p>
        </p:txBody>
      </p:sp>
      <p:sp>
        <p:nvSpPr>
          <p:cNvPr id="4" name="">
            <a:extLst xmlns:a="http://schemas.openxmlformats.org/drawingml/2006/main">
              <a:ext uri="{FF2B5EF4-FFF2-40B4-BE49-F238E27FC236}">
                <a16:creationId xmlns:a16="http://schemas.microsoft.com/office/drawing/2014/main" id="{90CDE952-D3BD-4AA4-9C56-58162D3711F0}"/>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Practice bias = 3</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Decode bits 001₂:</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E = 1  →  e = 1 − 3 = −2</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Encode true exponent e = −2:</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E = −2 + 3 = 1  →  bits 001</a:t>
            </a:r>
          </a:p>
        </p:txBody>
      </p:sp>
      <p:sp>
        <p:nvSpPr>
          <p:cNvPr id="5" name="">
            <a:extLst xmlns:a="http://schemas.openxmlformats.org/drawingml/2006/main">
              <a:ext uri="{FF2B5EF4-FFF2-40B4-BE49-F238E27FC236}">
                <a16:creationId xmlns:a16="http://schemas.microsoft.com/office/drawing/2014/main" id="{92DCB498-5F45-448E-BB8D-9308ECED6BB4}"/>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Symbols vary by source: first decide which exponent is stored.</a:t>
            </a:r>
          </a:p>
        </p:txBody>
      </p:sp>
      <p:sp>
        <p:nvSpPr>
          <p:cNvPr id="6" name="">
            <a:extLst xmlns:a="http://schemas.openxmlformats.org/drawingml/2006/main">
              <a:ext uri="{FF2B5EF4-FFF2-40B4-BE49-F238E27FC236}">
                <a16:creationId xmlns:a16="http://schemas.microsoft.com/office/drawing/2014/main" id="{05A872D8-2421-41B5-BA58-B863431FFC9F}"/>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05 / 24</a:t>
            </a:r>
          </a:p>
        </p:txBody>
      </p:sp>
    </p:spTree>
    <p:extLst>
      <p:ext uri="{BB962C8B-B14F-4D97-AF65-F5344CB8AC3E}">
        <p14:creationId xmlns:p14="http://schemas.microsoft.com/office/powerpoint/2010/main" val="35799394"/>
      </p:ext>
    </p:extLst>
  </p:cSld>
</p:sld>
</file>

<file path=ppt/slides/slide6.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5EA43F-92DB-4BE5-9FFF-F3398FA0483D}"/>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WORKED EXAMPLE</a:t>
            </a:r>
          </a:p>
        </p:txBody>
      </p:sp>
      <p:sp>
        <p:nvSpPr>
          <p:cNvPr id="2" name="">
            <a:extLst xmlns:a="http://schemas.openxmlformats.org/drawingml/2006/main">
              <a:ext uri="{FF2B5EF4-FFF2-40B4-BE49-F238E27FC236}">
                <a16:creationId xmlns:a16="http://schemas.microsoft.com/office/drawing/2014/main" id="{6A5A1436-63F1-4731-91E3-0B1734A4E376}"/>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Encode a normal value: 5/4</a:t>
            </a:r>
          </a:p>
        </p:txBody>
      </p:sp>
      <p:sp>
        <p:nvSpPr>
          <p:cNvPr id="3" name="">
            <a:extLst xmlns:a="http://schemas.openxmlformats.org/drawingml/2006/main">
              <a:ext uri="{FF2B5EF4-FFF2-40B4-BE49-F238E27FC236}">
                <a16:creationId xmlns:a16="http://schemas.microsoft.com/office/drawing/2014/main" id="{DA52FDEA-F645-47DC-919B-5685E856E204}"/>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5/4 = 1.010₂ × 2⁰.</a:t>
            </a:r>
          </a:p>
          <a:p xmlns:a="http://schemas.openxmlformats.org/drawingml/2006/main">
            <a:r>
              <a:t/>
            </a:r>
          </a:p>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The true exponent is e = 0, so stored E = 0 + 3 = 3. The fraction after the leading 1 is 010₂, or F = 2.</a:t>
            </a:r>
          </a:p>
        </p:txBody>
      </p:sp>
      <p:sp>
        <p:nvSpPr>
          <p:cNvPr id="4" name="">
            <a:extLst xmlns:a="http://schemas.openxmlformats.org/drawingml/2006/main">
              <a:ext uri="{FF2B5EF4-FFF2-40B4-BE49-F238E27FC236}">
                <a16:creationId xmlns:a16="http://schemas.microsoft.com/office/drawing/2014/main" id="{66956661-037E-4836-A00D-BBE7BEC67CE5}"/>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S = 0</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E = 3 = 011₂</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F = 2 = 010₂</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Fields: 0 | 011 | 010</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Check: (1 + 2/8) × 2⁰ = 5/4</a:t>
            </a:r>
          </a:p>
        </p:txBody>
      </p:sp>
      <p:sp>
        <p:nvSpPr>
          <p:cNvPr id="5" name="">
            <a:extLst xmlns:a="http://schemas.openxmlformats.org/drawingml/2006/main">
              <a:ext uri="{FF2B5EF4-FFF2-40B4-BE49-F238E27FC236}">
                <a16:creationId xmlns:a16="http://schemas.microsoft.com/office/drawing/2014/main" id="{ED77AF00-6FE1-4CFC-B54D-88BC56D34ECE}"/>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The stored fraction has three bits; the implied leading 1 is not one of them.</a:t>
            </a:r>
          </a:p>
        </p:txBody>
      </p:sp>
      <p:sp>
        <p:nvSpPr>
          <p:cNvPr id="6" name="">
            <a:extLst xmlns:a="http://schemas.openxmlformats.org/drawingml/2006/main">
              <a:ext uri="{FF2B5EF4-FFF2-40B4-BE49-F238E27FC236}">
                <a16:creationId xmlns:a16="http://schemas.microsoft.com/office/drawing/2014/main" id="{50A2E0CF-972D-435B-99E9-C4F31D4132B0}"/>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06 / 24</a:t>
            </a:r>
          </a:p>
        </p:txBody>
      </p:sp>
    </p:spTree>
    <p:extLst>
      <p:ext uri="{BB962C8B-B14F-4D97-AF65-F5344CB8AC3E}">
        <p14:creationId xmlns:p14="http://schemas.microsoft.com/office/powerpoint/2010/main" val="1095495873"/>
      </p:ext>
    </p:extLst>
  </p:cSld>
</p:sld>
</file>

<file path=ppt/slides/slide7.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4F9435-A104-4D30-A188-4EE2456CA2BB}"/>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WORKED EXAMPLE</a:t>
            </a:r>
          </a:p>
        </p:txBody>
      </p:sp>
      <p:sp>
        <p:nvSpPr>
          <p:cNvPr id="2" name="">
            <a:extLst xmlns:a="http://schemas.openxmlformats.org/drawingml/2006/main">
              <a:ext uri="{FF2B5EF4-FFF2-40B4-BE49-F238E27FC236}">
                <a16:creationId xmlns:a16="http://schemas.microsoft.com/office/drawing/2014/main" id="{E3CC3344-C3E4-4449-AF40-33DADFB16B1E}"/>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Decode a normal bit pattern</a:t>
            </a:r>
          </a:p>
        </p:txBody>
      </p:sp>
      <p:sp>
        <p:nvSpPr>
          <p:cNvPr id="3" name="">
            <a:extLst xmlns:a="http://schemas.openxmlformats.org/drawingml/2006/main">
              <a:ext uri="{FF2B5EF4-FFF2-40B4-BE49-F238E27FC236}">
                <a16:creationId xmlns:a16="http://schemas.microsoft.com/office/drawing/2014/main" id="{798D5084-9296-4E15-A9DC-A45F46A15641}"/>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Read the exponent field as an unsigned integer, then subtract the bias. Read the fraction field as F/8.</a:t>
            </a:r>
          </a:p>
          <a:p xmlns:a="http://schemas.openxmlformats.org/drawingml/2006/main">
            <a:r>
              <a:t/>
            </a:r>
          </a:p>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Because E is not zero, include the implied leading 1.</a:t>
            </a:r>
          </a:p>
        </p:txBody>
      </p:sp>
      <p:sp>
        <p:nvSpPr>
          <p:cNvPr id="4" name="">
            <a:extLst xmlns:a="http://schemas.openxmlformats.org/drawingml/2006/main">
              <a:ext uri="{FF2B5EF4-FFF2-40B4-BE49-F238E27FC236}">
                <a16:creationId xmlns:a16="http://schemas.microsoft.com/office/drawing/2014/main" id="{FD548711-085C-45B3-A8BC-2D9BA414882B}"/>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Bits: 0 | 010 | 101</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E = 2, so e = 2 − 3 = −1</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F = 5, so 1 + F/8 = 13/8</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Value = (13/8) × 2⁻¹ = 13/16</a:t>
            </a:r>
          </a:p>
        </p:txBody>
      </p:sp>
      <p:sp>
        <p:nvSpPr>
          <p:cNvPr id="5" name="">
            <a:extLst xmlns:a="http://schemas.openxmlformats.org/drawingml/2006/main">
              <a:ext uri="{FF2B5EF4-FFF2-40B4-BE49-F238E27FC236}">
                <a16:creationId xmlns:a16="http://schemas.microsoft.com/office/drawing/2014/main" id="{584E23CF-F2CD-46A9-9F4D-20949170792D}"/>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The bit pattern is a recipe for a value, not the digits of that value.</a:t>
            </a:r>
          </a:p>
        </p:txBody>
      </p:sp>
      <p:sp>
        <p:nvSpPr>
          <p:cNvPr id="6" name="">
            <a:extLst xmlns:a="http://schemas.openxmlformats.org/drawingml/2006/main">
              <a:ext uri="{FF2B5EF4-FFF2-40B4-BE49-F238E27FC236}">
                <a16:creationId xmlns:a16="http://schemas.microsoft.com/office/drawing/2014/main" id="{96E02F47-A9E9-43B2-AC22-5EF03769EDD4}"/>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07 / 24</a:t>
            </a:r>
          </a:p>
        </p:txBody>
      </p:sp>
    </p:spTree>
    <p:extLst>
      <p:ext uri="{BB962C8B-B14F-4D97-AF65-F5344CB8AC3E}">
        <p14:creationId xmlns:p14="http://schemas.microsoft.com/office/powerpoint/2010/main" val="659736008"/>
      </p:ext>
    </p:extLst>
  </p:cSld>
</p:sld>
</file>

<file path=ppt/slides/slide8.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4F9435-A104-4D30-A188-4EE2456CA2BB}"/>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QUIZ REVIEW</a:t>
            </a:r>
          </a:p>
        </p:txBody>
      </p:sp>
      <p:sp>
        <p:nvSpPr>
          <p:cNvPr id="2" name="">
            <a:extLst xmlns:a="http://schemas.openxmlformats.org/drawingml/2006/main">
              <a:ext uri="{FF2B5EF4-FFF2-40B4-BE49-F238E27FC236}">
                <a16:creationId xmlns:a16="http://schemas.microsoft.com/office/drawing/2014/main" id="{E3CC3344-C3E4-4449-AF40-33DADFB16B1E}"/>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Quiz review: −1.0 in 8 bits</a:t>
            </a:r>
          </a:p>
        </p:txBody>
      </p:sp>
      <p:sp>
        <p:nvSpPr>
          <p:cNvPr id="3" name="">
            <a:extLst xmlns:a="http://schemas.openxmlformats.org/drawingml/2006/main">
              <a:ext uri="{FF2B5EF4-FFF2-40B4-BE49-F238E27FC236}">
                <a16:creationId xmlns:a16="http://schemas.microsoft.com/office/drawing/2014/main" id="{798D5084-9296-4E15-A9DC-A45F46A15641}"/>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An 8-bit format has 1 sign bit, 5 exponent bits, 2 stored significand bits, and bias 15. An exponent field of 11111₂ is reserved for infinity and NaN. What representable value is closest to −1.0?</a:t>
            </a:r>
          </a:p>
        </p:txBody>
      </p:sp>
      <p:sp>
        <p:nvSpPr>
          <p:cNvPr id="4" name="">
            <a:extLst xmlns:a="http://schemas.openxmlformats.org/drawingml/2006/main">
              <a:ext uri="{FF2B5EF4-FFF2-40B4-BE49-F238E27FC236}">
                <a16:creationId xmlns:a16="http://schemas.microsoft.com/office/drawing/2014/main" id="{FD548711-085C-45B3-A8BC-2D9BA414882B}"/>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Write each answer in decimal:</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value =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sign = ?</a:t>
            </a:r>
          </a:p>
          <a:p xmlns:a="http://schemas.openxmlformats.org/drawingml/2006/main">
            <a:pPr>
              <a:defRPr sz="1650">
                <a:solidFill>
                  <a:srgbClr val="A7F3D0"/>
                </a:solidFill>
                <a:latin typeface="Courier New"/>
                <a:ea typeface="Courier New"/>
                <a:cs typeface="Courier New"/>
              </a:defRPr>
            </a:pPr>
            <a:r>
              <a:rPr sz="1650">
                <a:solidFill>
                  <a:srgbClr val="A7F3D0"/>
                </a:solidFill>
                <a:latin typeface="Courier New"/>
                <a:ea typeface="Courier New"/>
                <a:cs typeface="Courier New"/>
              </a:rPr>
              <a:t>exponent =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significand = ?</a:t>
            </a:r>
          </a:p>
        </p:txBody>
      </p:sp>
      <p:sp>
        <p:nvSpPr>
          <p:cNvPr id="5" name="">
            <a:extLst xmlns:a="http://schemas.openxmlformats.org/drawingml/2006/main">
              <a:ext uri="{FF2B5EF4-FFF2-40B4-BE49-F238E27FC236}">
                <a16:creationId xmlns:a16="http://schemas.microsoft.com/office/drawing/2014/main" id="{584E23CF-F2CD-46A9-9F4D-20949170792D}"/>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Work out the fields before revealing the answer.</a:t>
            </a:r>
          </a:p>
        </p:txBody>
      </p:sp>
      <p:sp>
        <p:nvSpPr>
          <p:cNvPr id="6" name="">
            <a:extLst xmlns:a="http://schemas.openxmlformats.org/drawingml/2006/main">
              <a:ext uri="{FF2B5EF4-FFF2-40B4-BE49-F238E27FC236}">
                <a16:creationId xmlns:a16="http://schemas.microsoft.com/office/drawing/2014/main" id="{96E02F47-A9E9-43B2-AC22-5EF03769EDD4}"/>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08 / 24</a:t>
            </a:r>
          </a:p>
        </p:txBody>
      </p:sp>
    </p:spTree>
    <p:extLst>
      <p:ext uri="{BB962C8B-B14F-4D97-AF65-F5344CB8AC3E}">
        <p14:creationId xmlns:p14="http://schemas.microsoft.com/office/powerpoint/2010/main" val="659736008"/>
      </p:ext>
    </p:extLst>
  </p:cSld>
</p:sld>
</file>

<file path=ppt/slides/slide9.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4F9435-A104-4D30-A188-4EE2456CA2BB}"/>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WORKED ANSWER</a:t>
            </a:r>
          </a:p>
        </p:txBody>
      </p:sp>
      <p:sp>
        <p:nvSpPr>
          <p:cNvPr id="2" name="">
            <a:extLst xmlns:a="http://schemas.openxmlformats.org/drawingml/2006/main">
              <a:ext uri="{FF2B5EF4-FFF2-40B4-BE49-F238E27FC236}">
                <a16:creationId xmlns:a16="http://schemas.microsoft.com/office/drawing/2014/main" id="{E3CC3344-C3E4-4449-AF40-33DADFB16B1E}"/>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Quiz answer: −1.0 is exact</a:t>
            </a:r>
          </a:p>
        </p:txBody>
      </p:sp>
      <p:sp>
        <p:nvSpPr>
          <p:cNvPr id="3" name="">
            <a:extLst xmlns:a="http://schemas.openxmlformats.org/drawingml/2006/main">
              <a:ext uri="{FF2B5EF4-FFF2-40B4-BE49-F238E27FC236}">
                <a16:creationId xmlns:a16="http://schemas.microsoft.com/office/drawing/2014/main" id="{798D5084-9296-4E15-A9DC-A45F46A15641}"/>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−1.0 is representable exactly. Its magnitude is 1.00₂ × 2⁰, so the sign is 1, the true exponent is 0, and the stored fraction is 00₂. Add bias 15 to encode the exponent field.</a:t>
            </a:r>
          </a:p>
        </p:txBody>
      </p:sp>
      <p:sp>
        <p:nvSpPr>
          <p:cNvPr id="4" name="">
            <a:extLst xmlns:a="http://schemas.openxmlformats.org/drawingml/2006/main">
              <a:ext uri="{FF2B5EF4-FFF2-40B4-BE49-F238E27FC236}">
                <a16:creationId xmlns:a16="http://schemas.microsoft.com/office/drawing/2014/main" id="{FD548711-085C-45B3-A8BC-2D9BA414882B}"/>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value = −1.0</a:t>
            </a:r>
          </a:p>
          <a:p xmlns:a="http://schemas.openxmlformats.org/drawingml/2006/main">
            <a:pPr>
              <a:defRPr sz="1650">
                <a:solidFill>
                  <a:srgbClr val="A7F3D0"/>
                </a:solidFill>
                <a:latin typeface="Courier New"/>
                <a:ea typeface="Courier New"/>
                <a:cs typeface="Courier New"/>
              </a:defRPr>
            </a:pPr>
            <a:r>
              <a:rPr sz="1650">
                <a:solidFill>
                  <a:srgbClr val="A7F3D0"/>
                </a:solidFill>
                <a:latin typeface="Courier New"/>
                <a:ea typeface="Courier New"/>
                <a:cs typeface="Courier New"/>
              </a:rPr>
              <a:t>sign = 1</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exponent = 15</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significand = 0</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Bits: 1 | 01111 | 00</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Check: −(1 + 0/4) × 2^(15−15) = −1</a:t>
            </a:r>
          </a:p>
        </p:txBody>
      </p:sp>
      <p:sp>
        <p:nvSpPr>
          <p:cNvPr id="5" name="">
            <a:extLst xmlns:a="http://schemas.openxmlformats.org/drawingml/2006/main">
              <a:ext uri="{FF2B5EF4-FFF2-40B4-BE49-F238E27FC236}">
                <a16:creationId xmlns:a16="http://schemas.microsoft.com/office/drawing/2014/main" id="{584E23CF-F2CD-46A9-9F4D-20949170792D}"/>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E = 15 is valid; all five exponent bits set would be E = 31.</a:t>
            </a:r>
          </a:p>
        </p:txBody>
      </p:sp>
      <p:sp>
        <p:nvSpPr>
          <p:cNvPr id="6" name="">
            <a:extLst xmlns:a="http://schemas.openxmlformats.org/drawingml/2006/main">
              <a:ext uri="{FF2B5EF4-FFF2-40B4-BE49-F238E27FC236}">
                <a16:creationId xmlns:a16="http://schemas.microsoft.com/office/drawing/2014/main" id="{96E02F47-A9E9-43B2-AC22-5EF03769EDD4}"/>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09 / 24</a:t>
            </a:r>
          </a:p>
        </p:txBody>
      </p:sp>
    </p:spTree>
    <p:extLst>
      <p:ext uri="{BB962C8B-B14F-4D97-AF65-F5344CB8AC3E}">
        <p14:creationId xmlns:p14="http://schemas.microsoft.com/office/powerpoint/2010/main" val="659736008"/>
      </p:ext>
    </p:extLst>
  </p:cSld>
</p:sld>
</file>

<file path=ppt/slides/slide10.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BEAABF-BD4F-40AF-A282-4DA602FE61EE}"/>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WHY SUBNORMALS</a:t>
            </a:r>
          </a:p>
        </p:txBody>
      </p:sp>
      <p:sp>
        <p:nvSpPr>
          <p:cNvPr id="2" name="">
            <a:extLst xmlns:a="http://schemas.openxmlformats.org/drawingml/2006/main">
              <a:ext uri="{FF2B5EF4-FFF2-40B4-BE49-F238E27FC236}">
                <a16:creationId xmlns:a16="http://schemas.microsoft.com/office/drawing/2014/main" id="{55B309F2-033B-47F8-941D-460A77FAB0C8}"/>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The smallest normal is 1/4</a:t>
            </a:r>
          </a:p>
        </p:txBody>
      </p:sp>
      <p:sp>
        <p:nvSpPr>
          <p:cNvPr id="3" name="">
            <a:extLst xmlns:a="http://schemas.openxmlformats.org/drawingml/2006/main">
              <a:ext uri="{FF2B5EF4-FFF2-40B4-BE49-F238E27FC236}">
                <a16:creationId xmlns:a16="http://schemas.microsoft.com/office/drawing/2014/main" id="{2413D46C-F548-4E0D-8AC8-B55CC5C096EA}"/>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The smallest normal exponent field is E = 1. With bias 3, that means e = −2. If the stored fraction is 000, the value is 1/4. We need another way to represent smaller positive values such as 1/8.</a:t>
            </a:r>
          </a:p>
        </p:txBody>
      </p:sp>
      <p:sp>
        <p:nvSpPr>
          <p:cNvPr id="4" name="">
            <a:extLst xmlns:a="http://schemas.openxmlformats.org/drawingml/2006/main">
              <a:ext uri="{FF2B5EF4-FFF2-40B4-BE49-F238E27FC236}">
                <a16:creationId xmlns:a16="http://schemas.microsoft.com/office/drawing/2014/main" id="{F4B5AD63-6E91-45DD-AE29-2F54895B988B}"/>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Smallest normal</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a:r>
          </a:p>
          <a:p xmlns:a="http://schemas.openxmlformats.org/drawingml/2006/main">
            <a:pPr>
              <a:buNone/>
              <a:defRPr sz="1650">
                <a:solidFill>
                  <a:srgbClr val="A7F3D0"/>
                </a:solidFill>
                <a:latin typeface="Courier New"/>
                <a:ea typeface="Courier New"/>
                <a:cs typeface="Courier New"/>
              </a:defRPr>
            </a:pPr>
            <a:r>
              <a:rPr sz="1650">
                <a:solidFill>
                  <a:srgbClr val="A7F3D0"/>
                </a:solidFill>
                <a:latin typeface="Courier New"/>
                <a:ea typeface="Courier New"/>
                <a:cs typeface="Courier New"/>
              </a:rPr>
              <a:t>E = 001₂  →  e = 1 − 3 = −2</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F = 000₂  →  significand 1.000₂</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value = 1.000₂ × 2⁻² = 1/4</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1/8 is smaller. E = 0 marks a new case.</a:t>
            </a:r>
          </a:p>
        </p:txBody>
      </p:sp>
      <p:sp>
        <p:nvSpPr>
          <p:cNvPr id="5" name="">
            <a:extLst xmlns:a="http://schemas.openxmlformats.org/drawingml/2006/main">
              <a:ext uri="{FF2B5EF4-FFF2-40B4-BE49-F238E27FC236}">
                <a16:creationId xmlns:a16="http://schemas.microsoft.com/office/drawing/2014/main" id="{10C83417-6965-41D8-8054-D122A500127B}"/>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For E = 0, use the subnormal rule instead of subtracting the bias.</a:t>
            </a:r>
          </a:p>
        </p:txBody>
      </p:sp>
      <p:sp>
        <p:nvSpPr>
          <p:cNvPr id="6" name="">
            <a:extLst xmlns:a="http://schemas.openxmlformats.org/drawingml/2006/main">
              <a:ext uri="{FF2B5EF4-FFF2-40B4-BE49-F238E27FC236}">
                <a16:creationId xmlns:a16="http://schemas.microsoft.com/office/drawing/2014/main" id="{8E1F2603-246C-497E-B2CC-C75AC3901746}"/>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10 / 24</a:t>
            </a:r>
          </a:p>
        </p:txBody>
      </p:sp>
    </p:spTree>
    <p:extLst>
      <p:ext uri="{BB962C8B-B14F-4D97-AF65-F5344CB8AC3E}">
        <p14:creationId xmlns:p14="http://schemas.microsoft.com/office/powerpoint/2010/main" val="1857122576"/>
      </p:ext>
    </p:extLst>
  </p:cSld>
</p:sld>
</file>

<file path=ppt/slides/slide11.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1C1D56-F3B0-4FC7-8312-5DCE66DE8296}"/>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SUBNORMAL RULE</a:t>
            </a:r>
          </a:p>
        </p:txBody>
      </p:sp>
      <p:sp>
        <p:nvSpPr>
          <p:cNvPr id="2" name="">
            <a:extLst xmlns:a="http://schemas.openxmlformats.org/drawingml/2006/main">
              <a:ext uri="{FF2B5EF4-FFF2-40B4-BE49-F238E27FC236}">
                <a16:creationId xmlns:a16="http://schemas.microsoft.com/office/drawing/2014/main" id="{47EC4111-990D-4F27-A48D-9B66E8564E29}"/>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E = 0 drops the hidden 1</a:t>
            </a:r>
          </a:p>
        </p:txBody>
      </p:sp>
      <p:sp>
        <p:nvSpPr>
          <p:cNvPr id="3" name="">
            <a:extLst xmlns:a="http://schemas.openxmlformats.org/drawingml/2006/main">
              <a:ext uri="{FF2B5EF4-FFF2-40B4-BE49-F238E27FC236}">
                <a16:creationId xmlns:a16="http://schemas.microsoft.com/office/drawing/2014/main" id="{EA7FC2C0-68E4-440B-B218-A53A78DE1183}"/>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Normal values start with an implied 1 before the fraction bits. When E = 0, use an implied 0 instead. Keep the same 2⁻² scale as the smallest normal so the values grow smoothly from zero.</a:t>
            </a:r>
          </a:p>
        </p:txBody>
      </p:sp>
      <p:sp>
        <p:nvSpPr>
          <p:cNvPr id="4" name="">
            <a:extLst xmlns:a="http://schemas.openxmlformats.org/drawingml/2006/main">
              <a:ext uri="{FF2B5EF4-FFF2-40B4-BE49-F238E27FC236}">
                <a16:creationId xmlns:a16="http://schemas.microsoft.com/office/drawing/2014/main" id="{C7B97746-2F05-4C79-997B-46EF673FF248}"/>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Fixed e = 1 − bias = −2</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Normal, E = 1:</a:t>
            </a:r>
          </a:p>
          <a:p xmlns:a="http://schemas.openxmlformats.org/drawingml/2006/main">
            <a:pPr>
              <a:buNone/>
              <a:defRPr sz="1650">
                <a:solidFill>
                  <a:srgbClr val="A7F3D0"/>
                </a:solidFill>
                <a:latin typeface="Courier New"/>
                <a:ea typeface="Courier New"/>
                <a:cs typeface="Courier New"/>
              </a:defRPr>
            </a:pPr>
            <a:r>
              <a:rPr sz="1650">
                <a:solidFill>
                  <a:srgbClr val="A7F3D0"/>
                </a:solidFill>
                <a:latin typeface="Courier New"/>
                <a:ea typeface="Courier New"/>
                <a:cs typeface="Courier New"/>
              </a:rPr>
              <a:t>1.FFF₂ × 2⁻²</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a:r>
          </a:p>
          <a:p xmlns:a="http://schemas.openxmlformats.org/drawingml/2006/main">
            <a:pPr>
              <a:buNone/>
              <a:defRPr sz="1650">
                <a:solidFill>
                  <a:srgbClr val="A7F3D0"/>
                </a:solidFill>
                <a:latin typeface="Courier New"/>
                <a:ea typeface="Courier New"/>
                <a:cs typeface="Courier New"/>
              </a:defRPr>
            </a:pPr>
            <a:r>
              <a:rPr sz="1650">
                <a:solidFill>
                  <a:srgbClr val="A7F3D0"/>
                </a:solidFill>
                <a:latin typeface="Courier New"/>
                <a:ea typeface="Courier New"/>
                <a:cs typeface="Courier New"/>
              </a:rPr>
              <a:t>Subnormal, E = 0:</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0.FFF₂ × 2⁻²</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F = 000  →  0.000₂ × 2⁻² = 0</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F = 100  →  0.100₂ × 2⁻² = 1/8</a:t>
            </a:r>
          </a:p>
        </p:txBody>
      </p:sp>
      <p:sp>
        <p:nvSpPr>
          <p:cNvPr id="5" name="">
            <a:extLst xmlns:a="http://schemas.openxmlformats.org/drawingml/2006/main">
              <a:ext uri="{FF2B5EF4-FFF2-40B4-BE49-F238E27FC236}">
                <a16:creationId xmlns:a16="http://schemas.microsoft.com/office/drawing/2014/main" id="{C953FAB2-7571-49A3-B6C8-87F90FA9D556}"/>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The leading 0 or 1 is implied; only FFF is stored.</a:t>
            </a:r>
          </a:p>
        </p:txBody>
      </p:sp>
      <p:sp>
        <p:nvSpPr>
          <p:cNvPr id="6" name="">
            <a:extLst xmlns:a="http://schemas.openxmlformats.org/drawingml/2006/main">
              <a:ext uri="{FF2B5EF4-FFF2-40B4-BE49-F238E27FC236}">
                <a16:creationId xmlns:a16="http://schemas.microsoft.com/office/drawing/2014/main" id="{ECE7F5E9-2417-44C6-925E-4767F90FA696}"/>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11 / 24</a:t>
            </a:r>
          </a:p>
        </p:txBody>
      </p:sp>
    </p:spTree>
    <p:extLst>
      <p:ext uri="{BB962C8B-B14F-4D97-AF65-F5344CB8AC3E}">
        <p14:creationId xmlns:p14="http://schemas.microsoft.com/office/powerpoint/2010/main" val="1082036242"/>
      </p:ext>
    </p:extLst>
  </p:cSld>
</p:sld>
</file>

<file path=ppt/slides/slide12.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65E5C3-C59B-4F4C-8123-D26BB20B62FC}"/>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PLACE VALUES</a:t>
            </a:r>
          </a:p>
        </p:txBody>
      </p:sp>
      <p:sp>
        <p:nvSpPr>
          <p:cNvPr id="2" name="">
            <a:extLst xmlns:a="http://schemas.openxmlformats.org/drawingml/2006/main">
              <a:ext uri="{FF2B5EF4-FFF2-40B4-BE49-F238E27FC236}">
                <a16:creationId xmlns:a16="http://schemas.microsoft.com/office/drawing/2014/main" id="{AAF148DA-667A-4F17-8947-3A10B5D66209}"/>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Subnormals count in steps of 1/32</a:t>
            </a:r>
          </a:p>
        </p:txBody>
      </p:sp>
      <p:sp>
        <p:nvSpPr>
          <p:cNvPr id="3" name="">
            <a:extLst xmlns:a="http://schemas.openxmlformats.org/drawingml/2006/main">
              <a:ext uri="{FF2B5EF4-FFF2-40B4-BE49-F238E27FC236}">
                <a16:creationId xmlns:a16="http://schemas.microsoft.com/office/drawing/2014/main" id="{9CBE9A2B-E617-4407-BF21-6D1C10DB5F7C}"/>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The three stored fraction bits make 0.FFF₂ increase by 1/8 each time. Multiplying by the fixed 2⁻² scale makes each step 1/32. So the field value F counts steps of 1/32.</a:t>
            </a:r>
          </a:p>
        </p:txBody>
      </p:sp>
      <p:sp>
        <p:nvSpPr>
          <p:cNvPr id="4" name="">
            <a:extLst xmlns:a="http://schemas.openxmlformats.org/drawingml/2006/main">
              <a:ext uri="{FF2B5EF4-FFF2-40B4-BE49-F238E27FC236}">
                <a16:creationId xmlns:a16="http://schemas.microsoft.com/office/drawing/2014/main" id="{F24EA955-1341-477F-B9E0-1F67FB906026}"/>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F     bits     value</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0     000      0/32</a:t>
            </a:r>
          </a:p>
          <a:p xmlns:a="http://schemas.openxmlformats.org/drawingml/2006/main">
            <a:pPr>
              <a:buNone/>
              <a:defRPr sz="1650">
                <a:solidFill>
                  <a:srgbClr val="A7F3D0"/>
                </a:solidFill>
                <a:latin typeface="Courier New"/>
                <a:ea typeface="Courier New"/>
                <a:cs typeface="Courier New"/>
              </a:defRPr>
            </a:pPr>
            <a:r>
              <a:rPr sz="1650">
                <a:solidFill>
                  <a:srgbClr val="A7F3D0"/>
                </a:solidFill>
                <a:latin typeface="Courier New"/>
                <a:ea typeface="Courier New"/>
                <a:cs typeface="Courier New"/>
              </a:rPr>
              <a:t>1     001      1/32</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4     100      4/32 = 1/8</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7     111      7/32</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Subnormal value = F/32</a:t>
            </a:r>
          </a:p>
        </p:txBody>
      </p:sp>
      <p:sp>
        <p:nvSpPr>
          <p:cNvPr id="5" name="">
            <a:extLst xmlns:a="http://schemas.openxmlformats.org/drawingml/2006/main">
              <a:ext uri="{FF2B5EF4-FFF2-40B4-BE49-F238E27FC236}">
                <a16:creationId xmlns:a16="http://schemas.microsoft.com/office/drawing/2014/main" id="{E8B59BBF-C1FE-4848-A1BE-0E49C6150211}"/>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Ask: what is the next value after 7/32?</a:t>
            </a:r>
          </a:p>
        </p:txBody>
      </p:sp>
      <p:sp>
        <p:nvSpPr>
          <p:cNvPr id="6" name="">
            <a:extLst xmlns:a="http://schemas.openxmlformats.org/drawingml/2006/main">
              <a:ext uri="{FF2B5EF4-FFF2-40B4-BE49-F238E27FC236}">
                <a16:creationId xmlns:a16="http://schemas.microsoft.com/office/drawing/2014/main" id="{C1D8CDEF-F520-47D3-A60F-E6AFCB834AE6}"/>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12 / 24</a:t>
            </a:r>
          </a:p>
        </p:txBody>
      </p:sp>
    </p:spTree>
    <p:extLst>
      <p:ext uri="{BB962C8B-B14F-4D97-AF65-F5344CB8AC3E}">
        <p14:creationId xmlns:p14="http://schemas.microsoft.com/office/powerpoint/2010/main" val="1006218793"/>
      </p:ext>
    </p:extLst>
  </p:cSld>
</p:sld>
</file>

<file path=ppt/slides/slide13.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1C1D56-F3B0-4FC7-8312-5DCE66DE8296}"/>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WORKED EXAMPLE</a:t>
            </a:r>
          </a:p>
        </p:txBody>
      </p:sp>
      <p:sp>
        <p:nvSpPr>
          <p:cNvPr id="2" name="">
            <a:extLst xmlns:a="http://schemas.openxmlformats.org/drawingml/2006/main">
              <a:ext uri="{FF2B5EF4-FFF2-40B4-BE49-F238E27FC236}">
                <a16:creationId xmlns:a16="http://schemas.microsoft.com/office/drawing/2014/main" id="{47EC4111-990D-4F27-A48D-9B66E8564E29}"/>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Encode a subnormal: 1/8</a:t>
            </a:r>
          </a:p>
        </p:txBody>
      </p:sp>
      <p:sp>
        <p:nvSpPr>
          <p:cNvPr id="3" name="">
            <a:extLst xmlns:a="http://schemas.openxmlformats.org/drawingml/2006/main">
              <a:ext uri="{FF2B5EF4-FFF2-40B4-BE49-F238E27FC236}">
                <a16:creationId xmlns:a16="http://schemas.microsoft.com/office/drawing/2014/main" id="{EA7FC2C0-68E4-440B-B218-A53A78DE1183}"/>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1/8 is below the smallest normal, 1/4, so E = 0. A subnormal here is worth F/32. Solve F/32 = 1/8: F = 4, which is 100₂ in three bits.</a:t>
            </a:r>
          </a:p>
        </p:txBody>
      </p:sp>
      <p:sp>
        <p:nvSpPr>
          <p:cNvPr id="4" name="">
            <a:extLst xmlns:a="http://schemas.openxmlformats.org/drawingml/2006/main">
              <a:ext uri="{FF2B5EF4-FFF2-40B4-BE49-F238E27FC236}">
                <a16:creationId xmlns:a16="http://schemas.microsoft.com/office/drawing/2014/main" id="{C7B97746-2F05-4C79-997B-46EF673FF248}"/>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S = 0</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E = 0 = 000₂</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F = 4 = 100₂</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Fields: 0 | 000 | 100</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Check: 4/32 = 1/8</a:t>
            </a:r>
          </a:p>
        </p:txBody>
      </p:sp>
      <p:sp>
        <p:nvSpPr>
          <p:cNvPr id="5" name="">
            <a:extLst xmlns:a="http://schemas.openxmlformats.org/drawingml/2006/main">
              <a:ext uri="{FF2B5EF4-FFF2-40B4-BE49-F238E27FC236}">
                <a16:creationId xmlns:a16="http://schemas.microsoft.com/office/drawing/2014/main" id="{C953FAB2-7571-49A3-B6C8-87F90FA9D556}"/>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No hidden 1: read the significand as 0.100₂.</a:t>
            </a:r>
          </a:p>
        </p:txBody>
      </p:sp>
      <p:sp>
        <p:nvSpPr>
          <p:cNvPr id="6" name="">
            <a:extLst xmlns:a="http://schemas.openxmlformats.org/drawingml/2006/main">
              <a:ext uri="{FF2B5EF4-FFF2-40B4-BE49-F238E27FC236}">
                <a16:creationId xmlns:a16="http://schemas.microsoft.com/office/drawing/2014/main" id="{ECE7F5E9-2417-44C6-925E-4767F90FA696}"/>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13 / 24</a:t>
            </a:r>
          </a:p>
        </p:txBody>
      </p:sp>
    </p:spTree>
    <p:extLst>
      <p:ext uri="{BB962C8B-B14F-4D97-AF65-F5344CB8AC3E}">
        <p14:creationId xmlns:p14="http://schemas.microsoft.com/office/powerpoint/2010/main" val="1082036242"/>
      </p:ext>
    </p:extLst>
  </p:cSld>
</p:sld>
</file>

<file path=ppt/slides/slide14.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65E5C3-C59B-4F4C-8123-D26BB20B62FC}"/>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BOUNDARY</a:t>
            </a:r>
          </a:p>
        </p:txBody>
      </p:sp>
      <p:sp>
        <p:nvSpPr>
          <p:cNvPr id="2" name="">
            <a:extLst xmlns:a="http://schemas.openxmlformats.org/drawingml/2006/main">
              <a:ext uri="{FF2B5EF4-FFF2-40B4-BE49-F238E27FC236}">
                <a16:creationId xmlns:a16="http://schemas.microsoft.com/office/drawing/2014/main" id="{AAF148DA-667A-4F17-8947-3A10B5D66209}"/>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The next normal is one step away</a:t>
            </a:r>
          </a:p>
        </p:txBody>
      </p:sp>
      <p:sp>
        <p:nvSpPr>
          <p:cNvPr id="3" name="">
            <a:extLst xmlns:a="http://schemas.openxmlformats.org/drawingml/2006/main">
              <a:ext uri="{FF2B5EF4-FFF2-40B4-BE49-F238E27FC236}">
                <a16:creationId xmlns:a16="http://schemas.microsoft.com/office/drawing/2014/main" id="{9CBE9A2B-E617-4407-BF21-6D1C10DB5F7C}"/>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The largest subnormal is 7/32. The smallest normal is 8/32. Both use the 2⁻² scale; the implied leading digit changes from 0 to 1 when E changes from 0 to 1.</a:t>
            </a:r>
          </a:p>
        </p:txBody>
      </p:sp>
      <p:sp>
        <p:nvSpPr>
          <p:cNvPr id="4" name="">
            <a:extLst xmlns:a="http://schemas.openxmlformats.org/drawingml/2006/main">
              <a:ext uri="{FF2B5EF4-FFF2-40B4-BE49-F238E27FC236}">
                <a16:creationId xmlns:a16="http://schemas.microsoft.com/office/drawing/2014/main" id="{F24EA955-1341-477F-B9E0-1F67FB906026}"/>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E = 0, F = 111₂</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0.111₂ × 2⁻² = 7/32</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E = 1, F = 000₂</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1.000₂ × 2⁻² = 8/32</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Gap = 1/32</a:t>
            </a:r>
          </a:p>
        </p:txBody>
      </p:sp>
      <p:sp>
        <p:nvSpPr>
          <p:cNvPr id="5" name="">
            <a:extLst xmlns:a="http://schemas.openxmlformats.org/drawingml/2006/main">
              <a:ext uri="{FF2B5EF4-FFF2-40B4-BE49-F238E27FC236}">
                <a16:creationId xmlns:a16="http://schemas.microsoft.com/office/drawing/2014/main" id="{E8B59BBF-C1FE-4848-A1BE-0E49C6150211}"/>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Subnormal values fill the space between zero and 1/4.</a:t>
            </a:r>
          </a:p>
        </p:txBody>
      </p:sp>
      <p:sp>
        <p:nvSpPr>
          <p:cNvPr id="6" name="">
            <a:extLst xmlns:a="http://schemas.openxmlformats.org/drawingml/2006/main">
              <a:ext uri="{FF2B5EF4-FFF2-40B4-BE49-F238E27FC236}">
                <a16:creationId xmlns:a16="http://schemas.microsoft.com/office/drawing/2014/main" id="{C1D8CDEF-F520-47D3-A60F-E6AFCB834AE6}"/>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14 / 24</a:t>
            </a:r>
          </a:p>
        </p:txBody>
      </p:sp>
    </p:spTree>
    <p:extLst>
      <p:ext uri="{BB962C8B-B14F-4D97-AF65-F5344CB8AC3E}">
        <p14:creationId xmlns:p14="http://schemas.microsoft.com/office/powerpoint/2010/main" val="1006218793"/>
      </p:ext>
    </p:extLst>
  </p:cSld>
</p:sld>
</file>

<file path=ppt/slides/slide15.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6F0A3D-C361-4FA6-9CFE-2E669E0D919F}"/>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PRACTICE</a:t>
            </a:r>
          </a:p>
        </p:txBody>
      </p:sp>
      <p:sp>
        <p:nvSpPr>
          <p:cNvPr id="2" name="">
            <a:extLst xmlns:a="http://schemas.openxmlformats.org/drawingml/2006/main">
              <a:ext uri="{FF2B5EF4-FFF2-40B4-BE49-F238E27FC236}">
                <a16:creationId xmlns:a16="http://schemas.microsoft.com/office/drawing/2014/main" id="{8531682B-A598-4D48-84FE-CD10468FEB1D}"/>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Your turn: decode two patterns</a:t>
            </a:r>
          </a:p>
        </p:txBody>
      </p:sp>
      <p:sp>
        <p:nvSpPr>
          <p:cNvPr id="3" name="">
            <a:extLst xmlns:a="http://schemas.openxmlformats.org/drawingml/2006/main">
              <a:ext uri="{FF2B5EF4-FFF2-40B4-BE49-F238E27FC236}">
                <a16:creationId xmlns:a16="http://schemas.microsoft.com/office/drawing/2014/main" id="{7C4976BE-C2D5-4F13-B1DA-E2F9D2612B6A}"/>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Use the same format: 3 exponent bits, bias 3, and 3 fraction bits.</a:t>
            </a:r>
          </a:p>
          <a:p xmlns:a="http://schemas.openxmlformats.org/drawingml/2006/main">
            <a:r>
              <a:t/>
            </a:r>
          </a:p>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For each pattern, classify it, find E and F, then calculate the value.</a:t>
            </a:r>
          </a:p>
        </p:txBody>
      </p:sp>
      <p:sp>
        <p:nvSpPr>
          <p:cNvPr id="4" name="">
            <a:extLst xmlns:a="http://schemas.openxmlformats.org/drawingml/2006/main">
              <a:ext uri="{FF2B5EF4-FFF2-40B4-BE49-F238E27FC236}">
                <a16:creationId xmlns:a16="http://schemas.microsoft.com/office/drawing/2014/main" id="{97877AB9-DA81-4CB4-8D40-AAADEA86261B}"/>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A. 0 | 010 | 100</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normal or subnormal?</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value = ?</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B. 0 | 000 | 011</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normal or subnormal?</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value = ?</a:t>
            </a:r>
          </a:p>
        </p:txBody>
      </p:sp>
      <p:sp>
        <p:nvSpPr>
          <p:cNvPr id="5" name="">
            <a:extLst xmlns:a="http://schemas.openxmlformats.org/drawingml/2006/main">
              <a:ext uri="{FF2B5EF4-FFF2-40B4-BE49-F238E27FC236}">
                <a16:creationId xmlns:a16="http://schemas.microsoft.com/office/drawing/2014/main" id="{0C768E93-B810-439B-9ECE-DACDD6255183}"/>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If E = 0, count F steps of 1/32. Otherwise use the normal rule.</a:t>
            </a:r>
          </a:p>
        </p:txBody>
      </p:sp>
      <p:sp>
        <p:nvSpPr>
          <p:cNvPr id="6" name="">
            <a:extLst xmlns:a="http://schemas.openxmlformats.org/drawingml/2006/main">
              <a:ext uri="{FF2B5EF4-FFF2-40B4-BE49-F238E27FC236}">
                <a16:creationId xmlns:a16="http://schemas.microsoft.com/office/drawing/2014/main" id="{4E485357-E888-4A45-92E1-47CDEA8A71B2}"/>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15 / 24</a:t>
            </a:r>
          </a:p>
        </p:txBody>
      </p:sp>
    </p:spTree>
    <p:extLst>
      <p:ext uri="{BB962C8B-B14F-4D97-AF65-F5344CB8AC3E}">
        <p14:creationId xmlns:p14="http://schemas.microsoft.com/office/powerpoint/2010/main" val="1507595076"/>
      </p:ext>
    </p:extLst>
  </p:cSld>
</p:sld>
</file>

<file path=ppt/slides/slide16.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C5D697-73A9-4130-AF88-3B9A153D538D}"/>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CHECK</a:t>
            </a:r>
          </a:p>
        </p:txBody>
      </p:sp>
      <p:sp>
        <p:nvSpPr>
          <p:cNvPr id="2" name="">
            <a:extLst xmlns:a="http://schemas.openxmlformats.org/drawingml/2006/main">
              <a:ext uri="{FF2B5EF4-FFF2-40B4-BE49-F238E27FC236}">
                <a16:creationId xmlns:a16="http://schemas.microsoft.com/office/drawing/2014/main" id="{1059792B-54CD-4C1F-8A87-49C3F494D2AD}"/>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Decode answers</a:t>
            </a:r>
          </a:p>
        </p:txBody>
      </p:sp>
      <p:sp>
        <p:nvSpPr>
          <p:cNvPr id="3" name="">
            <a:extLst xmlns:a="http://schemas.openxmlformats.org/drawingml/2006/main">
              <a:ext uri="{FF2B5EF4-FFF2-40B4-BE49-F238E27FC236}">
                <a16:creationId xmlns:a16="http://schemas.microsoft.com/office/drawing/2014/main" id="{26F3E9C7-6AC5-4E40-B664-B323C1BA5CEA}"/>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A has E = 2, so decode a normal value. B has E = 0, so its F = 3 means three steps of 1/32.</a:t>
            </a:r>
          </a:p>
        </p:txBody>
      </p:sp>
      <p:sp>
        <p:nvSpPr>
          <p:cNvPr id="4" name="">
            <a:extLst xmlns:a="http://schemas.openxmlformats.org/drawingml/2006/main">
              <a:ext uri="{FF2B5EF4-FFF2-40B4-BE49-F238E27FC236}">
                <a16:creationId xmlns:a16="http://schemas.microsoft.com/office/drawing/2014/main" id="{737C1F1B-87F6-43C2-BCA8-B1C729031D72}"/>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A. 0 | 010 | 100</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(1 + 4/8) × 2⁻¹ = 3/4</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B. 0 | 000 | 011</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F = 3  →  3/32</a:t>
            </a:r>
          </a:p>
        </p:txBody>
      </p:sp>
      <p:sp>
        <p:nvSpPr>
          <p:cNvPr id="5" name="">
            <a:extLst xmlns:a="http://schemas.openxmlformats.org/drawingml/2006/main">
              <a:ext uri="{FF2B5EF4-FFF2-40B4-BE49-F238E27FC236}">
                <a16:creationId xmlns:a16="http://schemas.microsoft.com/office/drawing/2014/main" id="{9DAD2664-9B32-4402-A088-C1DEBD68E3CD}"/>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If the answer seems surprising, decode the same fields back into the formula.</a:t>
            </a:r>
          </a:p>
        </p:txBody>
      </p:sp>
      <p:sp>
        <p:nvSpPr>
          <p:cNvPr id="6" name="">
            <a:extLst xmlns:a="http://schemas.openxmlformats.org/drawingml/2006/main">
              <a:ext uri="{FF2B5EF4-FFF2-40B4-BE49-F238E27FC236}">
                <a16:creationId xmlns:a16="http://schemas.microsoft.com/office/drawing/2014/main" id="{DBE61FAB-FD81-4893-85F8-90700B31187C}"/>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16 / 24</a:t>
            </a:r>
          </a:p>
        </p:txBody>
      </p:sp>
    </p:spTree>
    <p:extLst>
      <p:ext uri="{BB962C8B-B14F-4D97-AF65-F5344CB8AC3E}">
        <p14:creationId xmlns:p14="http://schemas.microsoft.com/office/powerpoint/2010/main" val="1502731382"/>
      </p:ext>
    </p:extLst>
  </p:cSld>
</p:sld>
</file>

<file path=ppt/slides/slide17.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A724E8-02D1-4C78-A9D3-AE6AD6E2D594}"/>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PRACTICE</a:t>
            </a:r>
          </a:p>
        </p:txBody>
      </p:sp>
      <p:sp>
        <p:nvSpPr>
          <p:cNvPr id="2" name="">
            <a:extLst xmlns:a="http://schemas.openxmlformats.org/drawingml/2006/main">
              <a:ext uri="{FF2B5EF4-FFF2-40B4-BE49-F238E27FC236}">
                <a16:creationId xmlns:a16="http://schemas.microsoft.com/office/drawing/2014/main" id="{D68140D5-AD40-4B2D-9276-45B94835A98B}"/>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Your turn: classify two ratios</a:t>
            </a:r>
          </a:p>
        </p:txBody>
      </p:sp>
      <p:sp>
        <p:nvSpPr>
          <p:cNvPr id="3" name="">
            <a:extLst xmlns:a="http://schemas.openxmlformats.org/drawingml/2006/main">
              <a:ext uri="{FF2B5EF4-FFF2-40B4-BE49-F238E27FC236}">
                <a16:creationId xmlns:a16="http://schemas.microsoft.com/office/drawing/2014/main" id="{AA9609DC-0513-451F-B1A4-CD75618D8A9F}"/>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Use the same practice format: 3 exponent bits, bias 3, and 3 fraction bits.</a:t>
            </a:r>
          </a:p>
          <a:p xmlns:a="http://schemas.openxmlformats.org/drawingml/2006/main">
            <a:r>
              <a:t/>
            </a:r>
          </a:p>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For each ratio, decide normal or subnormal, then find E and F.</a:t>
            </a:r>
          </a:p>
        </p:txBody>
      </p:sp>
      <p:sp>
        <p:nvSpPr>
          <p:cNvPr id="4" name="">
            <a:extLst xmlns:a="http://schemas.openxmlformats.org/drawingml/2006/main">
              <a:ext uri="{FF2B5EF4-FFF2-40B4-BE49-F238E27FC236}">
                <a16:creationId xmlns:a16="http://schemas.microsoft.com/office/drawing/2014/main" id="{37A2E272-B675-4F8B-8D9A-1DD0C7D3E885}"/>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A. 3/2</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normal or subnormal?</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E = ?   F = ?</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B. 3/16</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normal or subnormal?</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E = ?   F = ?</a:t>
            </a:r>
          </a:p>
        </p:txBody>
      </p:sp>
      <p:sp>
        <p:nvSpPr>
          <p:cNvPr id="5" name="">
            <a:extLst xmlns:a="http://schemas.openxmlformats.org/drawingml/2006/main">
              <a:ext uri="{FF2B5EF4-FFF2-40B4-BE49-F238E27FC236}">
                <a16:creationId xmlns:a16="http://schemas.microsoft.com/office/drawing/2014/main" id="{8F900304-F8E7-4C1C-B3A0-F1A0DD604211}"/>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Compare each value with the smallest normal, 1/4, before finding bits.</a:t>
            </a:r>
          </a:p>
        </p:txBody>
      </p:sp>
      <p:sp>
        <p:nvSpPr>
          <p:cNvPr id="6" name="">
            <a:extLst xmlns:a="http://schemas.openxmlformats.org/drawingml/2006/main">
              <a:ext uri="{FF2B5EF4-FFF2-40B4-BE49-F238E27FC236}">
                <a16:creationId xmlns:a16="http://schemas.microsoft.com/office/drawing/2014/main" id="{16200DCD-0F16-4BE6-9538-9FDAF86C958E}"/>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17 / 24</a:t>
            </a:r>
          </a:p>
        </p:txBody>
      </p:sp>
    </p:spTree>
    <p:extLst>
      <p:ext uri="{BB962C8B-B14F-4D97-AF65-F5344CB8AC3E}">
        <p14:creationId xmlns:p14="http://schemas.microsoft.com/office/powerpoint/2010/main" val="2079659254"/>
      </p:ext>
    </p:extLst>
  </p:cSld>
</p:sld>
</file>

<file path=ppt/slides/slide18.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5A2A70-779E-4A39-9AD5-537DDE3C5B7A}"/>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CHECK</a:t>
            </a:r>
          </a:p>
        </p:txBody>
      </p:sp>
      <p:sp>
        <p:nvSpPr>
          <p:cNvPr id="2" name="">
            <a:extLst xmlns:a="http://schemas.openxmlformats.org/drawingml/2006/main">
              <a:ext uri="{FF2B5EF4-FFF2-40B4-BE49-F238E27FC236}">
                <a16:creationId xmlns:a16="http://schemas.microsoft.com/office/drawing/2014/main" id="{2F2733A3-E106-4C90-B097-BE7CB4577892}"/>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Practice answers</a:t>
            </a:r>
          </a:p>
        </p:txBody>
      </p:sp>
      <p:sp>
        <p:nvSpPr>
          <p:cNvPr id="3" name="">
            <a:extLst xmlns:a="http://schemas.openxmlformats.org/drawingml/2006/main">
              <a:ext uri="{FF2B5EF4-FFF2-40B4-BE49-F238E27FC236}">
                <a16:creationId xmlns:a16="http://schemas.microsoft.com/office/drawing/2014/main" id="{53BB6D32-B5C1-4BFB-8D41-7B7055B1A606}"/>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3/2 = 1.100₂ × 2⁰, so it is normal.</a:t>
            </a:r>
          </a:p>
          <a:p xmlns:a="http://schemas.openxmlformats.org/drawingml/2006/main">
            <a:r>
              <a:t/>
            </a:r>
          </a:p>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3/16 is below 1/4, so it is subnormal. Since value = F/32, F = 6.</a:t>
            </a:r>
          </a:p>
        </p:txBody>
      </p:sp>
      <p:sp>
        <p:nvSpPr>
          <p:cNvPr id="4" name="">
            <a:extLst xmlns:a="http://schemas.openxmlformats.org/drawingml/2006/main">
              <a:ext uri="{FF2B5EF4-FFF2-40B4-BE49-F238E27FC236}">
                <a16:creationId xmlns:a16="http://schemas.microsoft.com/office/drawing/2014/main" id="{CD85FA7D-EF72-4F2A-85B4-517634BC5BE7}"/>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A. 3/2</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E = 3 = 011₂</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F = 4 = 100₂</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Check: (1 + 4/8) × 1 = 3/2</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B. 3/16</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E = 0 = 000₂</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F = 6 = 110₂</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Check: 6/32 = 3/16</a:t>
            </a:r>
          </a:p>
        </p:txBody>
      </p:sp>
      <p:sp>
        <p:nvSpPr>
          <p:cNvPr id="5" name="">
            <a:extLst xmlns:a="http://schemas.openxmlformats.org/drawingml/2006/main">
              <a:ext uri="{FF2B5EF4-FFF2-40B4-BE49-F238E27FC236}">
                <a16:creationId xmlns:a16="http://schemas.microsoft.com/office/drawing/2014/main" id="{09DD94A5-8CF6-4CC6-9FAF-1AAE9F86C651}"/>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A fraction can be exactly representable in one format and not another.</a:t>
            </a:r>
          </a:p>
        </p:txBody>
      </p:sp>
      <p:sp>
        <p:nvSpPr>
          <p:cNvPr id="6" name="">
            <a:extLst xmlns:a="http://schemas.openxmlformats.org/drawingml/2006/main">
              <a:ext uri="{FF2B5EF4-FFF2-40B4-BE49-F238E27FC236}">
                <a16:creationId xmlns:a16="http://schemas.microsoft.com/office/drawing/2014/main" id="{BEB8226B-AC16-4616-9E79-3B5C231B3962}"/>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18 / 24</a:t>
            </a:r>
          </a:p>
        </p:txBody>
      </p:sp>
    </p:spTree>
    <p:extLst>
      <p:ext uri="{BB962C8B-B14F-4D97-AF65-F5344CB8AC3E}">
        <p14:creationId xmlns:p14="http://schemas.microsoft.com/office/powerpoint/2010/main" val="1590754296"/>
      </p:ext>
    </p:extLst>
  </p:cSld>
</p:sld>
</file>

<file path=ppt/slides/slide19.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3E43C1D-677A-4484-B42E-435337BCED51}"/>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PRECISION</a:t>
            </a:r>
          </a:p>
        </p:txBody>
      </p:sp>
      <p:sp>
        <p:nvSpPr>
          <p:cNvPr id="2" name="">
            <a:extLst xmlns:a="http://schemas.openxmlformats.org/drawingml/2006/main">
              <a:ext uri="{FF2B5EF4-FFF2-40B4-BE49-F238E27FC236}">
                <a16:creationId xmlns:a16="http://schemas.microsoft.com/office/drawing/2014/main" id="{074B736B-6CBC-48AB-BB9C-B94B56E89F35}"/>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Some ratios need rounding</a:t>
            </a:r>
          </a:p>
        </p:txBody>
      </p:sp>
      <p:sp>
        <p:nvSpPr>
          <p:cNvPr id="3" name="">
            <a:extLst xmlns:a="http://schemas.openxmlformats.org/drawingml/2006/main">
              <a:ext uri="{FF2B5EF4-FFF2-40B4-BE49-F238E27FC236}">
                <a16:creationId xmlns:a16="http://schemas.microsoft.com/office/drawing/2014/main" id="{31BF5015-85C0-4422-9A8D-3AB1598AB1B5}"/>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Only eight fraction patterns fit in three bits. A ratio such as 1/3 has a repeating binary expansion and cannot be stored exactly.</a:t>
            </a:r>
          </a:p>
          <a:p xmlns:a="http://schemas.openxmlformats.org/drawingml/2006/main">
            <a:r>
              <a:t/>
            </a:r>
          </a:p>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The required rounding rule decides which nearby value to store.</a:t>
            </a:r>
          </a:p>
        </p:txBody>
      </p:sp>
      <p:sp>
        <p:nvSpPr>
          <p:cNvPr id="4" name="">
            <a:extLst xmlns:a="http://schemas.openxmlformats.org/drawingml/2006/main">
              <a:ext uri="{FF2B5EF4-FFF2-40B4-BE49-F238E27FC236}">
                <a16:creationId xmlns:a16="http://schemas.microsoft.com/office/drawing/2014/main" id="{442E6650-2F07-46E8-968E-92CAC81BA173}"/>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1/3 = 1.010101…₂ × 2⁻²</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Nearby values in this format:</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F = 010₂  →  5/16</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F = 011₂  →  11/32</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Neither is exactly 1/3.</a:t>
            </a:r>
          </a:p>
        </p:txBody>
      </p:sp>
      <p:sp>
        <p:nvSpPr>
          <p:cNvPr id="5" name="">
            <a:extLst xmlns:a="http://schemas.openxmlformats.org/drawingml/2006/main">
              <a:ext uri="{FF2B5EF4-FFF2-40B4-BE49-F238E27FC236}">
                <a16:creationId xmlns:a16="http://schemas.microsoft.com/office/drawing/2014/main" id="{7550F9BB-98E4-470C-A339-F30A270C656C}"/>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Wait for the assignment’s rounding instructions before choosing a stored result.</a:t>
            </a:r>
          </a:p>
        </p:txBody>
      </p:sp>
      <p:sp>
        <p:nvSpPr>
          <p:cNvPr id="6" name="">
            <a:extLst xmlns:a="http://schemas.openxmlformats.org/drawingml/2006/main">
              <a:ext uri="{FF2B5EF4-FFF2-40B4-BE49-F238E27FC236}">
                <a16:creationId xmlns:a16="http://schemas.microsoft.com/office/drawing/2014/main" id="{73B702C8-3DF9-406E-8087-CF675ECCC2D1}"/>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19 / 24</a:t>
            </a:r>
          </a:p>
        </p:txBody>
      </p:sp>
    </p:spTree>
    <p:extLst>
      <p:ext uri="{BB962C8B-B14F-4D97-AF65-F5344CB8AC3E}">
        <p14:creationId xmlns:p14="http://schemas.microsoft.com/office/powerpoint/2010/main" val="1704851840"/>
      </p:ext>
    </p:extLst>
  </p:cSld>
</p:sld>
</file>

<file path=ppt/slides/slide20.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CE7827-648B-4B62-AE80-F3CE9BFFD594}"/>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SPACING</a:t>
            </a:r>
          </a:p>
        </p:txBody>
      </p:sp>
      <p:sp>
        <p:nvSpPr>
          <p:cNvPr id="2" name="">
            <a:extLst xmlns:a="http://schemas.openxmlformats.org/drawingml/2006/main">
              <a:ext uri="{FF2B5EF4-FFF2-40B4-BE49-F238E27FC236}">
                <a16:creationId xmlns:a16="http://schemas.microsoft.com/office/drawing/2014/main" id="{E6B69FE5-5D95-4306-AAF0-9A70AD531613}"/>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Precision changes with scale</a:t>
            </a:r>
          </a:p>
        </p:txBody>
      </p:sp>
      <p:sp>
        <p:nvSpPr>
          <p:cNvPr id="3" name="">
            <a:extLst xmlns:a="http://schemas.openxmlformats.org/drawingml/2006/main">
              <a:ext uri="{FF2B5EF4-FFF2-40B4-BE49-F238E27FC236}">
                <a16:creationId xmlns:a16="http://schemas.microsoft.com/office/drawing/2014/main" id="{887FE9A9-E5DE-4BC1-94AD-59371BF9B78C}"/>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The same three fraction bits give eight values within each normal exponent range.</a:t>
            </a:r>
          </a:p>
          <a:p xmlns:a="http://schemas.openxmlformats.org/drawingml/2006/main">
            <a:r>
              <a:t/>
            </a:r>
          </a:p>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When the exponent increases by one, the distance between neighboring values doubles.</a:t>
            </a:r>
          </a:p>
        </p:txBody>
      </p:sp>
      <p:sp>
        <p:nvSpPr>
          <p:cNvPr id="4" name="">
            <a:extLst xmlns:a="http://schemas.openxmlformats.org/drawingml/2006/main">
              <a:ext uri="{FF2B5EF4-FFF2-40B4-BE49-F238E27FC236}">
                <a16:creationId xmlns:a16="http://schemas.microsoft.com/office/drawing/2014/main" id="{CED75AEC-85E3-4520-B63E-09FCF9AACAE6}"/>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E = 3 (e = 0)</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F = 0 → 1       F = 1 → 9/8</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step = 1/8</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E = 4 (e = 1)</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F = 0 → 2       F = 1 → 9/4</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step = 1/4</a:t>
            </a:r>
          </a:p>
        </p:txBody>
      </p:sp>
      <p:sp>
        <p:nvSpPr>
          <p:cNvPr id="5" name="">
            <a:extLst xmlns:a="http://schemas.openxmlformats.org/drawingml/2006/main">
              <a:ext uri="{FF2B5EF4-FFF2-40B4-BE49-F238E27FC236}">
                <a16:creationId xmlns:a16="http://schemas.microsoft.com/office/drawing/2014/main" id="{7A18BC8F-2DC5-4B6B-A4F9-10CDE1183DE6}"/>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This is why large floating point values have larger gaps.</a:t>
            </a:r>
          </a:p>
        </p:txBody>
      </p:sp>
      <p:sp>
        <p:nvSpPr>
          <p:cNvPr id="6" name="">
            <a:extLst xmlns:a="http://schemas.openxmlformats.org/drawingml/2006/main">
              <a:ext uri="{FF2B5EF4-FFF2-40B4-BE49-F238E27FC236}">
                <a16:creationId xmlns:a16="http://schemas.microsoft.com/office/drawing/2014/main" id="{94269C50-3A0A-4FBB-A1D2-A33411F72ECA}"/>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20 / 24</a:t>
            </a:r>
          </a:p>
        </p:txBody>
      </p:sp>
    </p:spTree>
    <p:extLst>
      <p:ext uri="{BB962C8B-B14F-4D97-AF65-F5344CB8AC3E}">
        <p14:creationId xmlns:p14="http://schemas.microsoft.com/office/powerpoint/2010/main" val="1018474765"/>
      </p:ext>
    </p:extLst>
  </p:cSld>
</p:sld>
</file>

<file path=ppt/slides/slide21.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CE7827-648B-4B62-AE80-F3CE9BFFD594}"/>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ASSIGNMENT PREVIEW</a:t>
            </a:r>
          </a:p>
        </p:txBody>
      </p:sp>
      <p:sp>
        <p:nvSpPr>
          <p:cNvPr id="2" name="">
            <a:extLst xmlns:a="http://schemas.openxmlformats.org/drawingml/2006/main">
              <a:ext uri="{FF2B5EF4-FFF2-40B4-BE49-F238E27FC236}">
                <a16:creationId xmlns:a16="http://schemas.microsoft.com/office/drawing/2014/main" id="{E6B69FE5-5D95-4306-AAF0-9A70AD531613}"/>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HW3 preview: five inputs</a:t>
            </a:r>
          </a:p>
        </p:txBody>
      </p:sp>
      <p:sp>
        <p:nvSpPr>
          <p:cNvPr id="3" name="">
            <a:extLst xmlns:a="http://schemas.openxmlformats.org/drawingml/2006/main">
              <a:ext uri="{FF2B5EF4-FFF2-40B4-BE49-F238E27FC236}">
                <a16:creationId xmlns:a16="http://schemas.microsoft.com/office/drawing/2014/main" id="{887FE9A9-E5DE-4BC1-94AD-59371BF9B78C}"/>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The professor plans a program that reads a format and a nonnegative ratio. The assignment has not been posted, so treat these details as a preview.</a:t>
            </a:r>
          </a:p>
        </p:txBody>
      </p:sp>
      <p:sp>
        <p:nvSpPr>
          <p:cNvPr id="4" name="">
            <a:extLst xmlns:a="http://schemas.openxmlformats.org/drawingml/2006/main">
              <a:ext uri="{FF2B5EF4-FFF2-40B4-BE49-F238E27FC236}">
                <a16:creationId xmlns:a16="http://schemas.microsoft.com/office/drawing/2014/main" id="{CED75AEC-85E3-4520-B63E-09FCF9AACAE6}"/>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format:  exp_bits = 3</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bias = 3</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sig_bits = 3</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value:   numerator = 5</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denominator = 2</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Find: E (exponent), F (fraction)</a:t>
            </a:r>
          </a:p>
        </p:txBody>
      </p:sp>
      <p:sp>
        <p:nvSpPr>
          <p:cNvPr id="5" name="">
            <a:extLst xmlns:a="http://schemas.openxmlformats.org/drawingml/2006/main">
              <a:ext uri="{FF2B5EF4-FFF2-40B4-BE49-F238E27FC236}">
                <a16:creationId xmlns:a16="http://schemas.microsoft.com/office/drawing/2014/main" id="{7A18BC8F-2DC5-4B6B-A4F9-10CDE1183DE6}"/>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The first three inputs define the format; the last two define the value.</a:t>
            </a:r>
          </a:p>
        </p:txBody>
      </p:sp>
      <p:sp>
        <p:nvSpPr>
          <p:cNvPr id="6" name="">
            <a:extLst xmlns:a="http://schemas.openxmlformats.org/drawingml/2006/main">
              <a:ext uri="{FF2B5EF4-FFF2-40B4-BE49-F238E27FC236}">
                <a16:creationId xmlns:a16="http://schemas.microsoft.com/office/drawing/2014/main" id="{94269C50-3A0A-4FBB-A1D2-A33411F72ECA}"/>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21 / 24</a:t>
            </a:r>
          </a:p>
        </p:txBody>
      </p:sp>
    </p:spTree>
    <p:extLst>
      <p:ext uri="{BB962C8B-B14F-4D97-AF65-F5344CB8AC3E}">
        <p14:creationId xmlns:p14="http://schemas.microsoft.com/office/powerpoint/2010/main" val="1018474765"/>
      </p:ext>
    </p:extLst>
  </p:cSld>
</p:sld>
</file>

<file path=ppt/slides/slide22.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CE7827-648B-4B62-AE80-F3CE9BFFD594}"/>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WORKED INPUT</a:t>
            </a:r>
          </a:p>
        </p:txBody>
      </p:sp>
      <p:sp>
        <p:nvSpPr>
          <p:cNvPr id="2" name="">
            <a:extLst xmlns:a="http://schemas.openxmlformats.org/drawingml/2006/main">
              <a:ext uri="{FF2B5EF4-FFF2-40B4-BE49-F238E27FC236}">
                <a16:creationId xmlns:a16="http://schemas.microsoft.com/office/drawing/2014/main" id="{E6B69FE5-5D95-4306-AAF0-9A70AD531613}"/>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HW3 preview: encode 5/2</a:t>
            </a:r>
          </a:p>
        </p:txBody>
      </p:sp>
      <p:sp>
        <p:nvSpPr>
          <p:cNvPr id="3" name="">
            <a:extLst xmlns:a="http://schemas.openxmlformats.org/drawingml/2006/main">
              <a:ext uri="{FF2B5EF4-FFF2-40B4-BE49-F238E27FC236}">
                <a16:creationId xmlns:a16="http://schemas.microsoft.com/office/drawing/2014/main" id="{887FE9A9-E5DE-4BC1-94AD-59371BF9B78C}"/>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With 3 exponent bits, bias 3, and 3 fraction bits, write 5/2 as 1.010₂ × 2¹. The true exponent is 1, so E = 1 + 3 = 4. The stored fraction is 010₂, so F = 2.</a:t>
            </a:r>
          </a:p>
        </p:txBody>
      </p:sp>
      <p:sp>
        <p:nvSpPr>
          <p:cNvPr id="4" name="">
            <a:extLst xmlns:a="http://schemas.openxmlformats.org/drawingml/2006/main">
              <a:ext uri="{FF2B5EF4-FFF2-40B4-BE49-F238E27FC236}">
                <a16:creationId xmlns:a16="http://schemas.microsoft.com/office/drawing/2014/main" id="{CED75AEC-85E3-4520-B63E-09FCF9AACAE6}"/>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Inputs: 3 3 3 5 2</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E = 4 = 100₂</a:t>
            </a:r>
          </a:p>
          <a:p xmlns:a="http://schemas.openxmlformats.org/drawingml/2006/main">
            <a:pPr>
              <a:buNone/>
              <a:defRPr sz="1650">
                <a:solidFill>
                  <a:srgbClr val="A7F3D0"/>
                </a:solidFill>
                <a:latin typeface="Courier New"/>
                <a:ea typeface="Courier New"/>
                <a:cs typeface="Courier New"/>
              </a:defRPr>
            </a:pPr>
            <a:r>
              <a:rPr sz="1650">
                <a:solidFill>
                  <a:srgbClr val="A7F3D0"/>
                </a:solidFill>
                <a:latin typeface="Courier New"/>
                <a:ea typeface="Courier New"/>
                <a:cs typeface="Courier New"/>
              </a:rPr>
              <a:t>F = 2 = 010₂</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Output: 4 2</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Check: (1 + 2/8) × 2¹ = 5/2</a:t>
            </a:r>
          </a:p>
        </p:txBody>
      </p:sp>
      <p:sp>
        <p:nvSpPr>
          <p:cNvPr id="5" name="">
            <a:extLst xmlns:a="http://schemas.openxmlformats.org/drawingml/2006/main">
              <a:ext uri="{FF2B5EF4-FFF2-40B4-BE49-F238E27FC236}">
                <a16:creationId xmlns:a16="http://schemas.microsoft.com/office/drawing/2014/main" id="{7A18BC8F-2DC5-4B6B-A4F9-10CDE1183DE6}"/>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Move the binary point before taking the stored fraction bits.</a:t>
            </a:r>
          </a:p>
        </p:txBody>
      </p:sp>
      <p:sp>
        <p:nvSpPr>
          <p:cNvPr id="6" name="">
            <a:extLst xmlns:a="http://schemas.openxmlformats.org/drawingml/2006/main">
              <a:ext uri="{FF2B5EF4-FFF2-40B4-BE49-F238E27FC236}">
                <a16:creationId xmlns:a16="http://schemas.microsoft.com/office/drawing/2014/main" id="{94269C50-3A0A-4FBB-A1D2-A33411F72ECA}"/>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22 / 24</a:t>
            </a:r>
          </a:p>
        </p:txBody>
      </p:sp>
    </p:spTree>
    <p:extLst>
      <p:ext uri="{BB962C8B-B14F-4D97-AF65-F5344CB8AC3E}">
        <p14:creationId xmlns:p14="http://schemas.microsoft.com/office/powerpoint/2010/main" val="1018474765"/>
      </p:ext>
    </p:extLst>
  </p:cSld>
</p:sld>
</file>

<file path=ppt/slides/slide23.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CE7827-648B-4B62-AE80-F3CE9BFFD594}"/>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METHOD</a:t>
            </a:r>
          </a:p>
        </p:txBody>
      </p:sp>
      <p:sp>
        <p:nvSpPr>
          <p:cNvPr id="2" name="">
            <a:extLst xmlns:a="http://schemas.openxmlformats.org/drawingml/2006/main">
              <a:ext uri="{FF2B5EF4-FFF2-40B4-BE49-F238E27FC236}">
                <a16:creationId xmlns:a16="http://schemas.microsoft.com/office/drawing/2014/main" id="{E6B69FE5-5D95-4306-AAF0-9A70AD531613}"/>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HW3 preview: choose the equation</a:t>
            </a:r>
          </a:p>
        </p:txBody>
      </p:sp>
      <p:sp>
        <p:nvSpPr>
          <p:cNvPr id="3" name="">
            <a:extLst xmlns:a="http://schemas.openxmlformats.org/drawingml/2006/main">
              <a:ext uri="{FF2B5EF4-FFF2-40B4-BE49-F238E27FC236}">
                <a16:creationId xmlns:a16="http://schemas.microsoft.com/office/drawing/2014/main" id="{887FE9A9-E5DE-4BC1-94AD-59371BF9B78C}"/>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Compare a nonzero ratio with the smallest normal, 2^(1−bias). Below that threshold, set E = 0 and use no hidden 1.</a:t>
            </a:r>
          </a:p>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
            </a:r>
          </a:p>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Otherwise find the true exponent e and store E = e + bias. Solve for F, then decode to check.</a:t>
            </a:r>
          </a:p>
        </p:txBody>
      </p:sp>
      <p:sp>
        <p:nvSpPr>
          <p:cNvPr id="4" name="">
            <a:extLst xmlns:a="http://schemas.openxmlformats.org/drawingml/2006/main">
              <a:ext uri="{FF2B5EF4-FFF2-40B4-BE49-F238E27FC236}">
                <a16:creationId xmlns:a16="http://schemas.microsoft.com/office/drawing/2014/main" id="{CED75AEC-85E3-4520-B63E-09FCF9AACAE6}"/>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Normal (E &gt; 0):</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value = (1 + F/2^p) × 2^(E−bias)</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a:r>
          </a:p>
          <a:p xmlns:a="http://schemas.openxmlformats.org/drawingml/2006/main">
            <a:pPr>
              <a:buNone/>
              <a:defRPr sz="1650">
                <a:solidFill>
                  <a:srgbClr val="A7F3D0"/>
                </a:solidFill>
                <a:latin typeface="Courier New"/>
                <a:ea typeface="Courier New"/>
                <a:cs typeface="Courier New"/>
              </a:defRPr>
            </a:pPr>
            <a:r>
              <a:rPr sz="1650">
                <a:solidFill>
                  <a:srgbClr val="A7F3D0"/>
                </a:solidFill>
                <a:latin typeface="Courier New"/>
                <a:ea typeface="Courier New"/>
                <a:cs typeface="Courier New"/>
              </a:rPr>
              <a:t>Subnormal (E = 0):</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value = (F/2^p) × 2^(1−bias)</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If numerator = 0: E = 0, F = 0</a:t>
            </a:r>
          </a:p>
        </p:txBody>
      </p:sp>
      <p:sp>
        <p:nvSpPr>
          <p:cNvPr id="5" name="">
            <a:extLst xmlns:a="http://schemas.openxmlformats.org/drawingml/2006/main">
              <a:ext uri="{FF2B5EF4-FFF2-40B4-BE49-F238E27FC236}">
                <a16:creationId xmlns:a16="http://schemas.microsoft.com/office/drawing/2014/main" id="{7A18BC8F-2DC5-4B6B-A4F9-10CDE1183DE6}"/>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Use the supplied p and bias, not the values from our practice format.</a:t>
            </a:r>
          </a:p>
        </p:txBody>
      </p:sp>
      <p:sp>
        <p:nvSpPr>
          <p:cNvPr id="6" name="">
            <a:extLst xmlns:a="http://schemas.openxmlformats.org/drawingml/2006/main">
              <a:ext uri="{FF2B5EF4-FFF2-40B4-BE49-F238E27FC236}">
                <a16:creationId xmlns:a16="http://schemas.microsoft.com/office/drawing/2014/main" id="{94269C50-3A0A-4FBB-A1D2-A33411F72ECA}"/>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23 / 24</a:t>
            </a:r>
          </a:p>
        </p:txBody>
      </p:sp>
    </p:spTree>
    <p:extLst>
      <p:ext uri="{BB962C8B-B14F-4D97-AF65-F5344CB8AC3E}">
        <p14:creationId xmlns:p14="http://schemas.microsoft.com/office/powerpoint/2010/main" val="1018474765"/>
      </p:ext>
    </p:extLst>
  </p:cSld>
</p:sld>
</file>

<file path=ppt/slides/slide24.xml><?xml version="1.0" encoding="utf-8"?>
<p:sld xmlns:p="http://schemas.openxmlformats.org/presentationml/2006/main">
  <p:cSld>
    <p:bg>
      <p:bgPr>
        <a:solidFill xmlns:a="http://schemas.openxmlformats.org/drawingml/2006/main">
          <a:srgbClr val="09090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89B079-C3E8-43BB-8638-96121018769A}"/>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75" b="0">
                <a:solidFill>
                  <a:srgbClr val="6EE7B7"/>
                </a:solidFill>
                <a:latin typeface="Courier New"/>
                <a:ea typeface="Courier New"/>
                <a:cs typeface="Courier New"/>
              </a:defRPr>
            </a:pPr>
            <a:r>
              <a:rPr sz="1275" b="0">
                <a:solidFill>
                  <a:srgbClr val="6EE7B7"/>
                </a:solidFill>
                <a:latin typeface="Courier New"/>
                <a:ea typeface="Courier New"/>
                <a:cs typeface="Courier New"/>
              </a:rPr>
              <a:t>FLOATING POINT · RECAP</a:t>
            </a:r>
          </a:p>
        </p:txBody>
      </p:sp>
      <p:sp>
        <p:nvSpPr>
          <p:cNvPr id="2" name="">
            <a:extLst xmlns:a="http://schemas.openxmlformats.org/drawingml/2006/main">
              <a:ext uri="{FF2B5EF4-FFF2-40B4-BE49-F238E27FC236}">
                <a16:creationId xmlns:a16="http://schemas.microsoft.com/office/drawing/2014/main" id="{95D3113E-85F1-4E22-A62E-265E94FE3617}"/>
              </a:ext>
            </a:extLst>
          </p:cNvPr>
          <p:cNvSpPr>
            <a:spLocks xmlns:a="http://schemas.openxmlformats.org/drawingml/2006/main" noGrp="1"/>
          </p:cNvSpPr>
          <p:nvPr/>
        </p:nvSpPr>
        <p:spPr>
          <a:xfrm xmlns:a="http://schemas.openxmlformats.org/drawingml/2006/main">
            <a:off x="685800" y="8858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3600" b="0">
                <a:solidFill>
                  <a:srgbClr val="FAFAFA"/>
                </a:solidFill>
                <a:latin typeface="Arial"/>
                <a:ea typeface="Arial"/>
                <a:cs typeface="Arial"/>
              </a:defRPr>
            </a:pPr>
            <a:r>
              <a:rPr sz="3600" b="0">
                <a:solidFill>
                  <a:srgbClr val="FAFAFA"/>
                </a:solidFill>
                <a:latin typeface="Arial"/>
                <a:ea typeface="Arial"/>
                <a:cs typeface="Arial"/>
              </a:rPr>
              <a:t>How to check an encoding</a:t>
            </a:r>
          </a:p>
        </p:txBody>
      </p:sp>
      <p:sp>
        <p:nvSpPr>
          <p:cNvPr id="3" name="">
            <a:extLst xmlns:a="http://schemas.openxmlformats.org/drawingml/2006/main">
              <a:ext uri="{FF2B5EF4-FFF2-40B4-BE49-F238E27FC236}">
                <a16:creationId xmlns:a16="http://schemas.microsoft.com/office/drawing/2014/main" id="{8EC5E33C-BA7C-4ADE-9FC3-9ABD9F3C6FD4}"/>
              </a:ext>
            </a:extLst>
          </p:cNvPr>
          <p:cNvSpPr>
            <a:spLocks xmlns:a="http://schemas.openxmlformats.org/drawingml/2006/main" noGrp="1"/>
          </p:cNvSpPr>
          <p:nvPr/>
        </p:nvSpPr>
        <p:spPr>
          <a:xfrm xmlns:a="http://schemas.openxmlformats.org/drawingml/2006/main">
            <a:off x="685800" y="2200275"/>
            <a:ext cx="48577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In our practice format, E = 0 means count F steps of 1/32. Otherwise decode e = E − 3 and use the implied leading 1.</a:t>
            </a:r>
          </a:p>
          <a:p xmlns:a="http://schemas.openxmlformats.org/drawingml/2006/main">
            <a:r>
              <a:t/>
            </a:r>
          </a:p>
          <a:p xmlns:a="http://schemas.openxmlformats.org/drawingml/2006/main">
            <a:pPr>
              <a:buNone/>
              <a:defRPr sz="1950" b="0">
                <a:solidFill>
                  <a:srgbClr val="D4D4D8"/>
                </a:solidFill>
                <a:latin typeface="Arial"/>
                <a:ea typeface="Arial"/>
                <a:cs typeface="Arial"/>
              </a:defRPr>
            </a:pPr>
            <a:r>
              <a:rPr sz="1950" b="0">
                <a:solidFill>
                  <a:srgbClr val="D4D4D8"/>
                </a:solidFill>
                <a:latin typeface="Arial"/>
                <a:ea typeface="Arial"/>
                <a:cs typeface="Arial"/>
              </a:rPr>
              <a:t>For an inexact value, follow the problem’s rounding rule.</a:t>
            </a:r>
          </a:p>
        </p:txBody>
      </p:sp>
      <p:sp>
        <p:nvSpPr>
          <p:cNvPr id="4" name="">
            <a:extLst xmlns:a="http://schemas.openxmlformats.org/drawingml/2006/main">
              <a:ext uri="{FF2B5EF4-FFF2-40B4-BE49-F238E27FC236}">
                <a16:creationId xmlns:a16="http://schemas.microsoft.com/office/drawing/2014/main" id="{EA939046-DA6B-448C-A179-5B13743C72F3}"/>
              </a:ext>
            </a:extLst>
          </p:cNvPr>
          <p:cNvSpPr>
            <a:spLocks xmlns:a="http://schemas.openxmlformats.org/drawingml/2006/main" noGrp="1"/>
          </p:cNvSpPr>
          <p:nvPr/>
        </p:nvSpPr>
        <p:spPr>
          <a:xfrm xmlns:a="http://schemas.openxmlformats.org/drawingml/2006/main">
            <a:off x="6181725" y="2200275"/>
            <a:ext cx="5238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Our practice format</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Normal:    (1 + F/8) × 2^(E−3)</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Subnormal: F/32  (E = 0)</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E = 0, F = 0  →  zero</a:t>
            </a:r>
          </a:p>
          <a:p xmlns:a="http://schemas.openxmlformats.org/drawingml/2006/main">
            <a:r>
              <a:t/>
            </a:r>
          </a:p>
          <a:p xmlns:a="http://schemas.openxmlformats.org/drawingml/2006/main">
            <a:pPr>
              <a:buNone/>
              <a:defRPr sz="1650" b="0">
                <a:solidFill>
                  <a:srgbClr val="A7F3D0"/>
                </a:solidFill>
                <a:latin typeface="Courier New"/>
                <a:ea typeface="Courier New"/>
                <a:cs typeface="Courier New"/>
              </a:defRPr>
            </a:pPr>
            <a:r>
              <a:rPr sz="1650" b="0">
                <a:solidFill>
                  <a:srgbClr val="A7F3D0"/>
                </a:solidFill>
                <a:latin typeface="Courier New"/>
                <a:ea typeface="Courier New"/>
                <a:cs typeface="Courier New"/>
              </a:rPr>
              <a:t>Decode your bits as a final check.</a:t>
            </a:r>
          </a:p>
        </p:txBody>
      </p:sp>
      <p:sp>
        <p:nvSpPr>
          <p:cNvPr id="5" name="">
            <a:extLst xmlns:a="http://schemas.openxmlformats.org/drawingml/2006/main">
              <a:ext uri="{FF2B5EF4-FFF2-40B4-BE49-F238E27FC236}">
                <a16:creationId xmlns:a16="http://schemas.microsoft.com/office/drawing/2014/main" id="{585A0E73-828D-45A1-9AD7-8EED8C5E7EB1}"/>
              </a:ext>
            </a:extLst>
          </p:cNvPr>
          <p:cNvSpPr>
            <a:spLocks xmlns:a="http://schemas.openxmlformats.org/drawingml/2006/main" noGrp="1"/>
          </p:cNvSpPr>
          <p:nvPr/>
        </p:nvSpPr>
        <p:spPr>
          <a:xfrm xmlns:a="http://schemas.openxmlformats.org/drawingml/2006/main">
            <a:off x="685800" y="5743575"/>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350" b="0">
                <a:solidFill>
                  <a:srgbClr val="A1A1AA"/>
                </a:solidFill>
                <a:latin typeface="Arial"/>
                <a:ea typeface="Arial"/>
                <a:cs typeface="Arial"/>
              </a:defRPr>
            </a:pPr>
            <a:r>
              <a:rPr sz="1350" b="0">
                <a:solidFill>
                  <a:srgbClr val="A1A1AA"/>
                </a:solidFill>
                <a:latin typeface="Arial"/>
                <a:ea typeface="Arial"/>
                <a:cs typeface="Arial"/>
              </a:rPr>
              <a:t>A correct encoding must reproduce the intended value or its required rounded value.</a:t>
            </a:r>
          </a:p>
        </p:txBody>
      </p:sp>
      <p:sp>
        <p:nvSpPr>
          <p:cNvPr id="6" name="">
            <a:extLst xmlns:a="http://schemas.openxmlformats.org/drawingml/2006/main">
              <a:ext uri="{FF2B5EF4-FFF2-40B4-BE49-F238E27FC236}">
                <a16:creationId xmlns:a16="http://schemas.microsoft.com/office/drawing/2014/main" id="{E1FBC5BD-1F5D-42FA-AC83-E0BF862F4EDF}"/>
              </a:ext>
            </a:extLst>
          </p:cNvPr>
          <p:cNvSpPr>
            <a:spLocks xmlns:a="http://schemas.openxmlformats.org/drawingml/2006/main" noGrp="1"/>
          </p:cNvSpPr>
          <p:nvPr/>
        </p:nvSpPr>
        <p:spPr>
          <a:xfrm xmlns:a="http://schemas.openxmlformats.org/drawingml/2006/main">
            <a:off x="10477500" y="6210300"/>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buNone/>
              <a:defRPr sz="1050" b="0">
                <a:solidFill>
                  <a:srgbClr val="71717A"/>
                </a:solidFill>
                <a:latin typeface="Courier New"/>
                <a:ea typeface="Courier New"/>
                <a:cs typeface="Courier New"/>
              </a:defRPr>
            </a:pPr>
            <a:r>
              <a:rPr sz="1050" b="0">
                <a:solidFill>
                  <a:srgbClr val="71717A"/>
                </a:solidFill>
                <a:latin typeface="Courier New"/>
                <a:ea typeface="Courier New"/>
                <a:cs typeface="Courier New"/>
              </a:rPr>
              <a:t>24 / 24</a:t>
            </a:r>
          </a:p>
        </p:txBody>
      </p:sp>
    </p:spTree>
    <p:extLst>
      <p:ext uri="{BB962C8B-B14F-4D97-AF65-F5344CB8AC3E}">
        <p14:creationId xmlns:p14="http://schemas.microsoft.com/office/powerpoint/2010/main" val="101965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2026-09-25T14:40:48.1550000Z</dcterms:created>
  <dcterms:modified xsi:type="dcterms:W3CDTF">2026-09-25T14:40:48.1550000Z</dcterms:modified>
</coreProperties>
</file>