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752db2a62346dd" /><Relationship Type="http://schemas.openxmlformats.org/officeDocument/2006/relationships/extended-properties" Target="/docProps/app.xml" Id="R7422e4722b944524" /><Relationship Type="http://schemas.openxmlformats.org/officeDocument/2006/relationships/officeDocument" Target="/ppt/presentation.xml" Id="Recd91eeaff2b41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f0510d25a24440"/>
  </p:sldMasterIdLst>
  <p:notesMasterIdLst>
    <p:notesMasterId xmlns:r="http://schemas.openxmlformats.org/officeDocument/2006/relationships" r:id="R8aa4f0f4d1994147"/>
  </p:notesMasterIdLst>
  <p:sldIdLst>
    <p:sldId xmlns:r="http://schemas.openxmlformats.org/officeDocument/2006/relationships" id="256" r:id="R2e5fd7b401034495"/>
    <p:sldId xmlns:r="http://schemas.openxmlformats.org/officeDocument/2006/relationships" id="257" r:id="R1225c6ea891b4ed2"/>
    <p:sldId xmlns:r="http://schemas.openxmlformats.org/officeDocument/2006/relationships" id="258" r:id="R461f0b8506044744"/>
    <p:sldId xmlns:r="http://schemas.openxmlformats.org/officeDocument/2006/relationships" id="259" r:id="Rdb93ef0b09d84dfb"/>
    <p:sldId xmlns:r="http://schemas.openxmlformats.org/officeDocument/2006/relationships" id="260" r:id="Rd313bce263f546a8"/>
    <p:sldId xmlns:r="http://schemas.openxmlformats.org/officeDocument/2006/relationships" id="261" r:id="R358fc6bfdd2c40b7"/>
    <p:sldId xmlns:r="http://schemas.openxmlformats.org/officeDocument/2006/relationships" id="262" r:id="R09bb18d6ecab4f9f"/>
    <p:sldId xmlns:r="http://schemas.openxmlformats.org/officeDocument/2006/relationships" id="263" r:id="R1ab76bbb87ad4eeb"/>
    <p:sldId xmlns:r="http://schemas.openxmlformats.org/officeDocument/2006/relationships" id="264" r:id="R20e0c0edd2f54e00"/>
    <p:sldId xmlns:r="http://schemas.openxmlformats.org/officeDocument/2006/relationships" id="265" r:id="R453557a4695c48d0"/>
    <p:sldId xmlns:r="http://schemas.openxmlformats.org/officeDocument/2006/relationships" id="266" r:id="R1f9e5f482c784e45"/>
    <p:sldId xmlns:r="http://schemas.openxmlformats.org/officeDocument/2006/relationships" id="267" r:id="Re5ccc9e889de484c"/>
    <p:sldId xmlns:r="http://schemas.openxmlformats.org/officeDocument/2006/relationships" id="268" r:id="Rb3843a33f808476c"/>
    <p:sldId xmlns:r="http://schemas.openxmlformats.org/officeDocument/2006/relationships" id="269" r:id="R88c937303f4342cc"/>
    <p:sldId xmlns:r="http://schemas.openxmlformats.org/officeDocument/2006/relationships" id="270" r:id="Re10018e583c2457c"/>
    <p:sldId xmlns:r="http://schemas.openxmlformats.org/officeDocument/2006/relationships" id="271" r:id="R400764ad50c341f5"/>
    <p:sldId xmlns:r="http://schemas.openxmlformats.org/officeDocument/2006/relationships" id="272" r:id="R267876eb78f7448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b83d3f76684b95" /><Relationship Type="http://schemas.openxmlformats.org/officeDocument/2006/relationships/slideMaster" Target="/ppt/slideMasters/slideMaster1.xml" Id="R8ef0510d25a24440" /><Relationship Type="http://schemas.openxmlformats.org/officeDocument/2006/relationships/notesMaster" Target="/ppt/notesMasters/notesMaster1.xml" Id="R8aa4f0f4d1994147" /><Relationship Type="http://schemas.openxmlformats.org/officeDocument/2006/relationships/presProps" Target="/ppt/presProps.xml" Id="R2245b7d63e4f40bc" /><Relationship Type="http://schemas.openxmlformats.org/officeDocument/2006/relationships/tableStyles" Target="/ppt/tableStyles.xml" Id="R2d1cbfe7634a4683" /><Relationship Type="http://schemas.openxmlformats.org/officeDocument/2006/relationships/slide" Target="/ppt/slides/slide1.xml" Id="R2e5fd7b401034495" /><Relationship Type="http://schemas.openxmlformats.org/officeDocument/2006/relationships/slide" Target="/ppt/slides/slide2.xml" Id="R1225c6ea891b4ed2" /><Relationship Type="http://schemas.openxmlformats.org/officeDocument/2006/relationships/slide" Target="/ppt/slides/slide3.xml" Id="R461f0b8506044744" /><Relationship Type="http://schemas.openxmlformats.org/officeDocument/2006/relationships/slide" Target="/ppt/slides/slide4.xml" Id="Rdb93ef0b09d84dfb" /><Relationship Type="http://schemas.openxmlformats.org/officeDocument/2006/relationships/slide" Target="/ppt/slides/slide5.xml" Id="Rd313bce263f546a8" /><Relationship Type="http://schemas.openxmlformats.org/officeDocument/2006/relationships/slide" Target="/ppt/slides/slide6.xml" Id="R358fc6bfdd2c40b7" /><Relationship Type="http://schemas.openxmlformats.org/officeDocument/2006/relationships/slide" Target="/ppt/slides/slide7.xml" Id="R09bb18d6ecab4f9f" /><Relationship Type="http://schemas.openxmlformats.org/officeDocument/2006/relationships/slide" Target="/ppt/slides/slide8.xml" Id="R1ab76bbb87ad4eeb" /><Relationship Type="http://schemas.openxmlformats.org/officeDocument/2006/relationships/slide" Target="/ppt/slides/slide9.xml" Id="R20e0c0edd2f54e00" /><Relationship Type="http://schemas.openxmlformats.org/officeDocument/2006/relationships/slide" Target="/ppt/slides/slide10.xml" Id="R453557a4695c48d0" /><Relationship Type="http://schemas.openxmlformats.org/officeDocument/2006/relationships/slide" Target="/ppt/slides/slide11.xml" Id="R1f9e5f482c784e45" /><Relationship Type="http://schemas.openxmlformats.org/officeDocument/2006/relationships/slide" Target="/ppt/slides/slide12.xml" Id="Re5ccc9e889de484c" /><Relationship Type="http://schemas.openxmlformats.org/officeDocument/2006/relationships/slide" Target="/ppt/slides/slide13.xml" Id="Rb3843a33f808476c" /><Relationship Type="http://schemas.openxmlformats.org/officeDocument/2006/relationships/slide" Target="/ppt/slides/slide14.xml" Id="R88c937303f4342cc" /><Relationship Type="http://schemas.openxmlformats.org/officeDocument/2006/relationships/slide" Target="/ppt/slides/slide15.xml" Id="Re10018e583c2457c" /><Relationship Type="http://schemas.openxmlformats.org/officeDocument/2006/relationships/slide" Target="/ppt/slides/slide16.xml" Id="R400764ad50c341f5" /><Relationship Type="http://schemas.openxmlformats.org/officeDocument/2006/relationships/slide" Target="/ppt/slides/slide17.xml" Id="R267876eb78f744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e5b1b2ec4aa41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0804c3e02049ea" /><Relationship Type="http://schemas.openxmlformats.org/officeDocument/2006/relationships/notesMaster" Target="/ppt/notesMasters/notesMaster1.xml" Id="R968bb4aa765349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d198c3b9cd4c4e" /><Relationship Type="http://schemas.openxmlformats.org/officeDocument/2006/relationships/notesMaster" Target="/ppt/notesMasters/notesMaster1.xml" Id="Rfcbaaecd09c24b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011e8773b74383" /><Relationship Type="http://schemas.openxmlformats.org/officeDocument/2006/relationships/notesMaster" Target="/ppt/notesMasters/notesMaster1.xml" Id="R4833071edad441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adef74a1ce4160" /><Relationship Type="http://schemas.openxmlformats.org/officeDocument/2006/relationships/notesMaster" Target="/ppt/notesMasters/notesMaster1.xml" Id="R778040097dda4e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151974ffc248df" /><Relationship Type="http://schemas.openxmlformats.org/officeDocument/2006/relationships/notesMaster" Target="/ppt/notesMasters/notesMaster1.xml" Id="R98586beecd8349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756c982bee4013" /><Relationship Type="http://schemas.openxmlformats.org/officeDocument/2006/relationships/notesMaster" Target="/ppt/notesMasters/notesMaster1.xml" Id="R71e94cafe14b44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999bdfe45f4de9" /><Relationship Type="http://schemas.openxmlformats.org/officeDocument/2006/relationships/notesMaster" Target="/ppt/notesMasters/notesMaster1.xml" Id="Rd2ae45f999fd42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4dfa3ab452408d" /><Relationship Type="http://schemas.openxmlformats.org/officeDocument/2006/relationships/notesMaster" Target="/ppt/notesMasters/notesMaster1.xml" Id="R46eff5ad95bb45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95273081f34014" /><Relationship Type="http://schemas.openxmlformats.org/officeDocument/2006/relationships/notesMaster" Target="/ppt/notesMasters/notesMaster1.xml" Id="Rf6c9315d5c1b48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8ad7bd3b974132" /><Relationship Type="http://schemas.openxmlformats.org/officeDocument/2006/relationships/notesMaster" Target="/ppt/notesMasters/notesMaster1.xml" Id="R7acca7527c3645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f1b1bf3a894be9" /><Relationship Type="http://schemas.openxmlformats.org/officeDocument/2006/relationships/notesMaster" Target="/ppt/notesMasters/notesMaster1.xml" Id="R66dbcfd53f7c46f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874d1aae134b7b" /><Relationship Type="http://schemas.openxmlformats.org/officeDocument/2006/relationships/notesMaster" Target="/ppt/notesMasters/notesMaster1.xml" Id="Rd8a47011d3a048f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ab87a2fe10c4808" /><Relationship Type="http://schemas.openxmlformats.org/officeDocument/2006/relationships/notesMaster" Target="/ppt/notesMasters/notesMaster1.xml" Id="R6c50d6b9c486450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fc92e53358248cf" /><Relationship Type="http://schemas.openxmlformats.org/officeDocument/2006/relationships/notesMaster" Target="/ppt/notesMasters/notesMaster1.xml" Id="R0bc5eae17f2c43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e5fb9510e974613" /><Relationship Type="http://schemas.openxmlformats.org/officeDocument/2006/relationships/notesMaster" Target="/ppt/notesMasters/notesMaster1.xml" Id="Rca56588bad15462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daadf37a5284a14" /><Relationship Type="http://schemas.openxmlformats.org/officeDocument/2006/relationships/notesMaster" Target="/ppt/notesMasters/notesMaster1.xml" Id="R6519cd0628c1451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c8a4cf743e7492f" /><Relationship Type="http://schemas.openxmlformats.org/officeDocument/2006/relationships/notesMaster" Target="/ppt/notesMasters/notesMaster1.xml" Id="R60b4b2a46e524e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Suggested 50-minute pacing: binary place values and fields 8 min; normal values 12 min; subnormals and the boundary 12 min; decoding and encoding practice 12 min; rounding and recap 6 min. This teaches the concepts behind the professor’s planned assignment without displaying its unreleased prompt or solution. Source: lecture 6 and the professor’s description supplied by the 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planned assignment accepts exponent-bit count, bias, significand-bit count, numerator, and denominator. Do not present this as the released homework. Explain that these are stored fields, not decimal digits. Here F means the integer represented by the three fraction bits. Lecture 6 reviews normal and subnormal equations.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Draw place-value columns before introducing exponent fields. This bridges base-2 arithmetic to the 5/4 and 3/16 examples. The 0.101₂ example equals 0.625.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Draw place-value columns 1, 1/2, 1/4, 1/8. 1.010 binary is exactly 1.25. The trailing zero pads the practice format; it does not change the value. The examples are constructed for teaching, not copied from the unreleased solution.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fields have E from 1 through 6 in this toy format. The all-ones exponent is reserved for infinities/NaNs in IEEE-style formats. We are using the lecture's normal/subnormal equations and a toy format with bias 3. Avoid saying the bias always equals 2^(k−1)−1; the planned exercise supplies it explicitly.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 through this slowly on the board. Ask which part of 1.010 is stored: 010. The lecture equation is (−1)^S × 2^(E−bias) × (1+F/2^sig_bits). For E=3, bias=3, F=2, sig_bits=3 the result is exactly 1.25.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at each field and ask students what it means. The sign is zero. E=2 lies in the normal range, e=-1, and F=5. The value is 0.8125.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likely stumbling block: subnormals use exponent 1−bias, not 0−bias, and no hidden leading 1. For this format, F=0 gives zero, F=1 is 1/32, F=7 is 7/32, and the smallest normal is 1/4. Source: lecture 6 equations.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this with the normal 5/4 example. Students may try to store a negative exponent in E or include the hidden 1. Return to the formula to resolve both confusions.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3-exponent-bit, bias-3, 3-fraction-bit practice format. Largest subnormal is F=7, giving 7/32. Smallest normal is E=1,F=0, giving 2^(1−3)=1/4. This illustrates gradual underflow.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two to three minutes. A is normal: E=2,F=4, value (1+4/8)×2^-1=3/4. B is subnormal: E=0,F=3, value 3/32. Ask students to name the equation before calculating.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 students explain why B is not (1+3/8)×2^-3. The exponent for subnormals is fixed at 1−bias=-2, and the leading 1 is absent.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two minutes. Both examples are exactly representable, so no rounding rule is needed. Ask students to check results by substituting E and F into the appropriate formula.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reveal until students have tried both. Emphasize that E=0 is a category marker here, not the unbiased exponent. E=3 represents true exponent zero because bias is three.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future homework description does not specify rounding, so do not teach truncation or nearest as a required rule. Here E=1 for both nearby normals. 5/16=0.3125, 11/32=0.34375, and 1/3≈0.3333. This replaces the earlier abstract associativity slide with a representation example directly tied to the professor's stated learning goal.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normals with fixed E, incrementing F by one changes the value by 2^(E−bias)/8. Show how this connects to the rounding slide and lecture 6’s discussion of gaps between floats.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the two mistakes most likely to occur: forgetting to add the bias for a normal exponent, and using the normal hidden 1 for a subnormal. Do not reveal the unreleased homework solution. Remind students to follow the eventual assignment’s rounding and valid-input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https://firner.com/presentations/cs211/2026-Fall/cs211_06/#/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9ae894ef43481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027f70165e4501" /><Relationship Type="http://schemas.openxmlformats.org/officeDocument/2006/relationships/slideLayout" Target="/ppt/slideLayouts/slideLayout1.xml" Id="R1ec887bd53c348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c887bd53c348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8f28d6796442f" /><Relationship Type="http://schemas.openxmlformats.org/officeDocument/2006/relationships/notesSlide" Target="/ppt/notesSlides/notesSlide1.xml" Id="R15ddf8866ebf4f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f9cd72817c46ab" /><Relationship Type="http://schemas.openxmlformats.org/officeDocument/2006/relationships/notesSlide" Target="/ppt/notesSlides/notesSlide2.xml" Id="Rc5101c8d6a6043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cae78bd174413" /><Relationship Type="http://schemas.openxmlformats.org/officeDocument/2006/relationships/notesSlide" Target="/ppt/notesSlides/notesSlide3.xml" Id="R482ad28024024b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6b52492904671" /><Relationship Type="http://schemas.openxmlformats.org/officeDocument/2006/relationships/notesSlide" Target="/ppt/notesSlides/notesSlide4.xml" Id="R6f78b2f619124e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9fdf027e84d02" /><Relationship Type="http://schemas.openxmlformats.org/officeDocument/2006/relationships/notesSlide" Target="/ppt/notesSlides/notesSlide5.xml" Id="R57a98d15312f4c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2bb3505dd4d16" /><Relationship Type="http://schemas.openxmlformats.org/officeDocument/2006/relationships/notesSlide" Target="/ppt/notesSlides/notesSlide6.xml" Id="Rb6572f5bf4af45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3a4fb865a04371" /><Relationship Type="http://schemas.openxmlformats.org/officeDocument/2006/relationships/notesSlide" Target="/ppt/notesSlides/notesSlide7.xml" Id="R6c36a1cc7d004b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ce4965e554799" /><Relationship Type="http://schemas.openxmlformats.org/officeDocument/2006/relationships/notesSlide" Target="/ppt/notesSlides/notesSlide8.xml" Id="Rcf6e7806455d4d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3fa731bad48ee" /><Relationship Type="http://schemas.openxmlformats.org/officeDocument/2006/relationships/notesSlide" Target="/ppt/notesSlides/notesSlide9.xml" Id="R6100610c842740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239718e5544eda" /><Relationship Type="http://schemas.openxmlformats.org/officeDocument/2006/relationships/notesSlide" Target="/ppt/notesSlides/notesSlide10.xml" Id="R6f10da20dc9d466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916e88923c4a66" /><Relationship Type="http://schemas.openxmlformats.org/officeDocument/2006/relationships/notesSlide" Target="/ppt/notesSlides/notesSlide11.xml" Id="R76f691f9f1164f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3264d8f5a4ebc" /><Relationship Type="http://schemas.openxmlformats.org/officeDocument/2006/relationships/notesSlide" Target="/ppt/notesSlides/notesSlide12.xml" Id="R522daf866e4940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8c402070c4a6e" /><Relationship Type="http://schemas.openxmlformats.org/officeDocument/2006/relationships/notesSlide" Target="/ppt/notesSlides/notesSlide13.xml" Id="R6f60d07be8904af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33a0bde4e4f51" /><Relationship Type="http://schemas.openxmlformats.org/officeDocument/2006/relationships/notesSlide" Target="/ppt/notesSlides/notesSlide14.xml" Id="R9dbba6c4c55f4d7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626b4fbba4ea7" /><Relationship Type="http://schemas.openxmlformats.org/officeDocument/2006/relationships/notesSlide" Target="/ppt/notesSlides/notesSlide15.xml" Id="Rb4e53860fadb455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50a4592304d9c" /><Relationship Type="http://schemas.openxmlformats.org/officeDocument/2006/relationships/notesSlide" Target="/ppt/notesSlides/notesSlide16.xml" Id="Rfe14a3a42fe0468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60c08f6284395" /><Relationship Type="http://schemas.openxmlformats.org/officeDocument/2006/relationships/notesSlide" Target="/ppt/notesSlides/notesSlide17.xml" Id="R4b3acee630394a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5A9CF-720A-44C7-8892-52DB130A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CS 211 · RECITATION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4C0B84-CEFB-4C94-9A52-E2F799B7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5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Floating point numbers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DCB16E-01E0-44DC-B52E-55F3E014E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Build and decode numbers in a small floating point format. We will work through the bits before worrying about implementation.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BFE31-4E89-4E9C-A6C1-6B1DC19B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Today’s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Binary fractions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Exponent and significand fields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 and subnormal values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with ratios and bit patterns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A9A68-0243-45E1-8E3A-073C6455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Every example uses a tiny format so every bit has a visible job.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875137-4A77-4850-9E53-34918B66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01 / 17</a:t>
            </a:r>
          </a:p>
        </p:txBody>
      </p:sp>
    </p:spTree>
    <p:extLst>
      <p:ext uri="{BB962C8B-B14F-4D97-AF65-F5344CB8AC3E}">
        <p14:creationId xmlns:p14="http://schemas.microsoft.com/office/powerpoint/2010/main" val="20038787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FA7D7-A9A4-4E20-B4BB-8F5429B7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B417B-A1A4-4103-A251-41297467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A float has three fields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05AB9-C2BF-4BB7-9199-FEA1FA11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sign says positive or negative. The exponent sets the scale. The significand carries the detail.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our nonnegative examples, the sign bit is always 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2FAC3-6750-4FCE-BD25-11D79F5C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format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S  |  EEE  |  FFF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0  |  011  |  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sign bit, 3 exponent bits,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3 stored fraction bits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DF5D24-84A8-44EF-90E7-5DEFDD23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Normal values also have a leading 1 that is implied rather than stored.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18D6FA-A861-47F3-A379-560FF106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02 / 17</a:t>
            </a:r>
          </a:p>
        </p:txBody>
      </p:sp>
    </p:spTree>
    <p:extLst>
      <p:ext uri="{BB962C8B-B14F-4D97-AF65-F5344CB8AC3E}">
        <p14:creationId xmlns:p14="http://schemas.microsoft.com/office/powerpoint/2010/main" val="5431481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392E2-ECE4-47EE-B3D0-9D82E9C1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PLACE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87D23-1C78-4E8D-BE9A-8D7DD6EC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Binary fractions use halves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D77F0-B9D5-4B25-9CB0-F3C48603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Digits after a binary point are worth 1/2, 1/4, 1/8, and so on. A zero means that place contributes nothing.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Add the places marked 1 to find the value.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42D823-812C-45B1-B937-3F76BB8C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0.101₂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× 1/2 = 1/2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0 × 1/4 = 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 × 1/8 = 1/8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Total = 5/8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72C52A-EF74-4A1F-8EE9-C24F596D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Ask students to read 0.011₂ aloud as 1/4 + 1/8 = 3/8.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FEE4C-B9E4-4741-91C8-4F97DD41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03 / 17</a:t>
            </a:r>
          </a:p>
        </p:txBody>
      </p:sp>
    </p:spTree>
    <p:extLst>
      <p:ext uri="{BB962C8B-B14F-4D97-AF65-F5344CB8AC3E}">
        <p14:creationId xmlns:p14="http://schemas.microsoft.com/office/powerpoint/2010/main" val="2917712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B8F6E-916B-4F1A-B1DE-7F8CF981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FIRST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07235-B5C4-4979-B81B-2ED6B27E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Write a ratio in binary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4A061-A866-4339-8D2C-DCC225B1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Start with the value, before thinking about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5/4 is 1.25 in decimal. The quarter is 2⁻², so 5/4 is 1.01 in binary.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F2147-9B56-4059-8DF7-AE2DD714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5/4 = 1 + 1/4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= 1 + 2⁻²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 = 1.01₂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With 3 fraction bits: 1.010₂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6F628-BA88-4D78-A4F2-3E09B064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Binary places after the point are 1/2, 1/4, 1/8, and so 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450FB-5658-4F21-83CF-52AD8EE3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04 / 17</a:t>
            </a:r>
          </a:p>
        </p:txBody>
      </p:sp>
    </p:spTree>
    <p:extLst>
      <p:ext uri="{BB962C8B-B14F-4D97-AF65-F5344CB8AC3E}">
        <p14:creationId xmlns:p14="http://schemas.microsoft.com/office/powerpoint/2010/main" val="576821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701F5-44AC-470A-90E3-4B400A43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NORMAL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41727-1C44-4AA9-BFCF-804B0B36C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exponent has a bias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D1D40A-6476-4B46-98BE-F07AD1BA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normal value is written as 1.fraction × 2ᵉ. The leading 1 is implied and is not stored.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stored exponent E equals e + bias.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DE952-D3BD-4AA4-9C56-58162D37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Practice bias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−2  →  E = 1  →  bits 001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 0  →  E = 3  →  bits 011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 2  →  E = 5  →  bits 101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CB498-5F45-448E-BB8D-9308ECED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In this 3-bit format, E = 0 is for zero or subnormals; E = 7 is reserved.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872D8-2421-41B5-BA58-B863431F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05 / 17</a:t>
            </a:r>
          </a:p>
        </p:txBody>
      </p:sp>
    </p:spTree>
    <p:extLst>
      <p:ext uri="{BB962C8B-B14F-4D97-AF65-F5344CB8AC3E}">
        <p14:creationId xmlns:p14="http://schemas.microsoft.com/office/powerpoint/2010/main" val="357993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EA43F-92DB-4BE5-9FFF-F3398FA0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5A1436-63F1-4731-91E3-0B1734A4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Encode a normal value: 5/4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52FDEA-F645-47DC-919B-5685E856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5/4 = 1.010₂ × 2⁰.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true exponent is e = 0, so stored E = 0 + 3 = 3. The fraction after the leading 1 is 010₂, or F = 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956661-037E-4836-A00D-BBE7BEC6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 = 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3 = 011₂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2 = 010₂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Fields: 0 | 011 | 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(1 + 2/8) × 2⁰ = 5/4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7AF00-6FE1-4CFC-B54D-88BC56D3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stored fraction has three bits; the implied leading 1 is not one of them.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2E0CF-972D-435B-99E9-C4F31D41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06 / 17</a:t>
            </a:r>
          </a:p>
        </p:txBody>
      </p:sp>
    </p:spTree>
    <p:extLst>
      <p:ext uri="{BB962C8B-B14F-4D97-AF65-F5344CB8AC3E}">
        <p14:creationId xmlns:p14="http://schemas.microsoft.com/office/powerpoint/2010/main" val="10954958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4F9435-A104-4D30-A188-4EE2456C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CC3344-C3E4-4449-AF40-33DADFB16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Decode a normal bit pattern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8D5084-9296-4E15-A9DC-A45F46A1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Read the exponent field as an unsigned integer, then subtract the bias. Read the fraction field as F/8.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Because E is not zero, include the implied leading 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48711-085C-45B3-A8BC-2D9BA414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Bits: 0 | 010 | 101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2, so e = 2 − 3 = −1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5, so 1 + F/8 = 13/8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(13/8) × 2⁻¹ = 13/16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E23CF-F2CD-46A9-9F4D-2094917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bit pattern is a recipe for a value, not the digits of that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02F47-A9E9-43B2-AC22-5EF03769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07 / 17</a:t>
            </a:r>
          </a:p>
        </p:txBody>
      </p:sp>
    </p:spTree>
    <p:extLst>
      <p:ext uri="{BB962C8B-B14F-4D97-AF65-F5344CB8AC3E}">
        <p14:creationId xmlns:p14="http://schemas.microsoft.com/office/powerpoint/2010/main" val="6597360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EAABF-BD4F-40AF-A282-4DA602FE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SUBNORMALS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309F2-033B-47F8-941D-460A77FA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What happens below the normal range?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3D46C-F548-4E0D-8AC8-B55CC5C0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smallest positive normal value here is 1.000₂ × 2⁻² = 1/4.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Smaller positive values use E = 0. They have no implied leading 1. Their exponent is fixed at 1 − bias.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B5AD63-6E91-45DD-AE29-2F54895B9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Normal:    (1 + F/8) × 2^(E−3)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Subnormal: (    F/8) × 2^(1−3)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With E = 0: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(F/8) × 1/4 = F/32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C83417-6965-41D8-8054-D122A500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E = 0 changes the formula; it does not mean the true exponent is −3.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F2603-246C-497E-B2CC-C75AC390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08 / 17</a:t>
            </a:r>
          </a:p>
        </p:txBody>
      </p:sp>
    </p:spTree>
    <p:extLst>
      <p:ext uri="{BB962C8B-B14F-4D97-AF65-F5344CB8AC3E}">
        <p14:creationId xmlns:p14="http://schemas.microsoft.com/office/powerpoint/2010/main" val="18571225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1C1D56-F3B0-4FC7-8312-5DCE66DE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EC4111-990D-4F27-A48D-9B66E856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Encode a subnormal value: 1/8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FC2C0-68E4-440B-B218-A53A78DE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1/8 is below the smallest normal value, 1/4. Set E =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this format, a subnormal has value F/32. Solve F/32 = 1/8, giving F = 4.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97746-2F05-4C79-997B-46EF673F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 = 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 = 000₂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4 = 100₂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Fields: 0 | 000 | 100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Check: (4/8) × 2⁻² = 1/8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3FAB2-7571-49A3-B6C8-87F90FA9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The stored fraction is 100₂. There is no leading 1 in the subnormal formula.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E7F5E9-2417-44C6-925E-4767F90F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09 / 17</a:t>
            </a:r>
          </a:p>
        </p:txBody>
      </p:sp>
    </p:spTree>
    <p:extLst>
      <p:ext uri="{BB962C8B-B14F-4D97-AF65-F5344CB8AC3E}">
        <p14:creationId xmlns:p14="http://schemas.microsoft.com/office/powerpoint/2010/main" val="10820362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5E5C3-C59B-4F4C-8123-D26BB20B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SMALLEST VALUES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148DA-667A-4F17-8947-3A10B5D6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The normal–subnormal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E9A2B-E617-4407-BF21-6D1C10DB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largest subnormal sits directly below the smallest normal. The exponent stays at −2 across this boundary, but the implied leading 1 appears only for the normal value.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EA955-1341-477F-B9E0-1F67FB90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Largest subnormal: E=0, F=7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7/32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Smallest normal: E=1, F=0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value = 1/4 = 8/32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Gap = 1/32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59BBF-C1FE-4848-A1BE-0E49C615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Subnormals fill the gap between zero and the smallest normal.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8CDEF-F520-47D3-A60F-E6AFCB83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10 / 17</a:t>
            </a:r>
          </a:p>
        </p:txBody>
      </p:sp>
    </p:spTree>
    <p:extLst>
      <p:ext uri="{BB962C8B-B14F-4D97-AF65-F5344CB8AC3E}">
        <p14:creationId xmlns:p14="http://schemas.microsoft.com/office/powerpoint/2010/main" val="10062187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F0A3D-C361-4FA6-9CFE-2E669E0D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1682B-A598-4D48-84FE-CD10468F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Your turn: decode two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976BE-C2D5-4F13-B1DA-E2F9D261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same format: 3 exponent bits, bias 3, and 3 fraction bits.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pattern, classify it, find E and F, then calculate the value.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877AB9-DA81-4CB4-8D40-AAADEA86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0 | 010 | 100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value = 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0 | 000 | 011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value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768E93-B810-439B-9ECE-DACDD625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Check E first: it selects the equation.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85357-E888-4A45-92E1-47CDEA8A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11 / 17</a:t>
            </a:r>
          </a:p>
        </p:txBody>
      </p:sp>
    </p:spTree>
    <p:extLst>
      <p:ext uri="{BB962C8B-B14F-4D97-AF65-F5344CB8AC3E}">
        <p14:creationId xmlns:p14="http://schemas.microsoft.com/office/powerpoint/2010/main" val="15075950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5D697-73A9-4130-AF88-3B9A153D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9792B-54CD-4C1F-8A87-49C3F494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Decode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3E9C7-6AC5-4E40-B664-B323C1BA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A uses the normal equation because E =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B uses the subnormal equation because E = 0; there is no implied leading 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C1F1B-87F6-43C2-BCA8-B1C729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0 | 010 | 100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(1 + 4/8) × 2⁻¹ = 3/4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0 | 000 | 011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(3/8) × 2⁻² = 3/32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AD2664-9B32-4402-A088-C1DEBD68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If the answer seems surprising, decode the same fields back into the formula.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E61FAB-FD81-4893-85F8-90700B31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12 / 17</a:t>
            </a:r>
          </a:p>
        </p:txBody>
      </p:sp>
    </p:spTree>
    <p:extLst>
      <p:ext uri="{BB962C8B-B14F-4D97-AF65-F5344CB8AC3E}">
        <p14:creationId xmlns:p14="http://schemas.microsoft.com/office/powerpoint/2010/main" val="15027313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724E8-02D1-4C78-A9D3-AE6AD6E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PRACTICE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140D5-AD40-4B2D-9276-45B94835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Your turn: classify two ratios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9609DC-0513-451F-B1A4-CD75618D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Use the same practice format: 3 exponent bits, bias 3, and 3 fraction bits.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For each ratio, decide normal or subnormal, then find E and 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2E272-B675-4F8B-8D9A-1DD0C7D3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3/2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?   F = 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3/16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normal or subnormal?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?   F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900304-F8E7-4C1C-B3A0-F1A0DD60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Compare each value with the smallest normal, 1/4, before finding bits.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00DCD-0F16-4BE6-9538-9FDAF86C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13 / 17</a:t>
            </a:r>
          </a:p>
        </p:txBody>
      </p:sp>
    </p:spTree>
    <p:extLst>
      <p:ext uri="{BB962C8B-B14F-4D97-AF65-F5344CB8AC3E}">
        <p14:creationId xmlns:p14="http://schemas.microsoft.com/office/powerpoint/2010/main" val="20796592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A2A70-779E-4A39-9AD5-537DDE3C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733A3-E106-4C90-B097-BE7CB457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Practice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B6D32-B5C1-4BFB-8D41-7B7055B1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3/2 = 1.100₂ × 2⁰, so it is normal.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3/16 is below 1/4, so it is subnormal. Since value = F/32, F = 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5FA7D-EF72-4F2A-85B4-517634BC5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A. 3/2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3 = 011₂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4 = 100₂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Check: (1 + 4/8) × 1 = 3/2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B. 3/16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E = 0 = 000₂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F = 6 = 110₂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   Check: 6/32 = 3/16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DD94A5-8CF6-4CC6-9FAF-1AAE9F86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fraction can be exactly representable in one format and not another.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8226B-AC16-4616-9E79-3B5C231B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14 / 17</a:t>
            </a:r>
          </a:p>
        </p:txBody>
      </p:sp>
    </p:spTree>
    <p:extLst>
      <p:ext uri="{BB962C8B-B14F-4D97-AF65-F5344CB8AC3E}">
        <p14:creationId xmlns:p14="http://schemas.microsoft.com/office/powerpoint/2010/main" val="15907542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E43C1D-677A-4484-B42E-435337BC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PRECISION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B736B-6CBC-48AB-BB9C-B94B56E8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Some ratios need rounding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BF5015-85C0-4422-9A8D-3AB1598A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Only eight fraction patterns fit in three bits. A ratio such as 1/3 has a repeating binary expansion and cannot be stored exactly.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required rounding rule decides which nearby value to store.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E6650-2F07-46E8-968E-92CAC81B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1/3 = 1.010101…₂ × 2⁻²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Nearby values in this format: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010₂  →  5/16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011₂  →  11/32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Neither is exactly 1/3.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0F9BB-98E4-470C-A339-F30A270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Wait for the assignment’s rounding instructions before choosing a stored result.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B702C8-3DF9-406E-8087-CF675ECCC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15 / 17</a:t>
            </a:r>
          </a:p>
        </p:txBody>
      </p:sp>
    </p:spTree>
    <p:extLst>
      <p:ext uri="{BB962C8B-B14F-4D97-AF65-F5344CB8AC3E}">
        <p14:creationId xmlns:p14="http://schemas.microsoft.com/office/powerpoint/2010/main" val="17048518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E7827-648B-4B62-AE80-F3CE9BF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SPACING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69FE5-5D95-4306-AAF0-9A70AD53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Precision changes with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7FE9A9-E5DE-4BC1-94AD-59371BF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The same three fraction bits give eight values within each normal exponent range.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When the exponent increases by one, the distance between neighboring values doubles.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75AEC-85E3-4520-B63E-09FCF9AA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3 (e = 0)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 → 1       F = 1 → 9/8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step = 1/8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4 (e = 1)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F = 0 → 2       F = 1 → 9/4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step = 1/4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8BC8F-2DC5-4B6B-A4F9-10CDE118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This is why large floating point values have larger gaps.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69C50-3A0A-4FBB-A1D2-A33411F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16 / 17</a:t>
            </a:r>
          </a:p>
        </p:txBody>
      </p:sp>
    </p:spTree>
    <p:extLst>
      <p:ext uri="{BB962C8B-B14F-4D97-AF65-F5344CB8AC3E}">
        <p14:creationId xmlns:p14="http://schemas.microsoft.com/office/powerpoint/2010/main" val="10184747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90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9B079-C3E8-43BB-8638-96121018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defRPr>
            </a:pPr>
            <a:r>
              <a:rPr sz="1275" b="0">
                <a:solidFill>
                  <a:srgbClr val="6EE7B7"/>
                </a:solidFill>
                <a:latin typeface="Courier New"/>
                <a:ea typeface="Courier New"/>
                <a:cs typeface="Courier New"/>
              </a:rPr>
              <a:t>FLOATING POINT · RECAP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3113E-85F1-4E22-A62E-265E94FE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582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AFAFA"/>
                </a:solidFill>
                <a:latin typeface="Arial"/>
                <a:ea typeface="Arial"/>
                <a:cs typeface="Arial"/>
              </a:defRPr>
            </a:pPr>
            <a:r>
              <a:rPr sz="3600" b="0">
                <a:solidFill>
                  <a:srgbClr val="FAFAFA"/>
                </a:solidFill>
                <a:latin typeface="Arial"/>
                <a:ea typeface="Arial"/>
                <a:cs typeface="Arial"/>
              </a:rPr>
              <a:t>How to check an encoding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5E33C-BA7C-4ADE-9FC3-9ABD9F3C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485775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Compare the value with the smallest normal. Choose the normal or subnormal equation, work out the fields, then decode them to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D4D4D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D4D4D8"/>
                </a:solidFill>
                <a:latin typeface="Arial"/>
                <a:ea typeface="Arial"/>
                <a:cs typeface="Arial"/>
              </a:rPr>
              <a:t>If the value is not exact, use the rounding rule given with the problem.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39046-DA6B-448C-A179-5B13743C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200275"/>
            <a:ext cx="523875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Our practice format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Normal:    (1 + F/8) × 2^(E−3)</a:t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Subnormal: (    F/8) × 2⁻²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E = 0, F = 0  →  zero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A7F3D0"/>
                </a:solidFill>
                <a:latin typeface="Courier New"/>
                <a:ea typeface="Courier New"/>
                <a:cs typeface="Courier New"/>
              </a:rPr>
              <a:t>Decode your bits as a final check.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A0E73-828D-45A1-9AD7-8EED8C5E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43575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1A1A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1A1AA"/>
                </a:solidFill>
                <a:latin typeface="Arial"/>
                <a:ea typeface="Arial"/>
                <a:cs typeface="Arial"/>
              </a:rPr>
              <a:t>A correct encoding must reproduce the intended value or its required rounded value.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BC5BD-1F5D-42FA-AC83-E0BF862F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10300"/>
            <a:ext cx="10001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62"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defRPr>
            </a:pPr>
            <a:r>
              <a:rPr sz="1050" b="0">
                <a:solidFill>
                  <a:srgbClr val="71717A"/>
                </a:solidFill>
                <a:latin typeface="Courier New"/>
                <a:ea typeface="Courier New"/>
                <a:cs typeface="Courier New"/>
              </a:rPr>
              <a:t>17 / 17</a:t>
            </a:r>
          </a:p>
        </p:txBody>
      </p:sp>
    </p:spTree>
    <p:extLst>
      <p:ext uri="{BB962C8B-B14F-4D97-AF65-F5344CB8AC3E}">
        <p14:creationId xmlns:p14="http://schemas.microsoft.com/office/powerpoint/2010/main" val="101965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2026-09-24T23:43:19.2390000Z</dcterms:created>
  <dcterms:modified xsi:type="dcterms:W3CDTF">2026-09-24T23:43:19.2390000Z</dcterms:modified>
</coreProperties>
</file>